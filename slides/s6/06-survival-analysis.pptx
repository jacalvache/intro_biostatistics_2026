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0829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Introduction to Survival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Section 6 — Introduction to Biostatistics</a:t>
            </a:r>
            <a:br/>
            <a:br/>
            <a:r>
              <a:t>Jose Andres Calvache MD MSc PhD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2026-10-04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16FF5-BB3D-E5DA-EA2C-3DC74195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37" y="127000"/>
            <a:ext cx="214279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A2B43-326A-CC14-2857-7E4DD9D8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16" y="127000"/>
            <a:ext cx="28857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42B9B3-BB3D-6E91-D0FE-50DE2B28A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286" y="127000"/>
            <a:ext cx="820914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Section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Introduction to survival analysis</a:t>
            </a:r>
          </a:p>
          <a:p>
            <a:pPr lvl="1"/>
            <a:r>
              <a:t>Life tables – Kaplan-Meier curves</a:t>
            </a:r>
          </a:p>
          <a:p>
            <a:pPr lvl="1"/>
            <a:r>
              <a:t>Analysis of time-to-event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Survival curves</a:t>
            </a:r>
          </a:p>
        </p:txBody>
      </p:sp>
      <p:pic>
        <p:nvPicPr>
          <p:cNvPr id="3" name="Picture 1" descr="images/s6_09_image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Longitudinal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During the follow-up of research subjects, several problems can occur that make their characterization and description difficult.</a:t>
            </a:r>
          </a:p>
          <a:p>
            <a:pPr lvl="0"/>
            <a:r>
              <a:t>Loss to follow-up</a:t>
            </a:r>
          </a:p>
          <a:p>
            <a:pPr lvl="1"/>
            <a:r>
              <a:t>Dropping out of the study</a:t>
            </a:r>
          </a:p>
          <a:p>
            <a:pPr lvl="1"/>
            <a:r>
              <a:t>Difficulties contacting the subjects under observation</a:t>
            </a:r>
          </a:p>
          <a:p>
            <a:pPr lvl="1"/>
            <a:r>
              <a:t>Occurrence of multiple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Longitudinal studies — cumulative incidence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Sometimes, the calculation of the </a:t>
            </a:r>
            <a:r>
              <a:rPr b="1"/>
              <a:t>cumulative incidence</a:t>
            </a:r>
            <a:r>
              <a:t> is insufficient to describe more complex situations appropriately.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to …</a:t>
            </a:r>
          </a:p>
        </p:txBody>
      </p:sp>
      <p:pic>
        <p:nvPicPr>
          <p:cNvPr id="3" name="Picture 1" descr="images/s6_slide05_time-t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Time until the event of interest or outcome occurs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Main feature of survival analysis: censoring</a:t>
            </a:r>
          </a:p>
        </p:txBody>
      </p:sp>
      <p:pic>
        <p:nvPicPr>
          <p:cNvPr id="3" name="Picture 1" descr="images/s6_slide06_censor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M = lost to follow-up; * = end of study without having had the outcome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Survival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It is a group of statistical techniques in which the times until the occurrence of an event are analyzed, rather than the simple occurrence of the event.</a:t>
            </a:r>
          </a:p>
          <a:p>
            <a:pPr lvl="0"/>
            <a:r>
              <a:t>Appropriate for analyzing longitudinal time-to-event data in the presence of censoring.</a:t>
            </a:r>
          </a:p>
          <a:p>
            <a:pPr lvl="0"/>
            <a:r>
              <a:t>In these situations other statistical methods are insufficient or provide invalid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Summarizing survival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T</a:t>
            </a:r>
            <a:r>
              <a:t> = survival time (or time to an event)</a:t>
            </a:r>
          </a:p>
          <a:p>
            <a:pPr lvl="0"/>
            <a:r>
              <a:t>Usually right-skewed distributions</a:t>
            </a:r>
          </a:p>
          <a:p>
            <a:pPr lvl="0"/>
            <a:r>
              <a:t>Data are summarized using,</a:t>
            </a:r>
          </a:p>
          <a:p>
            <a:pPr lvl="1"/>
            <a:r>
              <a:t>Life tables</a:t>
            </a:r>
          </a:p>
          <a:p>
            <a:pPr lvl="1"/>
            <a:r>
              <a:t>Survival curves calculated with the Kaplan-Meier method</a:t>
            </a:r>
          </a:p>
          <a:p>
            <a:pPr lvl="1"/>
            <a:r>
              <a:t>Median survival and quartiles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Strategies for analyzing survival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Estimate a function that gives the probability of the outcome as a function of time</a:t>
            </a:r>
          </a:p>
          <a:p>
            <a:pPr lvl="0"/>
            <a:r>
              <a:t>Identify risk factors for a better or worse survival prognosis</a:t>
            </a:r>
          </a:p>
          <a:p>
            <a:pPr lvl="0"/>
            <a:r>
              <a:t>Compare the survival of different 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Survival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T</a:t>
            </a:r>
            <a:r>
              <a:t> = time to the event (</a:t>
            </a:r>
            <a:r>
              <a:rPr i="1"/>
              <a:t>T</a:t>
            </a:r>
            <a:r>
              <a:t> &gt; 0)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𝑡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𝑇</m:t>
                  </m:r>
                  <m:r>
                    <a:rPr>
                      <a:latin typeface="Cambria Math" panose="02040503050406030204" pitchFamily="18" charset="0"/>
                    </a:rPr>
                    <m:t>&gt;</m:t>
                  </m:r>
                  <m:r>
                    <a:rPr>
                      <a:latin typeface="Cambria Math" panose="02040503050406030204" pitchFamily="18" charset="0"/>
                    </a:rPr>
                    <m:t>𝑡</m:t>
                  </m:r>
                  <m:r>
                    <a:rPr>
                      <a:latin typeface="Cambria Math" panose="02040503050406030204" pitchFamily="18" charset="0"/>
                    </a:rPr>
                    <m:t>), </m:t>
                  </m:r>
                  <m:r>
                    <a:rPr>
                      <a:latin typeface="Cambria Math" panose="02040503050406030204" pitchFamily="18" charset="0"/>
                    </a:rPr>
                    <m:t>𝑡</m:t>
                  </m:r>
                  <m:r>
                    <a:rPr>
                      <a:latin typeface="Cambria Math" panose="02040503050406030204" pitchFamily="18" charset="0"/>
                    </a:rPr>
                    <m:t>≥0</m:t>
                  </m:r>
                </m:oMath>
              </m:oMathPara>
            </a14:m>
            <a:endParaRPr/>
          </a:p>
          <a:p>
            <a:pPr lvl="0"/>
            <a:r>
              <a:t>Proportion of subjects “alive” after time </a:t>
            </a:r>
            <a:r>
              <a:rPr i="1"/>
              <a:t>t</a:t>
            </a:r>
          </a:p>
          <a:p>
            <a:pPr lvl="0"/>
            <a:r>
              <a:t>Decreasing 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Survival curve — two groups</a:t>
            </a:r>
          </a:p>
        </p:txBody>
      </p:sp>
      <p:pic>
        <p:nvPicPr>
          <p:cNvPr id="3" name="Picture 1" descr="images/s6_09_image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193800"/>
            <a:ext cx="676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Kaplan-Meier survival curve</a:t>
            </a:r>
          </a:p>
        </p:txBody>
      </p:sp>
      <p:pic>
        <p:nvPicPr>
          <p:cNvPr id="3" name="Picture 1" descr="images/s6_09_image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Comparing two survival curves</a:t>
            </a:r>
          </a:p>
        </p:txBody>
      </p:sp>
      <p:pic>
        <p:nvPicPr>
          <p:cNvPr id="3" name="Picture 1" descr="images/s6_slide12_logran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Log-rank test: survival by follow-up (months), early (n = 226) vs advanced (n = 519) stage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Comparing several survival curves</a:t>
            </a:r>
          </a:p>
        </p:txBody>
      </p:sp>
      <p:pic>
        <p:nvPicPr>
          <p:cNvPr id="3" name="Picture 1" descr="images/s6_09_image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Percentage survival (y-axis) by months of survival (x-axis) for tumour grade I–II, III and IV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Recommendations, comments and more</a:t>
            </a:r>
          </a:p>
          <a:p>
            <a:pPr marL="0" lvl="0" indent="0">
              <a:buNone/>
            </a:pPr>
            <a:r>
              <a:t>@jacalvache</a:t>
            </a:r>
          </a:p>
          <a:p>
            <a:pPr marL="0" lvl="0" indent="0">
              <a:buNone/>
            </a:pPr>
            <a:r>
              <a:t>jacalvache@unicauca.edu.co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On-screen Show (16:9)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Introduction to Survival Analysis</vt:lpstr>
      <vt:lpstr>Section objectives</vt:lpstr>
      <vt:lpstr>Survival curves</vt:lpstr>
      <vt:lpstr>Longitudinal studies</vt:lpstr>
      <vt:lpstr>Longitudinal studies — cumulative incidence</vt:lpstr>
      <vt:lpstr>Time to …</vt:lpstr>
      <vt:lpstr>Main feature of survival analysis: censoring</vt:lpstr>
      <vt:lpstr>Survival analysis?</vt:lpstr>
      <vt:lpstr>Summarizing survival data</vt:lpstr>
      <vt:lpstr>Strategies for analyzing survival data</vt:lpstr>
      <vt:lpstr>Survival curve</vt:lpstr>
      <vt:lpstr>Survival curve — two groups</vt:lpstr>
      <vt:lpstr>Kaplan-Meier survival curve</vt:lpstr>
      <vt:lpstr>Comparing two survival curves</vt:lpstr>
      <vt:lpstr>Comparing several survival curves</vt:lpstr>
      <vt:lpstr>Contact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A heading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Survival Analysis</dc:title>
  <dc:creator>Jose Andres Calvache MD MSc PhD</dc:creator>
  <cp:keywords/>
  <cp:lastModifiedBy>JOSE ANDRES CALVACHE ESPANA</cp:lastModifiedBy>
  <cp:revision>1</cp:revision>
  <dcterms:created xsi:type="dcterms:W3CDTF">2026-10-05T00:44:56Z</dcterms:created>
  <dcterms:modified xsi:type="dcterms:W3CDTF">2026-10-05T00:45:19Z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2026-10-04</vt:lpwstr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/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Section 6 — Introduction to Biostatistics</vt:lpwstr>
  </property>
  <property fmtid="{D5CDD505-2E9C-101B-9397-08002B2CF9AE}" pid="16" name="toc-title">
    <vt:lpwstr>Table of contents</vt:lpwstr>
  </property>
</Properties>
</file>