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161" d="100"/>
          <a:sy n="161" d="100"/>
        </p:scale>
        <p:origin x="560" y="20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plot has two parts. The lower part is a superimposed dot plot and box plot. The large circle for each treatment combination is the conditional mean. The upper part shows the effects and effect uncertainty. Here the effects are parameter estimates (coefficients) of the model and 95% confidence intervals of these estimates. Key: Temp- = 13°C, Temp+ = 18°C, CO2- = 400 µATM, CO2+ = 1100 µATM.</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buAutoNum type="alphaUcParenBoth"/>
            </a:pPr>
            <a:r>
              <a:t>bar plot, (B) interaction plot, (C) dot plot, (D) box plot. In all four plot types, the treatment effects are inferred by mentally computing the distance between treatment means (or median in case of the box plot). The interaction effect is inferred in (C) by comparing obliqueness of the lines. The uncertainty in treatment effects and especially the interaction effect cannot be inferred from any of the plots A-D.</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defRPr>
                <a:solidFill>
                  <a:srgbClr val="08295E"/>
                </a:solidFill>
              </a:defRPr>
            </a:lvl1p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solidFill>
                  <a:srgbClr val="08295E"/>
                </a:solidFill>
              </a:defRPr>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solidFill>
                  <a:srgbClr val="08295E"/>
                </a:solidFill>
              </a:defRPr>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solidFill>
                  <a:srgbClr val="08295E"/>
                </a:solidFill>
              </a:defRPr>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10/4/2026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rgbClr val="08295E"/>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Types of Data, Data Description and Measures of Association</a:t>
            </a:r>
          </a:p>
        </p:txBody>
      </p:sp>
      <p:sp>
        <p:nvSpPr>
          <p:cNvPr id="3" name="Subtitle 2"/>
          <p:cNvSpPr>
            <a:spLocks noGrp="1"/>
          </p:cNvSpPr>
          <p:nvPr>
            <p:ph type="subTitle" idx="1"/>
          </p:nvPr>
        </p:nvSpPr>
        <p:spPr>
          <a:xfrm>
            <a:off x="1371600" y="2914650"/>
            <a:ext cx="6400800" cy="1314450"/>
          </a:xfrm>
        </p:spPr>
        <p:txBody>
          <a:bodyPr/>
          <a:lstStyle/>
          <a:p>
            <a:pPr marL="0" lvl="0" indent="0">
              <a:buNone/>
            </a:pPr>
            <a:r>
              <a:t>Section 2 — Introduction to Biostatistics</a:t>
            </a:r>
            <a:br/>
            <a:br/>
            <a:r>
              <a:t>Jose Andres Calvache MD MSc PhD</a:t>
            </a:r>
          </a:p>
        </p:txBody>
      </p:sp>
      <p:sp>
        <p:nvSpPr>
          <p:cNvPr id="4" name="Date Placeholder 3"/>
          <p:cNvSpPr>
            <a:spLocks noGrp="1"/>
          </p:cNvSpPr>
          <p:nvPr>
            <p:ph type="dt" sz="half" idx="10"/>
          </p:nvPr>
        </p:nvSpPr>
        <p:spPr/>
        <p:txBody>
          <a:bodyPr/>
          <a:lstStyle/>
          <a:p>
            <a:pPr marL="0" lvl="0" indent="0">
              <a:buNone/>
            </a:pPr>
            <a:r>
              <a:t>2026-10-04</a:t>
            </a:r>
          </a:p>
        </p:txBody>
      </p:sp>
      <p:pic>
        <p:nvPicPr>
          <p:cNvPr id="6" name="Picture 5">
            <a:extLst>
              <a:ext uri="{FF2B5EF4-FFF2-40B4-BE49-F238E27FC236}">
                <a16:creationId xmlns:a16="http://schemas.microsoft.com/office/drawing/2014/main" id="{700EA91F-66F6-3EDC-081E-FF703DDAE808}"/>
              </a:ext>
            </a:extLst>
          </p:cNvPr>
          <p:cNvPicPr>
            <a:picLocks noChangeAspect="1"/>
          </p:cNvPicPr>
          <p:nvPr/>
        </p:nvPicPr>
        <p:blipFill>
          <a:blip r:embed="rId2"/>
          <a:stretch>
            <a:fillRect/>
          </a:stretch>
        </p:blipFill>
        <p:spPr>
          <a:xfrm>
            <a:off x="7439237" y="127000"/>
            <a:ext cx="214279" cy="330200"/>
          </a:xfrm>
          <a:prstGeom prst="rect">
            <a:avLst/>
          </a:prstGeom>
        </p:spPr>
      </p:pic>
      <p:pic>
        <p:nvPicPr>
          <p:cNvPr id="8" name="Picture 7">
            <a:extLst>
              <a:ext uri="{FF2B5EF4-FFF2-40B4-BE49-F238E27FC236}">
                <a16:creationId xmlns:a16="http://schemas.microsoft.com/office/drawing/2014/main" id="{63F1A77C-4E2C-65D6-257C-BB68EEAD87A7}"/>
              </a:ext>
            </a:extLst>
          </p:cNvPr>
          <p:cNvPicPr>
            <a:picLocks noChangeAspect="1"/>
          </p:cNvPicPr>
          <p:nvPr/>
        </p:nvPicPr>
        <p:blipFill>
          <a:blip r:embed="rId3"/>
          <a:stretch>
            <a:fillRect/>
          </a:stretch>
        </p:blipFill>
        <p:spPr>
          <a:xfrm>
            <a:off x="7755116" y="127000"/>
            <a:ext cx="288570" cy="330200"/>
          </a:xfrm>
          <a:prstGeom prst="rect">
            <a:avLst/>
          </a:prstGeom>
        </p:spPr>
      </p:pic>
      <p:pic>
        <p:nvPicPr>
          <p:cNvPr id="10" name="Picture 9">
            <a:extLst>
              <a:ext uri="{FF2B5EF4-FFF2-40B4-BE49-F238E27FC236}">
                <a16:creationId xmlns:a16="http://schemas.microsoft.com/office/drawing/2014/main" id="{08411E27-ADA5-4D89-3F74-49A738214E5B}"/>
              </a:ext>
            </a:extLst>
          </p:cNvPr>
          <p:cNvPicPr>
            <a:picLocks noChangeAspect="1"/>
          </p:cNvPicPr>
          <p:nvPr/>
        </p:nvPicPr>
        <p:blipFill>
          <a:blip r:embed="rId4"/>
          <a:stretch>
            <a:fillRect/>
          </a:stretch>
        </p:blipFill>
        <p:spPr>
          <a:xfrm>
            <a:off x="8145286" y="127000"/>
            <a:ext cx="820914" cy="330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Types of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Basic principles of research</a:t>
            </a:r>
          </a:p>
        </p:txBody>
      </p:sp>
      <p:pic>
        <p:nvPicPr>
          <p:cNvPr id="3" name="Picture 1" descr="images/s2_04_slide02_valid-precise.png"/>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Basic principles in data analysis</a:t>
            </a:r>
          </a:p>
        </p:txBody>
      </p:sp>
      <p:sp>
        <p:nvSpPr>
          <p:cNvPr id="3" name="Content Placeholder 2"/>
          <p:cNvSpPr>
            <a:spLocks noGrp="1"/>
          </p:cNvSpPr>
          <p:nvPr>
            <p:ph idx="1"/>
          </p:nvPr>
        </p:nvSpPr>
        <p:spPr/>
        <p:txBody>
          <a:bodyPr/>
          <a:lstStyle/>
          <a:p>
            <a:pPr lvl="0"/>
            <a:r>
              <a:t>Do a lot of graphs</a:t>
            </a:r>
          </a:p>
          <a:p>
            <a:pPr lvl="0"/>
            <a:r>
              <a:t>Use the common sense</a:t>
            </a:r>
          </a:p>
          <a:p>
            <a:pPr lvl="0"/>
            <a:r>
              <a:t>“Critical thinking”</a:t>
            </a:r>
          </a:p>
          <a:p>
            <a:pPr lvl="0"/>
            <a:r>
              <a:t>This is the only beginning</a:t>
            </a:r>
          </a:p>
          <a:p>
            <a:pPr lvl="0"/>
            <a:r>
              <a:t>Look for appropriate advice and support from the start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Basic definitions</a:t>
            </a:r>
          </a:p>
        </p:txBody>
      </p:sp>
      <p:sp>
        <p:nvSpPr>
          <p:cNvPr id="3" name="Content Placeholder 2"/>
          <p:cNvSpPr>
            <a:spLocks noGrp="1"/>
          </p:cNvSpPr>
          <p:nvPr>
            <p:ph idx="1"/>
          </p:nvPr>
        </p:nvSpPr>
        <p:spPr/>
        <p:txBody>
          <a:bodyPr/>
          <a:lstStyle/>
          <a:p>
            <a:pPr marL="0" lvl="0" indent="0">
              <a:buNone/>
            </a:pPr>
            <a:r>
              <a:rPr b="1"/>
              <a:t>Population</a:t>
            </a:r>
            <a:r>
              <a:t> → </a:t>
            </a:r>
            <a:r>
              <a:rPr b="1"/>
              <a:t>Sample</a:t>
            </a:r>
            <a:r>
              <a:t> → </a:t>
            </a:r>
            <a:r>
              <a:rPr b="1"/>
              <a:t>Variable</a:t>
            </a:r>
            <a:r>
              <a:t> → </a:t>
            </a:r>
            <a:r>
              <a:rPr b="1"/>
              <a:t>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Population</a:t>
            </a:r>
          </a:p>
        </p:txBody>
      </p:sp>
      <p:sp>
        <p:nvSpPr>
          <p:cNvPr id="3" name="Content Placeholder 2"/>
          <p:cNvSpPr>
            <a:spLocks noGrp="1"/>
          </p:cNvSpPr>
          <p:nvPr>
            <p:ph idx="1"/>
          </p:nvPr>
        </p:nvSpPr>
        <p:spPr/>
        <p:txBody>
          <a:bodyPr/>
          <a:lstStyle/>
          <a:p>
            <a:pPr marL="0" lvl="0" indent="0">
              <a:buNone/>
            </a:pPr>
            <a:r>
              <a:t>Group of subjects that share at least </a:t>
            </a:r>
            <a:r>
              <a:rPr b="1"/>
              <a:t>one characteristic</a:t>
            </a:r>
            <a:r>
              <a:t> — N = size of the population</a:t>
            </a:r>
          </a:p>
          <a:p>
            <a:pPr lvl="0"/>
            <a:r>
              <a:t>Students of the university</a:t>
            </a:r>
          </a:p>
          <a:p>
            <a:pPr lvl="0"/>
            <a:r>
              <a:t>Health care workers in Popayán</a:t>
            </a:r>
          </a:p>
          <a:p>
            <a:pPr lvl="0"/>
            <a:r>
              <a:t>Public hospitals in Colombia</a:t>
            </a:r>
          </a:p>
          <a:p>
            <a:pPr lvl="0"/>
            <a:r>
              <a:t>Patients with histologically confirmed diagnosis of gastric cancer</a:t>
            </a:r>
          </a:p>
          <a:p>
            <a:pPr lvl="0"/>
            <a:r>
              <a:t>Older patients under abdominal surgery (certain 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Population — definition and unit of analysis</a:t>
            </a:r>
          </a:p>
        </p:txBody>
      </p:sp>
      <p:sp>
        <p:nvSpPr>
          <p:cNvPr id="3" name="Content Placeholder 2"/>
          <p:cNvSpPr>
            <a:spLocks noGrp="1"/>
          </p:cNvSpPr>
          <p:nvPr>
            <p:ph idx="1"/>
          </p:nvPr>
        </p:nvSpPr>
        <p:spPr/>
        <p:txBody>
          <a:bodyPr/>
          <a:lstStyle/>
          <a:p>
            <a:pPr lvl="0"/>
            <a:r>
              <a:rPr i="1"/>
              <a:t>The population should be very clearly defined</a:t>
            </a:r>
          </a:p>
          <a:p>
            <a:pPr lvl="0"/>
            <a:r>
              <a:rPr i="1"/>
              <a:t>Unit of analysis: member of the population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Sample</a:t>
            </a:r>
          </a:p>
        </p:txBody>
      </p:sp>
      <p:pic>
        <p:nvPicPr>
          <p:cNvPr id="3" name="Picture 1" descr="images/s2_04_slide06_sample.png"/>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Variable</a:t>
            </a:r>
          </a:p>
        </p:txBody>
      </p:sp>
      <p:sp>
        <p:nvSpPr>
          <p:cNvPr id="3" name="Content Placeholder 2"/>
          <p:cNvSpPr>
            <a:spLocks noGrp="1"/>
          </p:cNvSpPr>
          <p:nvPr>
            <p:ph idx="1"/>
          </p:nvPr>
        </p:nvSpPr>
        <p:spPr/>
        <p:txBody>
          <a:bodyPr/>
          <a:lstStyle/>
          <a:p>
            <a:pPr marL="0" lvl="0" indent="0">
              <a:buNone/>
            </a:pPr>
            <a:r>
              <a:t>Characteristic of the population in which we are interested</a:t>
            </a:r>
          </a:p>
          <a:p>
            <a:pPr lvl="0"/>
            <a:r>
              <a:rPr i="1"/>
              <a:t>X</a:t>
            </a:r>
            <a:r>
              <a:rPr i="1" baseline="-25000"/>
              <a:t>n</a:t>
            </a:r>
            <a:r>
              <a:t>: univariable; </a:t>
            </a:r>
            <a:r>
              <a:rPr i="1"/>
              <a:t>X</a:t>
            </a:r>
            <a:r>
              <a:rPr i="1" baseline="-25000"/>
              <a:t>1</a:t>
            </a:r>
            <a:r>
              <a:rPr i="1"/>
              <a:t>, X</a:t>
            </a:r>
            <a:r>
              <a:rPr i="1" baseline="-25000"/>
              <a:t>2</a:t>
            </a:r>
            <a:r>
              <a:rPr i="1"/>
              <a:t>, X</a:t>
            </a:r>
            <a:r>
              <a:rPr i="1" baseline="-25000"/>
              <a:t>3</a:t>
            </a:r>
            <a:r>
              <a:rPr i="1"/>
              <a:t>, … X</a:t>
            </a:r>
            <a:r>
              <a:rPr i="1" baseline="-25000"/>
              <a:t>p</a:t>
            </a:r>
            <a:r>
              <a:t>: </a:t>
            </a:r>
            <a:r>
              <a:rPr i="1"/>
              <a:t>p</a:t>
            </a:r>
            <a:r>
              <a:t> multivariable</a:t>
            </a:r>
          </a:p>
          <a:p>
            <a:pPr lvl="0"/>
            <a:r>
              <a:t>Name; gender, socioeconomic status; age, weight, BMI</a:t>
            </a:r>
          </a:p>
          <a:p>
            <a:pPr lvl="0"/>
            <a:r>
              <a:t>Outcomes (fail/success), (death/alive); length of hospital stay</a:t>
            </a:r>
          </a:p>
          <a:p>
            <a:pPr marL="0" lvl="0" indent="0">
              <a:buNone/>
            </a:pPr>
            <a:r>
              <a:t>Should be clearly defined in the protocol (age groups, what is a “fail”?)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Types of variables</a:t>
            </a:r>
          </a:p>
        </p:txBody>
      </p:sp>
      <p:pic>
        <p:nvPicPr>
          <p:cNvPr id="3" name="Picture 1" descr="images/s2_04_slide08_variable-types.png"/>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Nominal variables</a:t>
            </a:r>
          </a:p>
        </p:txBody>
      </p:sp>
      <p:sp>
        <p:nvSpPr>
          <p:cNvPr id="3" name="Content Placeholder 2"/>
          <p:cNvSpPr>
            <a:spLocks noGrp="1"/>
          </p:cNvSpPr>
          <p:nvPr>
            <p:ph idx="1"/>
          </p:nvPr>
        </p:nvSpPr>
        <p:spPr/>
        <p:txBody>
          <a:bodyPr/>
          <a:lstStyle/>
          <a:p>
            <a:pPr marL="0" lvl="0" indent="0">
              <a:buNone/>
            </a:pPr>
            <a:r>
              <a:t>To express a quality</a:t>
            </a:r>
          </a:p>
          <a:p>
            <a:pPr lvl="0"/>
            <a:r>
              <a:t>By using </a:t>
            </a:r>
            <a:r>
              <a:rPr i="1"/>
              <a:t>k</a:t>
            </a:r>
            <a:r>
              <a:t> categories — mutually exclusive — (C</a:t>
            </a:r>
            <a:r>
              <a:rPr baseline="-25000"/>
              <a:t>1</a:t>
            </a:r>
            <a:r>
              <a:t>, C</a:t>
            </a:r>
            <a:r>
              <a:rPr baseline="-25000"/>
              <a:t>2</a:t>
            </a:r>
            <a:r>
              <a:t>, … C</a:t>
            </a:r>
            <a:r>
              <a:rPr baseline="-25000"/>
              <a:t>n</a:t>
            </a:r>
            <a:r>
              <a:t>), also called categorical variables</a:t>
            </a:r>
          </a:p>
          <a:p>
            <a:pPr lvl="0"/>
            <a:r>
              <a:t>Racial group: African, Caucasian, Hispanic, Asian (</a:t>
            </a:r>
            <a:r>
              <a:rPr i="1"/>
              <a:t>k</a:t>
            </a:r>
            <a:r>
              <a:t> = 4)</a:t>
            </a:r>
          </a:p>
          <a:p>
            <a:pPr lvl="0"/>
            <a:r>
              <a:t>Blood group: A, B, AB, O (</a:t>
            </a:r>
            <a:r>
              <a:rPr i="1"/>
              <a:t>k</a:t>
            </a:r>
            <a:r>
              <a:t> = 4)</a:t>
            </a:r>
          </a:p>
          <a:p>
            <a:pPr lvl="0"/>
            <a:r>
              <a:t>Gender: Male, Female (</a:t>
            </a:r>
            <a:r>
              <a:rPr i="1"/>
              <a:t>k</a:t>
            </a:r>
            <a:r>
              <a:t> =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Nominal variables (cont.)</a:t>
            </a:r>
          </a:p>
        </p:txBody>
      </p:sp>
      <p:sp>
        <p:nvSpPr>
          <p:cNvPr id="3" name="Content Placeholder 2"/>
          <p:cNvSpPr>
            <a:spLocks noGrp="1"/>
          </p:cNvSpPr>
          <p:nvPr>
            <p:ph idx="1"/>
          </p:nvPr>
        </p:nvSpPr>
        <p:spPr/>
        <p:txBody>
          <a:bodyPr/>
          <a:lstStyle/>
          <a:p>
            <a:pPr lvl="0"/>
            <a:r>
              <a:t>The number of categories should be clearly defined in advance</a:t>
            </a:r>
          </a:p>
          <a:p>
            <a:pPr lvl="0"/>
            <a:r>
              <a:t>Binary categorical variables (</a:t>
            </a:r>
            <a:r>
              <a:rPr i="1"/>
              <a:t>k</a:t>
            </a:r>
            <a:r>
              <a:t> = 2)</a:t>
            </a:r>
          </a:p>
          <a:p>
            <a:pPr lvl="0"/>
            <a:r>
              <a:t>It is possible to transform the variable into (</a:t>
            </a:r>
            <a:r>
              <a:rPr i="1"/>
              <a:t>k</a:t>
            </a:r>
            <a:r>
              <a:t> − 1) indicators against a reference category</a:t>
            </a:r>
          </a:p>
          <a:p>
            <a:pPr lvl="0"/>
            <a:r>
              <a:t>Order is meaningless</a:t>
            </a:r>
          </a:p>
          <a:p>
            <a:pPr lvl="0"/>
            <a:r>
              <a:t>How to summarize: frequency table (n,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Ordinal variables</a:t>
            </a:r>
          </a:p>
        </p:txBody>
      </p:sp>
      <p:sp>
        <p:nvSpPr>
          <p:cNvPr id="3" name="Content Placeholder 2"/>
          <p:cNvSpPr>
            <a:spLocks noGrp="1"/>
          </p:cNvSpPr>
          <p:nvPr>
            <p:ph idx="1"/>
          </p:nvPr>
        </p:nvSpPr>
        <p:spPr/>
        <p:txBody>
          <a:bodyPr/>
          <a:lstStyle/>
          <a:p>
            <a:pPr marL="0" lvl="0" indent="0">
              <a:buNone/>
            </a:pPr>
            <a:r>
              <a:t>To express an ordered quality (C</a:t>
            </a:r>
            <a:r>
              <a:rPr baseline="-25000"/>
              <a:t>1</a:t>
            </a:r>
            <a:r>
              <a:t> &lt; C</a:t>
            </a:r>
            <a:r>
              <a:rPr baseline="-25000"/>
              <a:t>2</a:t>
            </a:r>
            <a:r>
              <a:t> &lt; C</a:t>
            </a:r>
            <a:r>
              <a:rPr baseline="-25000"/>
              <a:t>n</a:t>
            </a:r>
            <a:r>
              <a:t>)</a:t>
            </a:r>
          </a:p>
          <a:p>
            <a:pPr lvl="0"/>
            <a:r>
              <a:t>Pain level: (none, slight, moderate, severe)</a:t>
            </a:r>
          </a:p>
          <a:p>
            <a:pPr lvl="0"/>
            <a:r>
              <a:t>Cancer stage: (I, II, III, IV)</a:t>
            </a:r>
          </a:p>
          <a:p>
            <a:pPr lvl="0"/>
            <a:r>
              <a:t>Social stratum: 1, 2, 3, 4 (numbers as categories)</a:t>
            </a:r>
          </a:p>
          <a:p>
            <a:pPr marL="0" lvl="0" indent="0">
              <a:buNone/>
            </a:pPr>
            <a:r>
              <a:t>Categories could be numbered (1, 2, 3, </a:t>
            </a:r>
            <a:r>
              <a:rPr i="1"/>
              <a:t>n</a:t>
            </a:r>
            <a:r>
              <a:t>). How to summarize: frequency table (n,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How to summarize: frequency table (n, %)</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lvl="0" indent="0">
                        <a:buNone/>
                      </a:pPr>
                      <a:r>
                        <a:t>Pain level after surgery</a:t>
                      </a:r>
                    </a:p>
                  </a:txBody>
                  <a:tcPr/>
                </a:tc>
                <a:tc>
                  <a:txBody>
                    <a:bodyPr/>
                    <a:lstStyle/>
                    <a:p>
                      <a:pPr marL="0" lvl="0" indent="0" algn="r">
                        <a:buNone/>
                      </a:pPr>
                      <a:r>
                        <a:t>Freq (n)</a:t>
                      </a:r>
                    </a:p>
                  </a:txBody>
                  <a:tcPr/>
                </a:tc>
                <a:tc>
                  <a:txBody>
                    <a:bodyPr/>
                    <a:lstStyle/>
                    <a:p>
                      <a:pPr marL="0" lvl="0" indent="0" algn="r">
                        <a:buNone/>
                      </a:pPr>
                      <a:r>
                        <a:t>%</a:t>
                      </a:r>
                    </a:p>
                  </a:txBody>
                  <a:tcPr/>
                </a:tc>
                <a:extLst>
                  <a:ext uri="{0D108BD9-81ED-4DB2-BD59-A6C34878D82A}">
                    <a16:rowId xmlns:a16="http://schemas.microsoft.com/office/drawing/2014/main" val="10000"/>
                  </a:ext>
                </a:extLst>
              </a:tr>
              <a:tr h="0">
                <a:tc>
                  <a:txBody>
                    <a:bodyPr/>
                    <a:lstStyle/>
                    <a:p>
                      <a:pPr marL="0" lvl="0" indent="0">
                        <a:buNone/>
                      </a:pPr>
                      <a:r>
                        <a:t>None</a:t>
                      </a:r>
                    </a:p>
                  </a:txBody>
                  <a:tcPr/>
                </a:tc>
                <a:tc>
                  <a:txBody>
                    <a:bodyPr/>
                    <a:lstStyle/>
                    <a:p>
                      <a:pPr marL="0" lvl="0" indent="0" algn="r">
                        <a:buNone/>
                      </a:pPr>
                      <a:r>
                        <a:t>10</a:t>
                      </a:r>
                    </a:p>
                  </a:txBody>
                  <a:tcPr/>
                </a:tc>
                <a:tc>
                  <a:txBody>
                    <a:bodyPr/>
                    <a:lstStyle/>
                    <a:p>
                      <a:pPr marL="0" lvl="0" indent="0" algn="r">
                        <a:buNone/>
                      </a:pPr>
                      <a:r>
                        <a:t>20</a:t>
                      </a:r>
                    </a:p>
                  </a:txBody>
                  <a:tcPr/>
                </a:tc>
                <a:extLst>
                  <a:ext uri="{0D108BD9-81ED-4DB2-BD59-A6C34878D82A}">
                    <a16:rowId xmlns:a16="http://schemas.microsoft.com/office/drawing/2014/main" val="10001"/>
                  </a:ext>
                </a:extLst>
              </a:tr>
              <a:tr h="0">
                <a:tc>
                  <a:txBody>
                    <a:bodyPr/>
                    <a:lstStyle/>
                    <a:p>
                      <a:pPr marL="0" lvl="0" indent="0">
                        <a:buNone/>
                      </a:pPr>
                      <a:r>
                        <a:t>Slight</a:t>
                      </a:r>
                    </a:p>
                  </a:txBody>
                  <a:tcPr/>
                </a:tc>
                <a:tc>
                  <a:txBody>
                    <a:bodyPr/>
                    <a:lstStyle/>
                    <a:p>
                      <a:pPr marL="0" lvl="0" indent="0" algn="r">
                        <a:buNone/>
                      </a:pPr>
                      <a:r>
                        <a:t>15</a:t>
                      </a:r>
                    </a:p>
                  </a:txBody>
                  <a:tcPr/>
                </a:tc>
                <a:tc>
                  <a:txBody>
                    <a:bodyPr/>
                    <a:lstStyle/>
                    <a:p>
                      <a:pPr marL="0" lvl="0" indent="0" algn="r">
                        <a:buNone/>
                      </a:pPr>
                      <a:r>
                        <a:t>30</a:t>
                      </a:r>
                    </a:p>
                  </a:txBody>
                  <a:tcPr/>
                </a:tc>
                <a:extLst>
                  <a:ext uri="{0D108BD9-81ED-4DB2-BD59-A6C34878D82A}">
                    <a16:rowId xmlns:a16="http://schemas.microsoft.com/office/drawing/2014/main" val="10002"/>
                  </a:ext>
                </a:extLst>
              </a:tr>
              <a:tr h="0">
                <a:tc>
                  <a:txBody>
                    <a:bodyPr/>
                    <a:lstStyle/>
                    <a:p>
                      <a:pPr marL="0" lvl="0" indent="0">
                        <a:buNone/>
                      </a:pPr>
                      <a:r>
                        <a:t>Moderate</a:t>
                      </a:r>
                    </a:p>
                  </a:txBody>
                  <a:tcPr/>
                </a:tc>
                <a:tc>
                  <a:txBody>
                    <a:bodyPr/>
                    <a:lstStyle/>
                    <a:p>
                      <a:pPr marL="0" lvl="0" indent="0" algn="r">
                        <a:buNone/>
                      </a:pPr>
                      <a:r>
                        <a:t>15</a:t>
                      </a:r>
                    </a:p>
                  </a:txBody>
                  <a:tcPr/>
                </a:tc>
                <a:tc>
                  <a:txBody>
                    <a:bodyPr/>
                    <a:lstStyle/>
                    <a:p>
                      <a:pPr marL="0" lvl="0" indent="0" algn="r">
                        <a:buNone/>
                      </a:pPr>
                      <a:r>
                        <a:t>30</a:t>
                      </a:r>
                    </a:p>
                  </a:txBody>
                  <a:tcPr/>
                </a:tc>
                <a:extLst>
                  <a:ext uri="{0D108BD9-81ED-4DB2-BD59-A6C34878D82A}">
                    <a16:rowId xmlns:a16="http://schemas.microsoft.com/office/drawing/2014/main" val="10003"/>
                  </a:ext>
                </a:extLst>
              </a:tr>
              <a:tr h="0">
                <a:tc>
                  <a:txBody>
                    <a:bodyPr/>
                    <a:lstStyle/>
                    <a:p>
                      <a:pPr marL="0" lvl="0" indent="0">
                        <a:buNone/>
                      </a:pPr>
                      <a:r>
                        <a:t>Severe</a:t>
                      </a:r>
                    </a:p>
                  </a:txBody>
                  <a:tcPr/>
                </a:tc>
                <a:tc>
                  <a:txBody>
                    <a:bodyPr/>
                    <a:lstStyle/>
                    <a:p>
                      <a:pPr marL="0" lvl="0" indent="0" algn="r">
                        <a:buNone/>
                      </a:pPr>
                      <a:r>
                        <a:t>10</a:t>
                      </a:r>
                    </a:p>
                  </a:txBody>
                  <a:tcPr/>
                </a:tc>
                <a:tc>
                  <a:txBody>
                    <a:bodyPr/>
                    <a:lstStyle/>
                    <a:p>
                      <a:pPr marL="0" lvl="0" indent="0" algn="r">
                        <a:buNone/>
                      </a:pPr>
                      <a:r>
                        <a:t>20</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Qualitative variables</a:t>
            </a:r>
          </a:p>
        </p:txBody>
      </p:sp>
      <p:sp>
        <p:nvSpPr>
          <p:cNvPr id="3" name="Content Placeholder 2"/>
          <p:cNvSpPr>
            <a:spLocks noGrp="1"/>
          </p:cNvSpPr>
          <p:nvPr>
            <p:ph idx="1"/>
          </p:nvPr>
        </p:nvSpPr>
        <p:spPr/>
        <p:txBody>
          <a:bodyPr/>
          <a:lstStyle/>
          <a:p>
            <a:pPr marL="0" lvl="0" indent="0">
              <a:buNone/>
            </a:pPr>
            <a:r>
              <a:rPr b="1"/>
              <a:t>Mutually exclusive?</a:t>
            </a:r>
            <a:r>
              <a:t> A variable could take one or more categories (C</a:t>
            </a:r>
            <a:r>
              <a:rPr baseline="-25000"/>
              <a:t>1</a:t>
            </a:r>
            <a:r>
              <a:t>, C</a:t>
            </a:r>
            <a:r>
              <a:rPr baseline="-25000"/>
              <a:t>2</a:t>
            </a:r>
            <a:r>
              <a:t>, … C</a:t>
            </a:r>
            <a:r>
              <a:rPr baseline="-25000"/>
              <a:t>k</a:t>
            </a:r>
            <a:r>
              <a:t>)</a:t>
            </a:r>
          </a:p>
          <a:p>
            <a:pPr lvl="0"/>
            <a:r>
              <a:t>Affected systems: (cardiovascular, renal, nervous) (</a:t>
            </a:r>
            <a:r>
              <a:rPr i="1"/>
              <a:t>k</a:t>
            </a:r>
            <a:r>
              <a:t> = 3)</a:t>
            </a:r>
          </a:p>
          <a:p>
            <a:pPr lvl="0"/>
            <a:r>
              <a:t>Risk factors: (smoking, sedentary, hypertension) (</a:t>
            </a:r>
            <a:r>
              <a:rPr i="1"/>
              <a:t>k</a:t>
            </a:r>
            <a:r>
              <a:t> = 3)</a:t>
            </a:r>
          </a:p>
          <a:p>
            <a:pPr marL="0" lvl="0" indent="0">
              <a:buNone/>
            </a:pPr>
            <a:r>
              <a:rPr b="1"/>
              <a:t>Reordering:</a:t>
            </a:r>
            <a:r>
              <a:t> could be transformed into a binary variable for each category</a:t>
            </a:r>
          </a:p>
          <a:p>
            <a:pPr lvl="0"/>
            <a:r>
              <a:t>X</a:t>
            </a:r>
            <a:r>
              <a:rPr baseline="-25000"/>
              <a:t>1</a:t>
            </a:r>
            <a:r>
              <a:t> = 1 if C</a:t>
            </a:r>
            <a:r>
              <a:rPr baseline="-25000"/>
              <a:t>1</a:t>
            </a:r>
            <a:r>
              <a:t> is present, otherwise 0; X</a:t>
            </a:r>
            <a:r>
              <a:rPr baseline="-25000"/>
              <a:t>2</a:t>
            </a:r>
            <a:r>
              <a:t> = 1 if C</a:t>
            </a:r>
            <a:r>
              <a:rPr baseline="-25000"/>
              <a:t>2</a:t>
            </a:r>
            <a:r>
              <a:t> is present, otherwise 0; … X</a:t>
            </a:r>
            <a:r>
              <a:rPr baseline="-25000"/>
              <a:t>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Discrete (quantitative) variables</a:t>
            </a:r>
          </a:p>
        </p:txBody>
      </p:sp>
      <p:sp>
        <p:nvSpPr>
          <p:cNvPr id="3" name="Content Placeholder 2"/>
          <p:cNvSpPr>
            <a:spLocks noGrp="1"/>
          </p:cNvSpPr>
          <p:nvPr>
            <p:ph idx="1"/>
          </p:nvPr>
        </p:nvSpPr>
        <p:spPr/>
        <p:txBody>
          <a:bodyPr/>
          <a:lstStyle/>
          <a:p>
            <a:pPr lvl="0"/>
            <a:r>
              <a:t>To express a numerical quantity</a:t>
            </a:r>
          </a:p>
          <a:p>
            <a:pPr lvl="0"/>
            <a:r>
              <a:t>Usually calculated by counting or measurement</a:t>
            </a:r>
          </a:p>
          <a:p>
            <a:pPr marL="0" lvl="0" indent="0">
              <a:buNone/>
            </a:pPr>
            <a:r>
              <a:rPr b="1"/>
              <a:t>Discrete variables (counting)</a:t>
            </a:r>
          </a:p>
          <a:p>
            <a:pPr lvl="0"/>
            <a:r>
              <a:t>They take a finite number of values (</a:t>
            </a:r>
            <a:r>
              <a:rPr i="1"/>
              <a:t>k</a:t>
            </a:r>
            <a:r>
              <a:t>) without decimals</a:t>
            </a:r>
          </a:p>
          <a:p>
            <a:pPr lvl="0"/>
            <a:r>
              <a:t>Number of children at school</a:t>
            </a:r>
          </a:p>
          <a:p>
            <a:pPr lvl="0"/>
            <a:r>
              <a:t>Number of medical consultations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Continuous (quantitative) variables</a:t>
            </a:r>
          </a:p>
        </p:txBody>
      </p:sp>
      <p:sp>
        <p:nvSpPr>
          <p:cNvPr id="3" name="Content Placeholder 2"/>
          <p:cNvSpPr>
            <a:spLocks noGrp="1"/>
          </p:cNvSpPr>
          <p:nvPr>
            <p:ph idx="1"/>
          </p:nvPr>
        </p:nvSpPr>
        <p:spPr/>
        <p:txBody>
          <a:bodyPr/>
          <a:lstStyle/>
          <a:p>
            <a:pPr marL="0" lvl="0" indent="0">
              <a:buNone/>
            </a:pPr>
            <a:r>
              <a:t>All possible real values in an interval or continuum — usually associated with a unit of measurement</a:t>
            </a:r>
          </a:p>
          <a:p>
            <a:pPr lvl="0"/>
            <a:r>
              <a:t>Weight (kg); BMI (kg/m</a:t>
            </a:r>
            <a:r>
              <a:rPr baseline="30000"/>
              <a:t>2</a:t>
            </a:r>
            <a:r>
              <a:t>)</a:t>
            </a:r>
          </a:p>
          <a:p>
            <a:pPr lvl="0"/>
            <a:r>
              <a:t>Cholesterol level (mmol/L)</a:t>
            </a:r>
          </a:p>
          <a:p>
            <a:pPr lvl="0"/>
            <a:r>
              <a:t>Survival time in a certain cancer (years, months)</a:t>
            </a:r>
          </a:p>
          <a:p>
            <a:pPr lvl="0"/>
            <a:r>
              <a:t>Systolic blood pressure (mmHg)</a:t>
            </a:r>
          </a:p>
          <a:p>
            <a:pPr marL="0" lvl="0" indent="0">
              <a:buNone/>
            </a:pPr>
            <a:r>
              <a:t>How to summarize these variables?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a:t>
            </a:r>
          </a:p>
        </p:txBody>
      </p:sp>
      <p:sp>
        <p:nvSpPr>
          <p:cNvPr id="3" name="Content Placeholder 2"/>
          <p:cNvSpPr>
            <a:spLocks noGrp="1"/>
          </p:cNvSpPr>
          <p:nvPr>
            <p:ph idx="1"/>
          </p:nvPr>
        </p:nvSpPr>
        <p:spPr/>
        <p:txBody>
          <a:bodyPr/>
          <a:lstStyle/>
          <a:p>
            <a:pPr lvl="0"/>
            <a:r>
              <a:t>A single observation of a variable in the population</a:t>
            </a:r>
          </a:p>
          <a:p>
            <a:pPr lvl="0"/>
            <a:r>
              <a:t>Data will be analyzed</a:t>
            </a:r>
          </a:p>
          <a:p>
            <a:pPr lvl="1"/>
            <a:r>
              <a:t>Single value for BMI</a:t>
            </a:r>
          </a:p>
          <a:p>
            <a:pPr lvl="1"/>
            <a:r>
              <a:t>Single value for weight</a:t>
            </a:r>
          </a:p>
          <a:p>
            <a:pPr lvl="1"/>
            <a:r>
              <a:t>Single value for age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 sample</a:t>
            </a:r>
          </a:p>
        </p:txBody>
      </p:sp>
      <p:pic>
        <p:nvPicPr>
          <p:cNvPr id="3" name="Picture 1" descr="images/s2_04_image4.png"/>
          <p:cNvPicPr>
            <a:picLocks noGrp="1" noChangeAspect="1"/>
          </p:cNvPicPr>
          <p:nvPr/>
        </p:nvPicPr>
        <p:blipFill>
          <a:blip r:embed="rId2"/>
          <a:stretch>
            <a:fillRect/>
          </a:stretch>
        </p:blipFill>
        <p:spPr bwMode="auto">
          <a:xfrm>
            <a:off x="2667000" y="1193800"/>
            <a:ext cx="38227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rPr i="1"/>
              <a:t>n</a:t>
            </a:r>
            <a:r>
              <a:t> observations in </a:t>
            </a:r>
            <a:r>
              <a:rPr i="1"/>
              <a:t>n</a:t>
            </a:r>
            <a:r>
              <a:t> subjects (rows versus columns)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 sample — example</a:t>
            </a:r>
          </a:p>
        </p:txBody>
      </p:sp>
      <p:pic>
        <p:nvPicPr>
          <p:cNvPr id="3" name="Picture 1" descr="images/s2_04_image5.png"/>
          <p:cNvPicPr>
            <a:picLocks noGrp="1" noChangeAspect="1"/>
          </p:cNvPicPr>
          <p:nvPr/>
        </p:nvPicPr>
        <p:blipFill>
          <a:blip r:embed="rId2"/>
          <a:stretch>
            <a:fillRect/>
          </a:stretch>
        </p:blipFill>
        <p:spPr bwMode="auto">
          <a:xfrm>
            <a:off x="1651000" y="1193800"/>
            <a:ext cx="5854700" cy="3390900"/>
          </a:xfrm>
          <a:prstGeom prst="rect">
            <a:avLst/>
          </a:prstGeom>
          <a:noFill/>
          <a:ln w="9525">
            <a:noFill/>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healthy lifestyle and life expectancy</a:t>
            </a:r>
          </a:p>
        </p:txBody>
      </p:sp>
      <p:pic>
        <p:nvPicPr>
          <p:cNvPr id="3" name="Picture 1" descr="images/s2_04_image6.png"/>
          <p:cNvPicPr>
            <a:picLocks noGrp="1" noChangeAspect="1"/>
          </p:cNvPicPr>
          <p:nvPr/>
        </p:nvPicPr>
        <p:blipFill>
          <a:blip r:embed="rId2"/>
          <a:stretch>
            <a:fillRect/>
          </a:stretch>
        </p:blipFill>
        <p:spPr bwMode="auto">
          <a:xfrm>
            <a:off x="1562100" y="1193800"/>
            <a:ext cx="6032500" cy="3390900"/>
          </a:xfrm>
          <a:prstGeom prst="rect">
            <a:avLst/>
          </a:prstGeom>
          <a:noFill/>
          <a:ln w="9525">
            <a:noFill/>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 abstract (1/4)</a:t>
            </a:r>
          </a:p>
        </p:txBody>
      </p:sp>
      <p:sp>
        <p:nvSpPr>
          <p:cNvPr id="3" name="Content Placeholder 2"/>
          <p:cNvSpPr>
            <a:spLocks noGrp="1"/>
          </p:cNvSpPr>
          <p:nvPr>
            <p:ph idx="1"/>
          </p:nvPr>
        </p:nvSpPr>
        <p:spPr/>
        <p:txBody>
          <a:bodyPr/>
          <a:lstStyle/>
          <a:p>
            <a:pPr marL="0" lvl="0" indent="0">
              <a:buNone/>
            </a:pPr>
            <a:r>
              <a:rPr b="1"/>
              <a:t>Objective:</a:t>
            </a:r>
            <a:r>
              <a:t> To examine how a healthy lifestyle is related to life expectancy that is free from major chronic diseases.</a:t>
            </a:r>
          </a:p>
          <a:p>
            <a:pPr marL="0" lvl="0" indent="0">
              <a:buNone/>
            </a:pPr>
            <a:r>
              <a:rPr b="1"/>
              <a:t>Design:</a:t>
            </a:r>
            <a:r>
              <a:t> Prospective cohort study.</a:t>
            </a:r>
          </a:p>
          <a:p>
            <a:pPr marL="0" lvl="0" indent="0">
              <a:buNone/>
            </a:pPr>
            <a:r>
              <a:rPr b="1"/>
              <a:t>Setting and participants:</a:t>
            </a:r>
            <a:r>
              <a:t> The Nurses’ Health Study (1980-2014; n = 73,196) and the Health Professionals Follow-Up Study (1986-2014; n = 38,366).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 abstract (2/4)</a:t>
            </a:r>
          </a:p>
        </p:txBody>
      </p:sp>
      <p:sp>
        <p:nvSpPr>
          <p:cNvPr id="3" name="Content Placeholder 2"/>
          <p:cNvSpPr>
            <a:spLocks noGrp="1"/>
          </p:cNvSpPr>
          <p:nvPr>
            <p:ph idx="1"/>
          </p:nvPr>
        </p:nvSpPr>
        <p:spPr/>
        <p:txBody>
          <a:bodyPr/>
          <a:lstStyle/>
          <a:p>
            <a:pPr marL="0" lvl="0" indent="0">
              <a:buNone/>
            </a:pPr>
            <a:r>
              <a:rPr b="1"/>
              <a:t>Main exposures:</a:t>
            </a:r>
            <a:r>
              <a:t> Five low risk lifestyle factors: never smoking, body mass index 18.5-24.9, moderate to vigorous physical activity (≥30 minutes/day), moderate alcohol intake (women: 5-15 g/day; men 5-30 g/day), and a higher diet quality score (upper 40%).</a:t>
            </a:r>
          </a:p>
          <a:p>
            <a:pPr marL="0" lvl="0" indent="0">
              <a:buNone/>
            </a:pPr>
            <a:r>
              <a:rPr b="1"/>
              <a:t>Main outcome:</a:t>
            </a:r>
            <a:r>
              <a:t> Life expectancy free of diabetes, cardiovascular diseases, and cancer.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 abstract (3/4)</a:t>
            </a:r>
          </a:p>
        </p:txBody>
      </p:sp>
      <p:sp>
        <p:nvSpPr>
          <p:cNvPr id="3" name="Content Placeholder 2"/>
          <p:cNvSpPr>
            <a:spLocks noGrp="1"/>
          </p:cNvSpPr>
          <p:nvPr>
            <p:ph idx="1"/>
          </p:nvPr>
        </p:nvSpPr>
        <p:spPr/>
        <p:txBody>
          <a:bodyPr/>
          <a:lstStyle/>
          <a:p>
            <a:pPr marL="0" lvl="0" indent="0">
              <a:buNone/>
            </a:pPr>
            <a:r>
              <a:rPr b="1"/>
              <a:t>Results:</a:t>
            </a:r>
            <a:r>
              <a:t> The life expectancy free of diabetes, cardiovascular diseases, and cancer at age 50 was 23.7 years (95% confidence interval 22.6 to 24.7) for women who adopted no low risk lifestyle factors, in contrast to 34.4 years (33.1 to 35.5) for women who adopted four or five low risk factors.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 abstract (4/4)</a:t>
            </a:r>
          </a:p>
        </p:txBody>
      </p:sp>
      <p:sp>
        <p:nvSpPr>
          <p:cNvPr id="3" name="Content Placeholder 2"/>
          <p:cNvSpPr>
            <a:spLocks noGrp="1"/>
          </p:cNvSpPr>
          <p:nvPr>
            <p:ph idx="1"/>
          </p:nvPr>
        </p:nvSpPr>
        <p:spPr/>
        <p:txBody>
          <a:bodyPr/>
          <a:lstStyle/>
          <a:p>
            <a:pPr marL="0" lvl="0" indent="0">
              <a:buNone/>
            </a:pPr>
            <a:r>
              <a:t>At age 50, the life expectancy free of any of these chronic diseases was 23.5 (22.3 to 24.7) years among men who adopted no low risk lifestyle factors and 31.1 (29.5 to 32.5) years in men who adopted four or five low risk lifestyle factors. For current male smokers who smoked heavily (≥15 cigarettes/day) or obese men and women (body mass index ≥30), their disease-free life expectancies accounted for the lowest proportion (≤75%) of total life expectancy at age 50.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 conclusion</a:t>
            </a:r>
          </a:p>
        </p:txBody>
      </p:sp>
      <p:sp>
        <p:nvSpPr>
          <p:cNvPr id="3" name="Content Placeholder 2"/>
          <p:cNvSpPr>
            <a:spLocks noGrp="1"/>
          </p:cNvSpPr>
          <p:nvPr>
            <p:ph idx="1"/>
          </p:nvPr>
        </p:nvSpPr>
        <p:spPr/>
        <p:txBody>
          <a:bodyPr/>
          <a:lstStyle/>
          <a:p>
            <a:pPr marL="0" lvl="0" indent="0">
              <a:buNone/>
            </a:pPr>
            <a:r>
              <a:rPr b="1"/>
              <a:t>Conclusion:</a:t>
            </a:r>
            <a:r>
              <a:t> Adherence to a healthy lifestyle at mid-life is associated with a longer life expectancy free of major chronic diseases.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 Table 1</a:t>
            </a:r>
          </a:p>
        </p:txBody>
      </p:sp>
      <p:pic>
        <p:nvPicPr>
          <p:cNvPr id="3" name="Picture 1" descr="images/s2_04_image7.png"/>
          <p:cNvPicPr>
            <a:picLocks noGrp="1" noChangeAspect="1"/>
          </p:cNvPicPr>
          <p:nvPr/>
        </p:nvPicPr>
        <p:blipFill>
          <a:blip r:embed="rId2"/>
          <a:stretch>
            <a:fillRect/>
          </a:stretch>
        </p:blipFill>
        <p:spPr bwMode="auto">
          <a:xfrm>
            <a:off x="1562100" y="1193800"/>
            <a:ext cx="6032500" cy="3390900"/>
          </a:xfrm>
          <a:prstGeom prst="rect">
            <a:avLst/>
          </a:prstGeom>
          <a:noFill/>
          <a:ln w="9525">
            <a:noFill/>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Graphs and Data Description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Qualitative variables (n, %)</a:t>
            </a:r>
          </a:p>
        </p:txBody>
      </p:sp>
      <p:sp>
        <p:nvSpPr>
          <p:cNvPr id="3" name="Content Placeholder 2"/>
          <p:cNvSpPr>
            <a:spLocks noGrp="1"/>
          </p:cNvSpPr>
          <p:nvPr>
            <p:ph idx="1"/>
          </p:nvPr>
        </p:nvSpPr>
        <p:spPr/>
        <p:txBody>
          <a:bodyPr/>
          <a:lstStyle/>
          <a:p>
            <a:pPr lvl="0"/>
            <a:r>
              <a:t>Absolute frequencies (n) and proportions (%)</a:t>
            </a:r>
          </a:p>
          <a:p>
            <a:pPr lvl="0"/>
            <a:r>
              <a:t>Sample (X</a:t>
            </a:r>
            <a:r>
              <a:rPr baseline="-25000"/>
              <a:t>1</a:t>
            </a:r>
            <a:r>
              <a:t>, X</a:t>
            </a:r>
            <a:r>
              <a:rPr baseline="-25000"/>
              <a:t>2</a:t>
            </a:r>
            <a:r>
              <a:t>, … X</a:t>
            </a:r>
            <a:r>
              <a:rPr baseline="-25000"/>
              <a:t>n</a:t>
            </a:r>
            <a:r>
              <a:t>); each category </a:t>
            </a:r>
            <a:r>
              <a:rPr i="1"/>
              <a:t>j</a:t>
            </a:r>
            <a:r>
              <a:t> (1, 2, … </a:t>
            </a:r>
            <a:r>
              <a:rPr i="1"/>
              <a:t>k</a:t>
            </a:r>
            <a:r>
              <a:t>)</a:t>
            </a:r>
          </a:p>
          <a:p>
            <a:pPr marL="0" lvl="0" indent="0">
              <a:buNone/>
            </a:pPr>
            <a14:m xmlns:a14="http://schemas.microsoft.com/office/drawing/2010/main">
              <m:oMathPara xmlns:m="http://schemas.openxmlformats.org/officeDocument/2006/math">
                <m:oMathParaPr>
                  <m:jc m:val="center"/>
                </m:oMathParaPr>
                <m:oMath>
                  <m:sSub>
                    <m:sSubPr>
                      <m:ctrlPr>
                        <a:rPr>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𝑗</m:t>
                      </m:r>
                    </m:sub>
                  </m:sSub>
                  <m:r>
                    <a:rPr>
                      <a:latin typeface="Cambria Math" panose="02040503050406030204" pitchFamily="18" charset="0"/>
                    </a:rPr>
                    <m:t>=</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𝑗</m:t>
                          </m:r>
                        </m:sub>
                      </m:sSub>
                      <m:r>
                        <a:rPr>
                          <a:latin typeface="Cambria Math" panose="02040503050406030204" pitchFamily="18" charset="0"/>
                        </a:rPr>
                        <m:t>×100%</m:t>
                      </m:r>
                    </m:num>
                    <m:den>
                      <m:r>
                        <a:rPr>
                          <a:latin typeface="Cambria Math" panose="02040503050406030204" pitchFamily="18" charset="0"/>
                        </a:rPr>
                        <m:t>𝑛</m:t>
                      </m:r>
                    </m:den>
                  </m:f>
                  <m:r>
                    <a:rPr>
                      <a:latin typeface="Cambria Math" panose="02040503050406030204" pitchFamily="18" charset="0"/>
                    </a:rPr>
                    <m:t>  (</m:t>
                  </m:r>
                  <m:r>
                    <a:rPr>
                      <a:latin typeface="Cambria Math" panose="02040503050406030204" pitchFamily="18" charset="0"/>
                    </a:rPr>
                    <m:t>𝑗</m:t>
                  </m:r>
                  <m:r>
                    <a:rPr>
                      <a:latin typeface="Cambria Math" panose="02040503050406030204" pitchFamily="18" charset="0"/>
                    </a:rPr>
                    <m:t>=1,…,</m:t>
                  </m:r>
                  <m:r>
                    <a:rPr>
                      <a:latin typeface="Cambria Math" panose="02040503050406030204" pitchFamily="18" charset="0"/>
                    </a:rPr>
                    <m:t>𝑘</m:t>
                  </m:r>
                  <m:r>
                    <a:rPr>
                      <a:latin typeface="Cambria Math" panose="02040503050406030204" pitchFamily="18" charset="0"/>
                    </a:rPr>
                    <m:t>)</m:t>
                  </m:r>
                </m:oMath>
              </m:oMathPara>
            </a14:m>
            <a:endParaRPr/>
          </a:p>
          <a:p>
            <a:pPr marL="0" lvl="0" indent="0">
              <a:buNone/>
            </a:pPr>
            <a:r>
              <a:t>For example: </a:t>
            </a:r>
            <a14:m xmlns:a14="http://schemas.microsoft.com/office/drawing/2010/main">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10×100%</m:t>
                    </m:r>
                  </m:num>
                  <m:den>
                    <m:r>
                      <a:rPr>
                        <a:latin typeface="Cambria Math" panose="02040503050406030204" pitchFamily="18" charset="0"/>
                      </a:rPr>
                      <m:t>50</m:t>
                    </m:r>
                  </m:den>
                </m:f>
                <m:r>
                  <a:rPr>
                    <a:latin typeface="Cambria Math" panose="02040503050406030204" pitchFamily="18" charset="0"/>
                  </a:rPr>
                  <m:t>=20%</m:t>
                </m:r>
              </m:oMath>
            </a14:m>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Qualitative variables — example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lvl="0" indent="0">
                        <a:buNone/>
                      </a:pPr>
                      <a:r>
                        <a:t>Pain level</a:t>
                      </a:r>
                    </a:p>
                  </a:txBody>
                  <a:tcPr/>
                </a:tc>
                <a:tc>
                  <a:txBody>
                    <a:bodyPr/>
                    <a:lstStyle/>
                    <a:p>
                      <a:pPr marL="0" lvl="0" indent="0" algn="r">
                        <a:buNone/>
                      </a:pPr>
                      <a:r>
                        <a:t>Frequency (n)</a:t>
                      </a:r>
                    </a:p>
                  </a:txBody>
                  <a:tcPr/>
                </a:tc>
                <a:tc>
                  <a:txBody>
                    <a:bodyPr/>
                    <a:lstStyle/>
                    <a:p>
                      <a:pPr marL="0" lvl="0" indent="0" algn="r">
                        <a:buNone/>
                      </a:pPr>
                      <a:r>
                        <a:t>%</a:t>
                      </a:r>
                    </a:p>
                  </a:txBody>
                  <a:tcPr/>
                </a:tc>
                <a:extLst>
                  <a:ext uri="{0D108BD9-81ED-4DB2-BD59-A6C34878D82A}">
                    <a16:rowId xmlns:a16="http://schemas.microsoft.com/office/drawing/2014/main" val="10000"/>
                  </a:ext>
                </a:extLst>
              </a:tr>
              <a:tr h="0">
                <a:tc>
                  <a:txBody>
                    <a:bodyPr/>
                    <a:lstStyle/>
                    <a:p>
                      <a:pPr marL="0" lvl="0" indent="0">
                        <a:buNone/>
                      </a:pPr>
                      <a:r>
                        <a:t>None</a:t>
                      </a:r>
                    </a:p>
                  </a:txBody>
                  <a:tcPr/>
                </a:tc>
                <a:tc>
                  <a:txBody>
                    <a:bodyPr/>
                    <a:lstStyle/>
                    <a:p>
                      <a:pPr marL="0" lvl="0" indent="0" algn="r">
                        <a:buNone/>
                      </a:pPr>
                      <a:r>
                        <a:t>10</a:t>
                      </a:r>
                    </a:p>
                  </a:txBody>
                  <a:tcPr/>
                </a:tc>
                <a:tc>
                  <a:txBody>
                    <a:bodyPr/>
                    <a:lstStyle/>
                    <a:p>
                      <a:pPr marL="0" lvl="0" indent="0" algn="r">
                        <a:buNone/>
                      </a:pPr>
                      <a:r>
                        <a:t>20</a:t>
                      </a:r>
                    </a:p>
                  </a:txBody>
                  <a:tcPr/>
                </a:tc>
                <a:extLst>
                  <a:ext uri="{0D108BD9-81ED-4DB2-BD59-A6C34878D82A}">
                    <a16:rowId xmlns:a16="http://schemas.microsoft.com/office/drawing/2014/main" val="10001"/>
                  </a:ext>
                </a:extLst>
              </a:tr>
              <a:tr h="0">
                <a:tc>
                  <a:txBody>
                    <a:bodyPr/>
                    <a:lstStyle/>
                    <a:p>
                      <a:pPr marL="0" lvl="0" indent="0">
                        <a:buNone/>
                      </a:pPr>
                      <a:r>
                        <a:t>Mild</a:t>
                      </a:r>
                    </a:p>
                  </a:txBody>
                  <a:tcPr/>
                </a:tc>
                <a:tc>
                  <a:txBody>
                    <a:bodyPr/>
                    <a:lstStyle/>
                    <a:p>
                      <a:pPr marL="0" lvl="0" indent="0" algn="r">
                        <a:buNone/>
                      </a:pPr>
                      <a:r>
                        <a:t>15</a:t>
                      </a:r>
                    </a:p>
                  </a:txBody>
                  <a:tcPr/>
                </a:tc>
                <a:tc>
                  <a:txBody>
                    <a:bodyPr/>
                    <a:lstStyle/>
                    <a:p>
                      <a:pPr marL="0" lvl="0" indent="0" algn="r">
                        <a:buNone/>
                      </a:pPr>
                      <a:r>
                        <a:t>30</a:t>
                      </a:r>
                    </a:p>
                  </a:txBody>
                  <a:tcPr/>
                </a:tc>
                <a:extLst>
                  <a:ext uri="{0D108BD9-81ED-4DB2-BD59-A6C34878D82A}">
                    <a16:rowId xmlns:a16="http://schemas.microsoft.com/office/drawing/2014/main" val="10002"/>
                  </a:ext>
                </a:extLst>
              </a:tr>
              <a:tr h="0">
                <a:tc>
                  <a:txBody>
                    <a:bodyPr/>
                    <a:lstStyle/>
                    <a:p>
                      <a:pPr marL="0" lvl="0" indent="0">
                        <a:buNone/>
                      </a:pPr>
                      <a:r>
                        <a:t>Moderate</a:t>
                      </a:r>
                    </a:p>
                  </a:txBody>
                  <a:tcPr/>
                </a:tc>
                <a:tc>
                  <a:txBody>
                    <a:bodyPr/>
                    <a:lstStyle/>
                    <a:p>
                      <a:pPr marL="0" lvl="0" indent="0" algn="r">
                        <a:buNone/>
                      </a:pPr>
                      <a:r>
                        <a:t>15</a:t>
                      </a:r>
                    </a:p>
                  </a:txBody>
                  <a:tcPr/>
                </a:tc>
                <a:tc>
                  <a:txBody>
                    <a:bodyPr/>
                    <a:lstStyle/>
                    <a:p>
                      <a:pPr marL="0" lvl="0" indent="0" algn="r">
                        <a:buNone/>
                      </a:pPr>
                      <a:r>
                        <a:t>30</a:t>
                      </a:r>
                    </a:p>
                  </a:txBody>
                  <a:tcPr/>
                </a:tc>
                <a:extLst>
                  <a:ext uri="{0D108BD9-81ED-4DB2-BD59-A6C34878D82A}">
                    <a16:rowId xmlns:a16="http://schemas.microsoft.com/office/drawing/2014/main" val="10003"/>
                  </a:ext>
                </a:extLst>
              </a:tr>
              <a:tr h="0">
                <a:tc>
                  <a:txBody>
                    <a:bodyPr/>
                    <a:lstStyle/>
                    <a:p>
                      <a:pPr marL="0" lvl="0" indent="0">
                        <a:buNone/>
                      </a:pPr>
                      <a:r>
                        <a:t>Severe</a:t>
                      </a:r>
                    </a:p>
                  </a:txBody>
                  <a:tcPr/>
                </a:tc>
                <a:tc>
                  <a:txBody>
                    <a:bodyPr/>
                    <a:lstStyle/>
                    <a:p>
                      <a:pPr marL="0" lvl="0" indent="0" algn="r">
                        <a:buNone/>
                      </a:pPr>
                      <a:r>
                        <a:t>10</a:t>
                      </a:r>
                    </a:p>
                  </a:txBody>
                  <a:tcPr/>
                </a:tc>
                <a:tc>
                  <a:txBody>
                    <a:bodyPr/>
                    <a:lstStyle/>
                    <a:p>
                      <a:pPr marL="0" lvl="0" indent="0" algn="r">
                        <a:buNone/>
                      </a:pPr>
                      <a:r>
                        <a:t>20</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Quantitative variables</a:t>
            </a:r>
          </a:p>
        </p:txBody>
      </p:sp>
      <p:pic>
        <p:nvPicPr>
          <p:cNvPr id="3" name="Picture 1" descr="images/s2_05_slide04_quantitative.png"/>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Centralization and dispersion</a:t>
            </a:r>
          </a:p>
        </p:txBody>
      </p:sp>
      <p:pic>
        <p:nvPicPr>
          <p:cNvPr id="3" name="Picture 1" descr="images/s2_05_slide05_centralization.png"/>
          <p:cNvPicPr>
            <a:picLocks noGrp="1" noChangeAspect="1"/>
          </p:cNvPicPr>
          <p:nvPr/>
        </p:nvPicPr>
        <p:blipFill>
          <a:blip r:embed="rId2"/>
          <a:stretch>
            <a:fillRect/>
          </a:stretch>
        </p:blipFill>
        <p:spPr bwMode="auto">
          <a:xfrm>
            <a:off x="2171700" y="1193800"/>
            <a:ext cx="4813300" cy="3390900"/>
          </a:xfrm>
          <a:prstGeom prst="rect">
            <a:avLst/>
          </a:prstGeom>
          <a:noFill/>
          <a:ln w="9525">
            <a:noFill/>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Mean (</a:t>
            </a:r>
            <a14:m xmlns:a14="http://schemas.microsoft.com/office/drawing/2010/main">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𝑥</m:t>
                    </m:r>
                  </m:e>
                </m:acc>
              </m:oMath>
            </a14:m>
            <a:r>
              <a:t>)</a:t>
            </a:r>
          </a:p>
        </p:txBody>
      </p:sp>
      <p:sp>
        <p:nvSpPr>
          <p:cNvPr id="3" name="Content Placeholder 2"/>
          <p:cNvSpPr>
            <a:spLocks noGrp="1"/>
          </p:cNvSpPr>
          <p:nvPr>
            <p:ph idx="1"/>
          </p:nvPr>
        </p:nvSpPr>
        <p:spPr/>
        <p:txBody>
          <a:bodyPr/>
          <a:lstStyle/>
          <a:p>
            <a:pPr marL="0" lvl="0" indent="0">
              <a:buNone/>
            </a:pPr>
            <a:r>
              <a:t>Arithmetic mean or average of a sample (X</a:t>
            </a:r>
            <a:r>
              <a:rPr baseline="-25000"/>
              <a:t>1</a:t>
            </a:r>
            <a:r>
              <a:t>, X</a:t>
            </a:r>
            <a:r>
              <a:rPr baseline="-25000"/>
              <a:t>2</a:t>
            </a:r>
            <a:r>
              <a:t>, … X</a:t>
            </a:r>
            <a:r>
              <a:rPr baseline="-25000"/>
              <a:t>n</a:t>
            </a:r>
            <a:r>
              <a:t>)</a:t>
            </a:r>
          </a:p>
          <a:p>
            <a:pPr marL="0" lvl="0" indent="0">
              <a:buNone/>
            </a:pPr>
            <a14:m xmlns:a14="http://schemas.microsoft.com/office/drawing/2010/main">
              <m:oMathPara xmlns:m="http://schemas.openxmlformats.org/officeDocument/2006/math">
                <m:oMathParaPr>
                  <m:jc m:val="center"/>
                </m:oMathParaPr>
                <m:oMath>
                  <m:acc>
                    <m:accPr>
                      <m:chr m:val="‾"/>
                      <m:ctrlPr>
                        <a:rPr>
                          <a:latin typeface="Cambria Math" panose="02040503050406030204" pitchFamily="18" charset="0"/>
                        </a:rPr>
                      </m:ctrlPr>
                    </m:accPr>
                    <m:e>
                      <m:r>
                        <a:rPr>
                          <a:latin typeface="Cambria Math" panose="02040503050406030204" pitchFamily="18" charset="0"/>
                        </a:rPr>
                        <m:t>𝑥</m:t>
                      </m:r>
                    </m:e>
                  </m:acc>
                  <m:r>
                    <a:rPr>
                      <a:latin typeface="Cambria Math" panose="02040503050406030204" pitchFamily="18" charset="0"/>
                    </a:rPr>
                    <m:t>=</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𝑛</m:t>
                          </m:r>
                        </m:sub>
                      </m:sSub>
                    </m:num>
                    <m:den>
                      <m:r>
                        <a:rPr>
                          <a:latin typeface="Cambria Math" panose="02040503050406030204" pitchFamily="18" charset="0"/>
                        </a:rPr>
                        <m:t>𝑛</m:t>
                      </m:r>
                    </m:den>
                  </m:f>
                  <m:r>
                    <a:rPr>
                      <a:latin typeface="Cambria Math" panose="02040503050406030204" pitchFamily="18" charset="0"/>
                    </a:rPr>
                    <m:t>=</m:t>
                  </m:r>
                  <m:f>
                    <m:fPr>
                      <m:ctrlPr>
                        <a:rPr i="1">
                          <a:latin typeface="Cambria Math" panose="02040503050406030204" pitchFamily="18" charset="0"/>
                        </a:rPr>
                      </m:ctrlPr>
                    </m:fPr>
                    <m:num>
                      <m:nary>
                        <m:naryPr>
                          <m:chr m:val="∑"/>
                          <m:limLoc m:val="undOvr"/>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𝑛</m:t>
                          </m:r>
                        </m:sup>
                        <m:e>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e>
                      </m:nary>
                    </m:num>
                    <m:den>
                      <m:r>
                        <a:rPr>
                          <a:latin typeface="Cambria Math" panose="02040503050406030204" pitchFamily="18" charset="0"/>
                        </a:rPr>
                        <m:t>𝑛</m:t>
                      </m:r>
                    </m:den>
                  </m:f>
                </m:oMath>
              </m:oMathPara>
            </a14:m>
            <a:endParaRPr/>
          </a:p>
          <a:p>
            <a:pPr lvl="0"/>
            <a:r>
              <a:t>Centralization statistic</a:t>
            </a:r>
          </a:p>
          <a:p>
            <a:pPr lvl="0"/>
            <a:r>
              <a:t>Sensitive to extreme values of data</a:t>
            </a:r>
          </a:p>
          <a:p>
            <a:pPr lvl="0"/>
            <a:r>
              <a:t>Gravity center of the data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Standard deviation (SD)</a:t>
            </a:r>
          </a:p>
        </p:txBody>
      </p:sp>
      <p:sp>
        <p:nvSpPr>
          <p:cNvPr id="3" name="Content Placeholder 2"/>
          <p:cNvSpPr>
            <a:spLocks noGrp="1"/>
          </p:cNvSpPr>
          <p:nvPr>
            <p:ph idx="1"/>
          </p:nvPr>
        </p:nvSpPr>
        <p:spPr/>
        <p:txBody>
          <a:bodyPr/>
          <a:lstStyle/>
          <a:p>
            <a:pPr marL="0" lvl="0" indent="0">
              <a:buNone/>
            </a:pPr>
            <a:r>
              <a:t>Let us consider a sample (X</a:t>
            </a:r>
            <a:r>
              <a:rPr baseline="-25000"/>
              <a:t>1</a:t>
            </a:r>
            <a:r>
              <a:t>, X</a:t>
            </a:r>
            <a:r>
              <a:rPr baseline="-25000"/>
              <a:t>2</a:t>
            </a:r>
            <a:r>
              <a:t>, … X</a:t>
            </a:r>
            <a:r>
              <a:rPr baseline="-25000"/>
              <a:t>n</a:t>
            </a:r>
            <a:r>
              <a:t>) with mean </a:t>
            </a:r>
            <a14:m xmlns:a14="http://schemas.microsoft.com/office/drawing/2010/main">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𝑥</m:t>
                    </m:r>
                  </m:e>
                </m:acc>
              </m:oMath>
            </a14:m>
            <a:endParaRPr/>
          </a:p>
          <a:p>
            <a:pPr marL="0" lvl="0" indent="0">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𝑆𝐷</m:t>
                  </m:r>
                  <m:r>
                    <a:rPr>
                      <a:latin typeface="Cambria Math" panose="02040503050406030204" pitchFamily="18" charset="0"/>
                    </a:rPr>
                    <m:t>=</m:t>
                  </m:r>
                  <m:rad>
                    <m:radPr>
                      <m:degHide m:val="on"/>
                      <m:ctrlPr>
                        <a:rPr i="1">
                          <a:latin typeface="Cambria Math" panose="02040503050406030204" pitchFamily="18" charset="0"/>
                        </a:rPr>
                      </m:ctrlPr>
                    </m:radPr>
                    <m:deg/>
                    <m:e>
                      <m:f>
                        <m:fPr>
                          <m:ctrlPr>
                            <a:rPr>
                              <a:latin typeface="Cambria Math" panose="02040503050406030204" pitchFamily="18" charset="0"/>
                            </a:rPr>
                          </m:ctrlPr>
                        </m:fPr>
                        <m:num>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m:t>
                          </m:r>
                          <m:acc>
                            <m:accPr>
                              <m:chr m:val="‾"/>
                              <m:ctrlPr>
                                <a:rPr>
                                  <a:latin typeface="Cambria Math" panose="02040503050406030204" pitchFamily="18" charset="0"/>
                                </a:rPr>
                              </m:ctrlPr>
                            </m:accPr>
                            <m:e>
                              <m:r>
                                <a:rPr>
                                  <a:latin typeface="Cambria Math" panose="02040503050406030204" pitchFamily="18" charset="0"/>
                                </a:rPr>
                                <m:t>𝑥</m:t>
                              </m:r>
                            </m:e>
                          </m:acc>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𝑛</m:t>
                              </m:r>
                            </m:sub>
                          </m:sSub>
                          <m:r>
                            <a:rPr>
                              <a:latin typeface="Cambria Math" panose="02040503050406030204" pitchFamily="18" charset="0"/>
                            </a:rPr>
                            <m:t>−</m:t>
                          </m:r>
                          <m:acc>
                            <m:accPr>
                              <m:chr m:val="‾"/>
                              <m:ctrlPr>
                                <a:rPr>
                                  <a:latin typeface="Cambria Math" panose="02040503050406030204" pitchFamily="18" charset="0"/>
                                </a:rPr>
                              </m:ctrlPr>
                            </m:accPr>
                            <m:e>
                              <m:r>
                                <a:rPr>
                                  <a:latin typeface="Cambria Math" panose="02040503050406030204" pitchFamily="18" charset="0"/>
                                </a:rPr>
                                <m:t>𝑥</m:t>
                              </m:r>
                            </m:e>
                          </m:acc>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num>
                        <m:den>
                          <m:r>
                            <a:rPr>
                              <a:latin typeface="Cambria Math" panose="02040503050406030204" pitchFamily="18" charset="0"/>
                            </a:rPr>
                            <m:t>𝑛</m:t>
                          </m:r>
                          <m:r>
                            <a:rPr>
                              <a:latin typeface="Cambria Math" panose="02040503050406030204" pitchFamily="18" charset="0"/>
                            </a:rPr>
                            <m:t>−1</m:t>
                          </m:r>
                        </m:den>
                      </m:f>
                    </m:e>
                  </m:rad>
                  <m:r>
                    <a:rPr>
                      <a:latin typeface="Cambria Math" panose="02040503050406030204" pitchFamily="18" charset="0"/>
                    </a:rPr>
                    <m:t>=</m:t>
                  </m:r>
                  <m:rad>
                    <m:radPr>
                      <m:degHide m:val="on"/>
                      <m:ctrlPr>
                        <a:rPr i="1">
                          <a:latin typeface="Cambria Math" panose="02040503050406030204" pitchFamily="18" charset="0"/>
                        </a:rPr>
                      </m:ctrlPr>
                    </m:radPr>
                    <m:deg/>
                    <m:e>
                      <m:f>
                        <m:fPr>
                          <m:ctrlPr>
                            <a:rPr>
                              <a:latin typeface="Cambria Math" panose="02040503050406030204" pitchFamily="18" charset="0"/>
                            </a:rPr>
                          </m:ctrlPr>
                        </m:fPr>
                        <m:num>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acc>
                            <m:accPr>
                              <m:chr m:val="‾"/>
                              <m:ctrlPr>
                                <a:rPr>
                                  <a:latin typeface="Cambria Math" panose="02040503050406030204" pitchFamily="18" charset="0"/>
                                </a:rPr>
                              </m:ctrlPr>
                            </m:accPr>
                            <m:e>
                              <m:r>
                                <a:rPr>
                                  <a:latin typeface="Cambria Math" panose="02040503050406030204" pitchFamily="18" charset="0"/>
                                </a:rPr>
                                <m:t>𝑥</m:t>
                              </m:r>
                            </m:e>
                          </m:acc>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num>
                        <m:den>
                          <m:r>
                            <a:rPr>
                              <a:latin typeface="Cambria Math" panose="02040503050406030204" pitchFamily="18" charset="0"/>
                            </a:rPr>
                            <m:t>𝑛</m:t>
                          </m:r>
                          <m:r>
                            <a:rPr>
                              <a:latin typeface="Cambria Math" panose="02040503050406030204" pitchFamily="18" charset="0"/>
                            </a:rPr>
                            <m:t>−1</m:t>
                          </m:r>
                        </m:den>
                      </m:f>
                    </m:e>
                  </m:rad>
                  <m:r>
                    <a:rPr>
                      <a:latin typeface="Cambria Math" panose="02040503050406030204" pitchFamily="18" charset="0"/>
                    </a:rPr>
                    <m:t>=</m:t>
                  </m:r>
                  <m:r>
                    <a:rPr>
                      <a:latin typeface="Cambria Math" panose="02040503050406030204" pitchFamily="18" charset="0"/>
                    </a:rPr>
                    <m:t>𝑠</m:t>
                  </m:r>
                </m:oMath>
              </m:oMathPara>
            </a14:m>
            <a:endParaRPr/>
          </a:p>
          <a:p>
            <a:pPr lvl="0"/>
            <a:r>
              <a:t>Measure of variability: </a:t>
            </a:r>
            <a:r>
              <a:rPr i="1"/>
              <a:t>s</a:t>
            </a:r>
            <a:r>
              <a:t> ≥ 0; sensitive to extreme values</a:t>
            </a:r>
          </a:p>
          <a:p>
            <a:pPr lvl="0"/>
            <a:r>
              <a:t>Numerator: sum of squares </a:t>
            </a:r>
            <a14:m xmlns:a14="http://schemas.microsoft.com/office/drawing/2010/main">
              <m:oMath xmlns:m="http://schemas.openxmlformats.org/officeDocument/2006/math">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acc>
                  <m:accPr>
                    <m:chr m:val="‾"/>
                    <m:ctrlPr>
                      <a:rPr>
                        <a:latin typeface="Cambria Math" panose="02040503050406030204" pitchFamily="18" charset="0"/>
                      </a:rPr>
                    </m:ctrlPr>
                  </m:accPr>
                  <m:e>
                    <m:r>
                      <a:rPr>
                        <a:latin typeface="Cambria Math" panose="02040503050406030204" pitchFamily="18" charset="0"/>
                      </a:rPr>
                      <m:t>𝑥</m:t>
                    </m:r>
                  </m:e>
                </m:acc>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oMath>
            </a14:m>
            <a:r>
              <a:t>; </a:t>
            </a:r>
            <a:r>
              <a:rPr i="1"/>
              <a:t>s</a:t>
            </a:r>
            <a:r>
              <a:rPr baseline="30000"/>
              <a:t>2</a:t>
            </a:r>
            <a:r>
              <a:t>: variance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Mean and SD — example</a:t>
            </a:r>
          </a:p>
        </p:txBody>
      </p:sp>
      <p:pic>
        <p:nvPicPr>
          <p:cNvPr id="3" name="Picture 1" descr="images/s2_05_image10.png"/>
          <p:cNvPicPr>
            <a:picLocks noGrp="1" noChangeAspect="1"/>
          </p:cNvPicPr>
          <p:nvPr/>
        </p:nvPicPr>
        <p:blipFill>
          <a:blip r:embed="rId2"/>
          <a:stretch>
            <a:fillRect/>
          </a:stretch>
        </p:blipFill>
        <p:spPr bwMode="auto">
          <a:xfrm>
            <a:off x="2222500" y="1193800"/>
            <a:ext cx="4711700" cy="3390900"/>
          </a:xfrm>
          <a:prstGeom prst="rect">
            <a:avLst/>
          </a:prstGeom>
          <a:noFill/>
          <a:ln w="9525">
            <a:noFill/>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Normal distribution</a:t>
            </a:r>
          </a:p>
        </p:txBody>
      </p:sp>
      <p:pic>
        <p:nvPicPr>
          <p:cNvPr id="3" name="Picture 1" descr="images/s2_05_slide09_normal.png"/>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Normal distribution — standard normal</a:t>
            </a:r>
          </a:p>
        </p:txBody>
      </p:sp>
      <p:pic>
        <p:nvPicPr>
          <p:cNvPr id="3" name="Picture 1" descr="images/s2_05_image13.png"/>
          <p:cNvPicPr>
            <a:picLocks noGrp="1" noChangeAspect="1"/>
          </p:cNvPicPr>
          <p:nvPr/>
        </p:nvPicPr>
        <p:blipFill>
          <a:blip r:embed="rId2"/>
          <a:stretch>
            <a:fillRect/>
          </a:stretch>
        </p:blipFill>
        <p:spPr bwMode="auto">
          <a:xfrm>
            <a:off x="2159000" y="1193800"/>
            <a:ext cx="4838700" cy="3390900"/>
          </a:xfrm>
          <a:prstGeom prst="rect">
            <a:avLst/>
          </a:prstGeom>
          <a:noFill/>
          <a:ln w="9525">
            <a:noFill/>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Normal distribution — different means and variances</a:t>
            </a:r>
          </a:p>
        </p:txBody>
      </p:sp>
      <p:pic>
        <p:nvPicPr>
          <p:cNvPr id="3" name="Picture 1" descr="images/s2_05_image14.png"/>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Normal distribution — heart rate example</a:t>
            </a:r>
          </a:p>
        </p:txBody>
      </p:sp>
      <p:pic>
        <p:nvPicPr>
          <p:cNvPr id="3" name="Picture 1" descr="images/s2_05_image15.png"/>
          <p:cNvPicPr>
            <a:picLocks noGrp="1" noChangeAspect="1"/>
          </p:cNvPicPr>
          <p:nvPr/>
        </p:nvPicPr>
        <p:blipFill>
          <a:blip r:embed="rId2"/>
          <a:stretch>
            <a:fillRect/>
          </a:stretch>
        </p:blipFill>
        <p:spPr bwMode="auto">
          <a:xfrm>
            <a:off x="1778000" y="1193800"/>
            <a:ext cx="5588000" cy="3390900"/>
          </a:xfrm>
          <a:prstGeom prst="rect">
            <a:avLst/>
          </a:prstGeom>
          <a:noFill/>
          <a:ln w="9525">
            <a:noFill/>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SD and normal distribution</a:t>
            </a:r>
          </a:p>
        </p:txBody>
      </p:sp>
      <p:sp>
        <p:nvSpPr>
          <p:cNvPr id="3" name="Content Placeholder 2"/>
          <p:cNvSpPr>
            <a:spLocks noGrp="1"/>
          </p:cNvSpPr>
          <p:nvPr>
            <p:ph idx="1"/>
          </p:nvPr>
        </p:nvSpPr>
        <p:spPr/>
        <p:txBody>
          <a:bodyPr/>
          <a:lstStyle/>
          <a:p>
            <a:pPr lvl="0"/>
            <a:r>
              <a:t>Mean ± 1 SD contains 68% of the data</a:t>
            </a:r>
          </a:p>
          <a:p>
            <a:pPr lvl="0"/>
            <a:r>
              <a:t>Mean ± 2 SD contains 95% of the data</a:t>
            </a:r>
          </a:p>
          <a:p>
            <a:pPr lvl="0"/>
            <a:r>
              <a:t>Mean ± 3 SD contains 99.7% of the data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SD and normal distribution — μ ± σ</a:t>
            </a:r>
          </a:p>
        </p:txBody>
      </p:sp>
      <p:pic>
        <p:nvPicPr>
          <p:cNvPr id="3" name="Picture 1" descr="images/s2_05_image16.png"/>
          <p:cNvPicPr>
            <a:picLocks noGrp="1" noChangeAspect="1"/>
          </p:cNvPicPr>
          <p:nvPr/>
        </p:nvPicPr>
        <p:blipFill>
          <a:blip r:embed="rId2"/>
          <a:stretch>
            <a:fillRect/>
          </a:stretch>
        </p:blipFill>
        <p:spPr bwMode="auto">
          <a:xfrm>
            <a:off x="1574800" y="1193800"/>
            <a:ext cx="6007100" cy="3390900"/>
          </a:xfrm>
          <a:prstGeom prst="rect">
            <a:avLst/>
          </a:prstGeom>
          <a:noFill/>
          <a:ln w="9525">
            <a:noFill/>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Reporting mean ± SD</a:t>
            </a:r>
          </a:p>
        </p:txBody>
      </p:sp>
      <p:pic>
        <p:nvPicPr>
          <p:cNvPr id="3" name="Picture 1" descr="images/s2_05_image17.png"/>
          <p:cNvPicPr>
            <a:picLocks noGrp="1" noChangeAspect="1"/>
          </p:cNvPicPr>
          <p:nvPr/>
        </p:nvPicPr>
        <p:blipFill>
          <a:blip r:embed="rId2"/>
          <a:stretch>
            <a:fillRect/>
          </a:stretch>
        </p:blipFill>
        <p:spPr bwMode="auto">
          <a:xfrm>
            <a:off x="1257300" y="1193800"/>
            <a:ext cx="6616700" cy="3390900"/>
          </a:xfrm>
          <a:prstGeom prst="rect">
            <a:avLst/>
          </a:prstGeom>
          <a:noFill/>
          <a:ln w="9525">
            <a:noFill/>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Mean in a skewed distribution</a:t>
            </a:r>
          </a:p>
        </p:txBody>
      </p:sp>
      <p:pic>
        <p:nvPicPr>
          <p:cNvPr id="3" name="Picture 1" descr="images/s2_05_slide15_hist-mean.png"/>
          <p:cNvPicPr>
            <a:picLocks noGrp="1" noChangeAspect="1"/>
          </p:cNvPicPr>
          <p:nvPr/>
        </p:nvPicPr>
        <p:blipFill>
          <a:blip r:embed="rId2"/>
          <a:stretch>
            <a:fillRect/>
          </a:stretch>
        </p:blipFill>
        <p:spPr bwMode="auto">
          <a:xfrm>
            <a:off x="2171700" y="1193800"/>
            <a:ext cx="4813300" cy="3390900"/>
          </a:xfrm>
          <a:prstGeom prst="rect">
            <a:avLst/>
          </a:prstGeom>
          <a:noFill/>
          <a:ln w="9525">
            <a:noFill/>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Median and quartiles</a:t>
            </a:r>
          </a:p>
        </p:txBody>
      </p:sp>
      <p:sp>
        <p:nvSpPr>
          <p:cNvPr id="3" name="Content Placeholder 2"/>
          <p:cNvSpPr>
            <a:spLocks noGrp="1"/>
          </p:cNvSpPr>
          <p:nvPr>
            <p:ph idx="1"/>
          </p:nvPr>
        </p:nvSpPr>
        <p:spPr/>
        <p:txBody>
          <a:bodyPr/>
          <a:lstStyle/>
          <a:p>
            <a:pPr lvl="0"/>
            <a:r>
              <a:t>Asymmetric distribution; non-parametric distribution</a:t>
            </a:r>
          </a:p>
          <a:p>
            <a:pPr lvl="0"/>
            <a:r>
              <a:t>Median: centralization</a:t>
            </a:r>
          </a:p>
          <a:p>
            <a:pPr lvl="0"/>
            <a:r>
              <a:t>Quartiles: variability; interquartile range (IQR): variability</a:t>
            </a:r>
          </a:p>
          <a:p>
            <a:pPr lvl="0"/>
            <a:r>
              <a:t>10th percentile, P</a:t>
            </a:r>
            <a:r>
              <a:rPr baseline="-25000"/>
              <a:t>10</a:t>
            </a:r>
            <a:r>
              <a:t>: 10% of the data lie below this boundary and 90% above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Quartiles and the boxplot</a:t>
            </a:r>
          </a:p>
        </p:txBody>
      </p:sp>
      <p:pic>
        <p:nvPicPr>
          <p:cNvPr id="3" name="Picture 1" descr="images/s2_05_image19.png"/>
          <p:cNvPicPr>
            <a:picLocks noGrp="1" noChangeAspect="1"/>
          </p:cNvPicPr>
          <p:nvPr/>
        </p:nvPicPr>
        <p:blipFill>
          <a:blip r:embed="rId2"/>
          <a:stretch>
            <a:fillRect/>
          </a:stretch>
        </p:blipFill>
        <p:spPr bwMode="auto">
          <a:xfrm>
            <a:off x="1231900" y="1193800"/>
            <a:ext cx="6680200" cy="3390900"/>
          </a:xfrm>
          <a:prstGeom prst="rect">
            <a:avLst/>
          </a:prstGeom>
          <a:noFill/>
          <a:ln w="9525">
            <a:noFill/>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Median</a:t>
            </a:r>
          </a:p>
        </p:txBody>
      </p:sp>
      <p:sp>
        <p:nvSpPr>
          <p:cNvPr id="3" name="Content Placeholder 2"/>
          <p:cNvSpPr>
            <a:spLocks noGrp="1"/>
          </p:cNvSpPr>
          <p:nvPr>
            <p:ph idx="1"/>
          </p:nvPr>
        </p:nvSpPr>
        <p:spPr/>
        <p:txBody>
          <a:bodyPr/>
          <a:lstStyle/>
          <a:p>
            <a:pPr marL="0" lvl="0" indent="0">
              <a:buNone/>
            </a:pPr>
            <a:r>
              <a:t>Sample (X</a:t>
            </a:r>
            <a:r>
              <a:rPr baseline="-25000"/>
              <a:t>1</a:t>
            </a:r>
            <a:r>
              <a:t>, X</a:t>
            </a:r>
            <a:r>
              <a:rPr baseline="-25000"/>
              <a:t>2</a:t>
            </a:r>
            <a:r>
              <a:t>, … X</a:t>
            </a:r>
            <a:r>
              <a:rPr baseline="-25000"/>
              <a:t>n</a:t>
            </a:r>
            <a:r>
              <a:t>): reorder the data from lowest to highest</a:t>
            </a:r>
          </a:p>
          <a:p>
            <a:pPr marL="0" lvl="0" indent="0">
              <a:buNone/>
            </a:pPr>
            <a14:m xmlns:a14="http://schemas.microsoft.com/office/drawing/2010/main">
              <m:oMathPara xmlns:m="http://schemas.openxmlformats.org/officeDocument/2006/math">
                <m:oMathParaPr>
                  <m:jc m:val="center"/>
                </m:oMathParaPr>
                <m:oMath>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m:t>
                      </m:r>
                      <m:r>
                        <a:rPr>
                          <a:latin typeface="Cambria Math" panose="02040503050406030204" pitchFamily="18" charset="0"/>
                        </a:rPr>
                        <m:t>𝑛</m:t>
                      </m:r>
                      <m:r>
                        <a:rPr>
                          <a:latin typeface="Cambria Math" panose="02040503050406030204" pitchFamily="18" charset="0"/>
                        </a:rPr>
                        <m:t>)</m:t>
                      </m:r>
                    </m:sub>
                  </m:sSub>
                </m:oMath>
              </m:oMathPara>
            </a14:m>
            <a:endParaRPr/>
          </a:p>
          <a:p>
            <a:pPr marL="0" lvl="0" indent="0">
              <a:buNone/>
            </a:pPr>
            <a:r>
              <a:t>X</a:t>
            </a:r>
            <a:r>
              <a:rPr baseline="-25000"/>
              <a:t>(1)</a:t>
            </a:r>
            <a:r>
              <a:t>: minimum; X</a:t>
            </a:r>
            <a:r>
              <a:rPr baseline="-25000"/>
              <a:t>(n)</a:t>
            </a:r>
            <a:r>
              <a:t>: maximum — between them, the “range”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Median — calculation</a:t>
            </a:r>
          </a:p>
        </p:txBody>
      </p:sp>
      <p:sp>
        <p:nvSpPr>
          <p:cNvPr id="3" name="Content Placeholder 2"/>
          <p:cNvSpPr>
            <a:spLocks noGrp="1"/>
          </p:cNvSpPr>
          <p:nvPr>
            <p:ph idx="1"/>
          </p:nvPr>
        </p:nvSpPr>
        <p:spPr/>
        <p:txBody>
          <a:bodyPr/>
          <a:lstStyle/>
          <a:p>
            <a:pPr marL="0" lvl="0" indent="0">
              <a:buNone/>
            </a:pPr>
            <a14:m xmlns:a14="http://schemas.microsoft.com/office/drawing/2010/main">
              <m:oMath xmlns:m="http://schemas.openxmlformats.org/officeDocument/2006/math">
                <m:r>
                  <a:rPr>
                    <a:latin typeface="Cambria Math" panose="02040503050406030204" pitchFamily="18" charset="0"/>
                  </a:rPr>
                  <m:t>𝑛</m:t>
                </m:r>
              </m:oMath>
            </a14:m>
            <a:r>
              <a:t> odd:</a:t>
            </a:r>
          </a:p>
          <a:p>
            <a:pPr marL="0" lvl="0" indent="0">
              <a:buNone/>
            </a:pPr>
            <a14:m xmlns:a14="http://schemas.microsoft.com/office/drawing/2010/main">
              <m:oMathPara xmlns:m="http://schemas.openxmlformats.org/officeDocument/2006/math">
                <m:oMathParaPr>
                  <m:jc m:val="center"/>
                </m:oMathParaPr>
                <m:oMath>
                  <m:r>
                    <m:rPr>
                      <m:nor/>
                    </m:rPr>
                    <a:rPr i="0"/>
                    <m:t>Median</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d>
                        <m:dPr>
                          <m:ctrlPr>
                            <a:rPr i="1">
                              <a:latin typeface="Cambria Math" panose="02040503050406030204" pitchFamily="18" charset="0"/>
                            </a:rPr>
                          </m:ctrlPr>
                        </m:dPr>
                        <m:e>
                          <m:f>
                            <m:fPr>
                              <m:ctrlPr>
                                <a:rPr>
                                  <a:latin typeface="Cambria Math" panose="02040503050406030204" pitchFamily="18" charset="0"/>
                                </a:rPr>
                              </m:ctrlPr>
                            </m:fPr>
                            <m:num>
                              <m:r>
                                <a:rPr>
                                  <a:latin typeface="Cambria Math" panose="02040503050406030204" pitchFamily="18" charset="0"/>
                                </a:rPr>
                                <m:t>𝑛</m:t>
                              </m:r>
                              <m:r>
                                <a:rPr>
                                  <a:latin typeface="Cambria Math" panose="02040503050406030204" pitchFamily="18" charset="0"/>
                                </a:rPr>
                                <m:t>+1</m:t>
                              </m:r>
                            </m:num>
                            <m:den>
                              <m:r>
                                <a:rPr>
                                  <a:latin typeface="Cambria Math" panose="02040503050406030204" pitchFamily="18" charset="0"/>
                                </a:rPr>
                                <m:t>2</m:t>
                              </m:r>
                            </m:den>
                          </m:f>
                        </m:e>
                      </m:d>
                    </m:sub>
                  </m:sSub>
                </m:oMath>
              </m:oMathPara>
            </a14:m>
            <a:endParaRPr/>
          </a:p>
          <a:p>
            <a:pPr marL="0" lvl="0" indent="0">
              <a:buNone/>
            </a:pPr>
            <a14:m xmlns:a14="http://schemas.microsoft.com/office/drawing/2010/main">
              <m:oMath xmlns:m="http://schemas.openxmlformats.org/officeDocument/2006/math">
                <m:r>
                  <a:rPr>
                    <a:latin typeface="Cambria Math" panose="02040503050406030204" pitchFamily="18" charset="0"/>
                  </a:rPr>
                  <m:t>𝑛</m:t>
                </m:r>
              </m:oMath>
            </a14:m>
            <a:r>
              <a:t> even:</a:t>
            </a:r>
          </a:p>
          <a:p>
            <a:pPr marL="0" lvl="0" indent="0">
              <a:buNone/>
            </a:pPr>
            <a14:m xmlns:a14="http://schemas.microsoft.com/office/drawing/2010/main">
              <m:oMathPara xmlns:m="http://schemas.openxmlformats.org/officeDocument/2006/math">
                <m:oMathParaPr>
                  <m:jc m:val="center"/>
                </m:oMathParaPr>
                <m:oMath>
                  <m:r>
                    <m:rPr>
                      <m:nor/>
                    </m:rPr>
                    <a:rPr i="0"/>
                    <m:t>Median</m:t>
                  </m:r>
                  <m:r>
                    <a:rPr>
                      <a:latin typeface="Cambria Math" panose="02040503050406030204" pitchFamily="18" charset="0"/>
                    </a:rPr>
                    <m:t>=</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𝑥</m:t>
                          </m:r>
                        </m:e>
                        <m:sub>
                          <m:d>
                            <m:dPr>
                              <m:ctrlPr>
                                <a:rPr i="1">
                                  <a:latin typeface="Cambria Math" panose="02040503050406030204" pitchFamily="18" charset="0"/>
                                </a:rPr>
                              </m:ctrlPr>
                            </m:dPr>
                            <m:e>
                              <m:f>
                                <m:fPr>
                                  <m:ctrlPr>
                                    <a:rPr>
                                      <a:latin typeface="Cambria Math" panose="02040503050406030204" pitchFamily="18" charset="0"/>
                                    </a:rPr>
                                  </m:ctrlPr>
                                </m:fPr>
                                <m:num>
                                  <m:r>
                                    <a:rPr>
                                      <a:latin typeface="Cambria Math" panose="02040503050406030204" pitchFamily="18" charset="0"/>
                                    </a:rPr>
                                    <m:t>𝑛</m:t>
                                  </m:r>
                                </m:num>
                                <m:den>
                                  <m:r>
                                    <a:rPr>
                                      <a:latin typeface="Cambria Math" panose="02040503050406030204" pitchFamily="18" charset="0"/>
                                    </a:rPr>
                                    <m:t>2</m:t>
                                  </m:r>
                                </m:den>
                              </m:f>
                            </m:e>
                          </m:d>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d>
                            <m:dPr>
                              <m:ctrlPr>
                                <a:rPr i="1">
                                  <a:latin typeface="Cambria Math" panose="02040503050406030204" pitchFamily="18" charset="0"/>
                                </a:rPr>
                              </m:ctrlPr>
                            </m:dPr>
                            <m:e>
                              <m:f>
                                <m:fPr>
                                  <m:ctrlPr>
                                    <a:rPr>
                                      <a:latin typeface="Cambria Math" panose="02040503050406030204" pitchFamily="18" charset="0"/>
                                    </a:rPr>
                                  </m:ctrlPr>
                                </m:fPr>
                                <m:num>
                                  <m:r>
                                    <a:rPr>
                                      <a:latin typeface="Cambria Math" panose="02040503050406030204" pitchFamily="18" charset="0"/>
                                    </a:rPr>
                                    <m:t>𝑛</m:t>
                                  </m:r>
                                </m:num>
                                <m:den>
                                  <m:r>
                                    <a:rPr>
                                      <a:latin typeface="Cambria Math" panose="02040503050406030204" pitchFamily="18" charset="0"/>
                                    </a:rPr>
                                    <m:t>2</m:t>
                                  </m:r>
                                </m:den>
                              </m:f>
                              <m:r>
                                <a:rPr>
                                  <a:latin typeface="Cambria Math" panose="02040503050406030204" pitchFamily="18" charset="0"/>
                                </a:rPr>
                                <m:t>+1</m:t>
                              </m:r>
                            </m:e>
                          </m:d>
                        </m:sub>
                      </m:sSub>
                    </m:num>
                    <m:den>
                      <m:r>
                        <a:rPr>
                          <a:latin typeface="Cambria Math" panose="02040503050406030204" pitchFamily="18" charset="0"/>
                        </a:rPr>
                        <m:t>2</m:t>
                      </m:r>
                    </m:den>
                  </m:f>
                </m:oMath>
              </m:oMathPara>
            </a14:m>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Median — properties</a:t>
            </a:r>
          </a:p>
        </p:txBody>
      </p:sp>
      <p:sp>
        <p:nvSpPr>
          <p:cNvPr id="3" name="Content Placeholder 2"/>
          <p:cNvSpPr>
            <a:spLocks noGrp="1"/>
          </p:cNvSpPr>
          <p:nvPr>
            <p:ph idx="1"/>
          </p:nvPr>
        </p:nvSpPr>
        <p:spPr/>
        <p:txBody>
          <a:bodyPr/>
          <a:lstStyle/>
          <a:p>
            <a:pPr lvl="0"/>
            <a:r>
              <a:t>It is not affected by extreme data: robust</a:t>
            </a:r>
          </a:p>
          <a:p>
            <a:pPr lvl="0"/>
            <a:r>
              <a:t>Useful in asymmetric distributions</a:t>
            </a:r>
          </a:p>
          <a:p>
            <a:pPr lvl="0"/>
            <a:r>
              <a:t>P</a:t>
            </a:r>
            <a:r>
              <a:rPr baseline="-25000"/>
              <a:t>(50)</a:t>
            </a:r>
            <a:r>
              <a:t> = Median = Quartile 2 (Q2)</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 from 240 medical students (ALT)</a:t>
            </a:r>
          </a:p>
        </p:txBody>
      </p:sp>
      <p:pic>
        <p:nvPicPr>
          <p:cNvPr id="3" name="Picture 1" descr="images/s2_05_slide19_alt-data.png"/>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 from 240 medical students (ALT) — histogram</a:t>
            </a:r>
          </a:p>
        </p:txBody>
      </p:sp>
      <p:pic>
        <p:nvPicPr>
          <p:cNvPr id="3" name="Picture 1" descr="images/s2_05_slide20_alt-hist.png"/>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Median (50th percentile)</a:t>
            </a:r>
          </a:p>
        </p:txBody>
      </p:sp>
      <p:pic>
        <p:nvPicPr>
          <p:cNvPr id="3" name="Picture 1" descr="images/s2_05_image26.png"/>
          <p:cNvPicPr>
            <a:picLocks noGrp="1" noChangeAspect="1"/>
          </p:cNvPicPr>
          <p:nvPr/>
        </p:nvPicPr>
        <p:blipFill>
          <a:blip r:embed="rId2"/>
          <a:stretch>
            <a:fillRect/>
          </a:stretch>
        </p:blipFill>
        <p:spPr bwMode="auto">
          <a:xfrm>
            <a:off x="1689100" y="1193800"/>
            <a:ext cx="5778500" cy="3390900"/>
          </a:xfrm>
          <a:prstGeom prst="rect">
            <a:avLst/>
          </a:prstGeom>
          <a:noFill/>
          <a:ln w="9525">
            <a:noFill/>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Median and IQR</a:t>
            </a:r>
          </a:p>
        </p:txBody>
      </p:sp>
      <p:sp>
        <p:nvSpPr>
          <p:cNvPr id="3" name="Content Placeholder 2"/>
          <p:cNvSpPr>
            <a:spLocks noGrp="1"/>
          </p:cNvSpPr>
          <p:nvPr>
            <p:ph idx="1"/>
          </p:nvPr>
        </p:nvSpPr>
        <p:spPr/>
        <p:txBody>
          <a:bodyPr/>
          <a:lstStyle/>
          <a:p>
            <a:pPr lvl="0"/>
            <a:r>
              <a:t>Useful in asymmetric distributions</a:t>
            </a:r>
          </a:p>
          <a:p>
            <a:pPr lvl="0"/>
            <a:r>
              <a:t>Robust parameters</a:t>
            </a:r>
          </a:p>
          <a:p>
            <a:pPr lvl="0"/>
            <a:r>
              <a:t>The IQR contains 50% of the data</a:t>
            </a:r>
          </a:p>
          <a:p>
            <a:pPr lvl="0"/>
            <a:r>
              <a:t>Components of the boxplot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Distribution of the data</a:t>
            </a:r>
          </a:p>
        </p:txBody>
      </p:sp>
      <p:pic>
        <p:nvPicPr>
          <p:cNvPr id="3" name="Picture 1" descr="images/s2_05_image27.jpeg"/>
          <p:cNvPicPr>
            <a:picLocks noGrp="1" noChangeAspect="1"/>
          </p:cNvPicPr>
          <p:nvPr/>
        </p:nvPicPr>
        <p:blipFill>
          <a:blip r:embed="rId2"/>
          <a:stretch>
            <a:fillRect/>
          </a:stretch>
        </p:blipFill>
        <p:spPr bwMode="auto">
          <a:xfrm>
            <a:off x="1587500" y="1193800"/>
            <a:ext cx="59690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Mean &gt; Median: right-skewed distribution · Mean &lt; Median: left-skewed distribution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Families of distributions</a:t>
            </a:r>
          </a:p>
        </p:txBody>
      </p:sp>
      <p:pic>
        <p:nvPicPr>
          <p:cNvPr id="3" name="Picture 1" descr="images/s2_05_image28.png"/>
          <p:cNvPicPr>
            <a:picLocks noGrp="1" noChangeAspect="1"/>
          </p:cNvPicPr>
          <p:nvPr/>
        </p:nvPicPr>
        <p:blipFill>
          <a:blip r:embed="rId2"/>
          <a:stretch>
            <a:fillRect/>
          </a:stretch>
        </p:blipFill>
        <p:spPr bwMode="auto">
          <a:xfrm>
            <a:off x="2247900" y="1193800"/>
            <a:ext cx="4648200" cy="3390900"/>
          </a:xfrm>
          <a:prstGeom prst="rect">
            <a:avLst/>
          </a:prstGeom>
          <a:noFill/>
          <a:ln w="9525">
            <a:noFill/>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Graphs in statistics</a:t>
            </a:r>
          </a:p>
        </p:txBody>
      </p:sp>
      <p:sp>
        <p:nvSpPr>
          <p:cNvPr id="3" name="Content Placeholder 2"/>
          <p:cNvSpPr>
            <a:spLocks noGrp="1"/>
          </p:cNvSpPr>
          <p:nvPr>
            <p:ph idx="1"/>
          </p:nvPr>
        </p:nvSpPr>
        <p:spPr/>
        <p:txBody>
          <a:bodyPr/>
          <a:lstStyle/>
          <a:p>
            <a:pPr lvl="0"/>
            <a:r>
              <a:t>Fisher (1890-1962)</a:t>
            </a:r>
          </a:p>
          <a:p>
            <a:pPr lvl="0"/>
            <a:r>
              <a:t>The type of graph depends on the type of data to summarize</a:t>
            </a:r>
          </a:p>
          <a:p>
            <a:pPr lvl="0"/>
            <a:r>
              <a:t>Very useful to check and present the data — first step during analysis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Graphs by type of variable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t>Variable</a:t>
                      </a:r>
                    </a:p>
                  </a:txBody>
                  <a:tcPr/>
                </a:tc>
                <a:tc>
                  <a:txBody>
                    <a:bodyPr/>
                    <a:lstStyle/>
                    <a:p>
                      <a:pPr marL="0" lvl="0" indent="0">
                        <a:buNone/>
                      </a:pPr>
                      <a:r>
                        <a:t>Graphs</a:t>
                      </a:r>
                    </a:p>
                  </a:txBody>
                  <a:tcPr/>
                </a:tc>
                <a:extLst>
                  <a:ext uri="{0D108BD9-81ED-4DB2-BD59-A6C34878D82A}">
                    <a16:rowId xmlns:a16="http://schemas.microsoft.com/office/drawing/2014/main" val="10000"/>
                  </a:ext>
                </a:extLst>
              </a:tr>
              <a:tr h="0">
                <a:tc>
                  <a:txBody>
                    <a:bodyPr/>
                    <a:lstStyle/>
                    <a:p>
                      <a:pPr marL="0" lvl="0" indent="0">
                        <a:buNone/>
                      </a:pPr>
                      <a:r>
                        <a:t>Qualitative</a:t>
                      </a:r>
                    </a:p>
                  </a:txBody>
                  <a:tcPr/>
                </a:tc>
                <a:tc>
                  <a:txBody>
                    <a:bodyPr/>
                    <a:lstStyle/>
                    <a:p>
                      <a:pPr marL="0" lvl="0" indent="0">
                        <a:buNone/>
                      </a:pPr>
                      <a:r>
                        <a:t>Bar graph, pie graph</a:t>
                      </a:r>
                    </a:p>
                  </a:txBody>
                  <a:tcPr/>
                </a:tc>
                <a:extLst>
                  <a:ext uri="{0D108BD9-81ED-4DB2-BD59-A6C34878D82A}">
                    <a16:rowId xmlns:a16="http://schemas.microsoft.com/office/drawing/2014/main" val="10001"/>
                  </a:ext>
                </a:extLst>
              </a:tr>
              <a:tr h="0">
                <a:tc>
                  <a:txBody>
                    <a:bodyPr/>
                    <a:lstStyle/>
                    <a:p>
                      <a:pPr marL="0" lvl="0" indent="0">
                        <a:buNone/>
                      </a:pPr>
                      <a:r>
                        <a:t>Ordinal</a:t>
                      </a:r>
                    </a:p>
                  </a:txBody>
                  <a:tcPr/>
                </a:tc>
                <a:tc>
                  <a:txBody>
                    <a:bodyPr/>
                    <a:lstStyle/>
                    <a:p>
                      <a:pPr marL="0" lvl="0" indent="0">
                        <a:buNone/>
                      </a:pPr>
                      <a:r>
                        <a:t>Bar graph (ordered)</a:t>
                      </a:r>
                    </a:p>
                  </a:txBody>
                  <a:tcPr/>
                </a:tc>
                <a:extLst>
                  <a:ext uri="{0D108BD9-81ED-4DB2-BD59-A6C34878D82A}">
                    <a16:rowId xmlns:a16="http://schemas.microsoft.com/office/drawing/2014/main" val="10002"/>
                  </a:ext>
                </a:extLst>
              </a:tr>
              <a:tr h="0">
                <a:tc>
                  <a:txBody>
                    <a:bodyPr/>
                    <a:lstStyle/>
                    <a:p>
                      <a:pPr marL="0" lvl="0" indent="0">
                        <a:buNone/>
                      </a:pPr>
                      <a:r>
                        <a:t>Discrete</a:t>
                      </a:r>
                    </a:p>
                  </a:txBody>
                  <a:tcPr/>
                </a:tc>
                <a:tc>
                  <a:txBody>
                    <a:bodyPr/>
                    <a:lstStyle/>
                    <a:p>
                      <a:pPr marL="0" lvl="0" indent="0">
                        <a:buNone/>
                      </a:pPr>
                      <a:r>
                        <a:t>Bar graph</a:t>
                      </a:r>
                    </a:p>
                  </a:txBody>
                  <a:tcPr/>
                </a:tc>
                <a:extLst>
                  <a:ext uri="{0D108BD9-81ED-4DB2-BD59-A6C34878D82A}">
                    <a16:rowId xmlns:a16="http://schemas.microsoft.com/office/drawing/2014/main" val="10003"/>
                  </a:ext>
                </a:extLst>
              </a:tr>
              <a:tr h="0">
                <a:tc>
                  <a:txBody>
                    <a:bodyPr/>
                    <a:lstStyle/>
                    <a:p>
                      <a:pPr marL="0" lvl="0" indent="0">
                        <a:buNone/>
                      </a:pPr>
                      <a:r>
                        <a:t>Continuous</a:t>
                      </a:r>
                    </a:p>
                  </a:txBody>
                  <a:tcPr/>
                </a:tc>
                <a:tc>
                  <a:txBody>
                    <a:bodyPr/>
                    <a:lstStyle/>
                    <a:p>
                      <a:pPr marL="0" lvl="0" indent="0">
                        <a:buNone/>
                      </a:pPr>
                      <a:r>
                        <a:t>Histogram, density plot, frequency plot, box plot, scatter plot</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Graphs in statistics — overview</a:t>
            </a:r>
          </a:p>
        </p:txBody>
      </p:sp>
      <p:pic>
        <p:nvPicPr>
          <p:cNvPr id="3" name="Picture 1" descr="images/s2_05_image29.png"/>
          <p:cNvPicPr>
            <a:picLocks noGrp="1" noChangeAspect="1"/>
          </p:cNvPicPr>
          <p:nvPr/>
        </p:nvPicPr>
        <p:blipFill>
          <a:blip r:embed="rId2"/>
          <a:stretch>
            <a:fillRect/>
          </a:stretch>
        </p:blipFill>
        <p:spPr bwMode="auto">
          <a:xfrm>
            <a:off x="457200" y="1473200"/>
            <a:ext cx="8229600" cy="2832100"/>
          </a:xfrm>
          <a:prstGeom prst="rect">
            <a:avLst/>
          </a:prstGeom>
          <a:noFill/>
          <a:ln w="9525">
            <a:noFill/>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Qualitative data</a:t>
            </a:r>
          </a:p>
        </p:txBody>
      </p:sp>
      <p:pic>
        <p:nvPicPr>
          <p:cNvPr id="3" name="Picture 1" descr="images/s2_05_image30.png"/>
          <p:cNvPicPr>
            <a:picLocks noGrp="1" noChangeAspect="1"/>
          </p:cNvPicPr>
          <p:nvPr/>
        </p:nvPicPr>
        <p:blipFill>
          <a:blip r:embed="rId2"/>
          <a:stretch>
            <a:fillRect/>
          </a:stretch>
        </p:blipFill>
        <p:spPr bwMode="auto">
          <a:xfrm>
            <a:off x="2387600" y="1193800"/>
            <a:ext cx="4356100" cy="3390900"/>
          </a:xfrm>
          <a:prstGeom prst="rect">
            <a:avLst/>
          </a:prstGeom>
          <a:noFill/>
          <a:ln w="9525">
            <a:noFill/>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Qualitative data — bar chart</a:t>
            </a:r>
          </a:p>
        </p:txBody>
      </p:sp>
      <p:pic>
        <p:nvPicPr>
          <p:cNvPr id="3" name="Picture 1" descr="images/s2_05_image31.png"/>
          <p:cNvPicPr>
            <a:picLocks noGrp="1" noChangeAspect="1"/>
          </p:cNvPicPr>
          <p:nvPr/>
        </p:nvPicPr>
        <p:blipFill>
          <a:blip r:embed="rId2"/>
          <a:stretch>
            <a:fillRect/>
          </a:stretch>
        </p:blipFill>
        <p:spPr bwMode="auto">
          <a:xfrm>
            <a:off x="2273300" y="1193800"/>
            <a:ext cx="4584700" cy="3390900"/>
          </a:xfrm>
          <a:prstGeom prst="rect">
            <a:avLst/>
          </a:prstGeom>
          <a:noFill/>
          <a:ln w="9525">
            <a:noFill/>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Quantitative data</a:t>
            </a:r>
          </a:p>
        </p:txBody>
      </p:sp>
      <p:pic>
        <p:nvPicPr>
          <p:cNvPr id="3" name="Picture 1" descr="images/s2_05_slide29_histogram.png"/>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Histograms</a:t>
            </a:r>
          </a:p>
        </p:txBody>
      </p:sp>
      <p:pic>
        <p:nvPicPr>
          <p:cNvPr id="3" name="Picture 1" descr="images/s2_05_image33.png"/>
          <p:cNvPicPr>
            <a:picLocks noGrp="1" noChangeAspect="1"/>
          </p:cNvPicPr>
          <p:nvPr/>
        </p:nvPicPr>
        <p:blipFill>
          <a:blip r:embed="rId2"/>
          <a:stretch>
            <a:fillRect/>
          </a:stretch>
        </p:blipFill>
        <p:spPr bwMode="auto">
          <a:xfrm>
            <a:off x="1612900" y="1193800"/>
            <a:ext cx="5918200" cy="3390900"/>
          </a:xfrm>
          <a:prstGeom prst="rect">
            <a:avLst/>
          </a:prstGeom>
          <a:noFill/>
          <a:ln w="9525">
            <a:noFill/>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Histograms by group</a:t>
            </a:r>
          </a:p>
        </p:txBody>
      </p:sp>
      <p:pic>
        <p:nvPicPr>
          <p:cNvPr id="3" name="Picture 1" descr="images/s2_05_image35.png"/>
          <p:cNvPicPr>
            <a:picLocks noGrp="1" noChangeAspect="1"/>
          </p:cNvPicPr>
          <p:nvPr/>
        </p:nvPicPr>
        <p:blipFill>
          <a:blip r:embed="rId2"/>
          <a:stretch>
            <a:fillRect/>
          </a:stretch>
        </p:blipFill>
        <p:spPr bwMode="auto">
          <a:xfrm>
            <a:off x="2654300" y="1193800"/>
            <a:ext cx="3835400" cy="3390900"/>
          </a:xfrm>
          <a:prstGeom prst="rect">
            <a:avLst/>
          </a:prstGeom>
          <a:noFill/>
          <a:ln w="9525">
            <a:noFill/>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Density plots by group</a:t>
            </a:r>
          </a:p>
        </p:txBody>
      </p:sp>
      <p:pic>
        <p:nvPicPr>
          <p:cNvPr id="3" name="Picture 1" descr="images/s2_05_image34.png"/>
          <p:cNvPicPr>
            <a:picLocks noGrp="1" noChangeAspect="1"/>
          </p:cNvPicPr>
          <p:nvPr/>
        </p:nvPicPr>
        <p:blipFill>
          <a:blip r:embed="rId2"/>
          <a:stretch>
            <a:fillRect/>
          </a:stretch>
        </p:blipFill>
        <p:spPr bwMode="auto">
          <a:xfrm>
            <a:off x="2705100" y="1193800"/>
            <a:ext cx="3721100" cy="3390900"/>
          </a:xfrm>
          <a:prstGeom prst="rect">
            <a:avLst/>
          </a:prstGeom>
          <a:noFill/>
          <a:ln w="9525">
            <a:noFill/>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Relationships between variables</a:t>
            </a:r>
          </a:p>
        </p:txBody>
      </p:sp>
      <p:pic>
        <p:nvPicPr>
          <p:cNvPr id="3" name="Picture 1" descr="images/s2_05_image36.png"/>
          <p:cNvPicPr>
            <a:picLocks noGrp="1" noChangeAspect="1"/>
          </p:cNvPicPr>
          <p:nvPr/>
        </p:nvPicPr>
        <p:blipFill>
          <a:blip r:embed="rId2"/>
          <a:stretch>
            <a:fillRect/>
          </a:stretch>
        </p:blipFill>
        <p:spPr bwMode="auto">
          <a:xfrm>
            <a:off x="1816100" y="1193800"/>
            <a:ext cx="5499100" cy="3390900"/>
          </a:xfrm>
          <a:prstGeom prst="rect">
            <a:avLst/>
          </a:prstGeom>
          <a:noFill/>
          <a:ln w="9525">
            <a:noFill/>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Scatter plot — outliers</a:t>
            </a:r>
          </a:p>
        </p:txBody>
      </p:sp>
      <p:pic>
        <p:nvPicPr>
          <p:cNvPr id="3" name="Picture 1" descr="images/s2_05_image37.png"/>
          <p:cNvPicPr>
            <a:picLocks noGrp="1" noChangeAspect="1"/>
          </p:cNvPicPr>
          <p:nvPr/>
        </p:nvPicPr>
        <p:blipFill>
          <a:blip r:embed="rId2"/>
          <a:stretch>
            <a:fillRect/>
          </a:stretch>
        </p:blipFill>
        <p:spPr bwMode="auto">
          <a:xfrm>
            <a:off x="1803400" y="1193800"/>
            <a:ext cx="5549900" cy="3390900"/>
          </a:xfrm>
          <a:prstGeom prst="rect">
            <a:avLst/>
          </a:prstGeom>
          <a:noFill/>
          <a:ln w="9525">
            <a:noFill/>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Scatter plot — life expectancy and GNP</a:t>
            </a:r>
          </a:p>
        </p:txBody>
      </p:sp>
      <p:pic>
        <p:nvPicPr>
          <p:cNvPr id="3" name="Picture 1" descr="images/s2_05_image38.png"/>
          <p:cNvPicPr>
            <a:picLocks noGrp="1" noChangeAspect="1"/>
          </p:cNvPicPr>
          <p:nvPr/>
        </p:nvPicPr>
        <p:blipFill>
          <a:blip r:embed="rId2"/>
          <a:stretch>
            <a:fillRect/>
          </a:stretch>
        </p:blipFill>
        <p:spPr bwMode="auto">
          <a:xfrm>
            <a:off x="2235200" y="1193800"/>
            <a:ext cx="4660900" cy="3390900"/>
          </a:xfrm>
          <a:prstGeom prst="rect">
            <a:avLst/>
          </a:prstGeom>
          <a:noFill/>
          <a:ln w="9525">
            <a:noFill/>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Scatter plot — agreement between methods</a:t>
            </a:r>
          </a:p>
        </p:txBody>
      </p:sp>
      <p:pic>
        <p:nvPicPr>
          <p:cNvPr id="3" name="Picture 1" descr="images/s2_05_image39.jpeg"/>
          <p:cNvPicPr>
            <a:picLocks noGrp="1" noChangeAspect="1"/>
          </p:cNvPicPr>
          <p:nvPr/>
        </p:nvPicPr>
        <p:blipFill>
          <a:blip r:embed="rId2"/>
          <a:stretch>
            <a:fillRect/>
          </a:stretch>
        </p:blipFill>
        <p:spPr bwMode="auto">
          <a:xfrm>
            <a:off x="2260600" y="1193800"/>
            <a:ext cx="4622800" cy="3390900"/>
          </a:xfrm>
          <a:prstGeom prst="rect">
            <a:avLst/>
          </a:prstGeom>
          <a:noFill/>
          <a:ln w="9525">
            <a:noFill/>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Scatter plot matrix</a:t>
            </a:r>
          </a:p>
        </p:txBody>
      </p:sp>
      <p:pic>
        <p:nvPicPr>
          <p:cNvPr id="3" name="Picture 1" descr="images/s2_05_image40.png"/>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Boxplot</a:t>
            </a:r>
          </a:p>
        </p:txBody>
      </p:sp>
      <p:pic>
        <p:nvPicPr>
          <p:cNvPr id="3" name="Picture 1" descr="images/s2_05_image41.png"/>
          <p:cNvPicPr>
            <a:picLocks noGrp="1" noChangeAspect="1"/>
          </p:cNvPicPr>
          <p:nvPr/>
        </p:nvPicPr>
        <p:blipFill>
          <a:blip r:embed="rId2"/>
          <a:stretch>
            <a:fillRect/>
          </a:stretch>
        </p:blipFill>
        <p:spPr bwMode="auto">
          <a:xfrm>
            <a:off x="2057400" y="1193800"/>
            <a:ext cx="5029200" cy="3390900"/>
          </a:xfrm>
          <a:prstGeom prst="rect">
            <a:avLst/>
          </a:prstGeom>
          <a:noFill/>
          <a:ln w="9525">
            <a:noFill/>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Boxplot with data points</a:t>
            </a:r>
          </a:p>
        </p:txBody>
      </p:sp>
      <p:pic>
        <p:nvPicPr>
          <p:cNvPr id="3" name="Picture 1" descr="images/s2_05_image42t.png"/>
          <p:cNvPicPr>
            <a:picLocks noGrp="1" noChangeAspect="1"/>
          </p:cNvPicPr>
          <p:nvPr/>
        </p:nvPicPr>
        <p:blipFill>
          <a:blip r:embed="rId2"/>
          <a:stretch>
            <a:fillRect/>
          </a:stretch>
        </p:blipFill>
        <p:spPr bwMode="auto">
          <a:xfrm>
            <a:off x="2590800" y="1193800"/>
            <a:ext cx="3962400" cy="3390900"/>
          </a:xfrm>
          <a:prstGeom prst="rect">
            <a:avLst/>
          </a:prstGeom>
          <a:noFill/>
          <a:ln w="9525">
            <a:noFill/>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Violin plot 1</a:t>
            </a:r>
          </a:p>
        </p:txBody>
      </p:sp>
      <p:pic>
        <p:nvPicPr>
          <p:cNvPr id="3" name="Picture 1" descr="images/s2_05_image43.png"/>
          <p:cNvPicPr>
            <a:picLocks noGrp="1" noChangeAspect="1"/>
          </p:cNvPicPr>
          <p:nvPr/>
        </p:nvPicPr>
        <p:blipFill>
          <a:blip r:embed="rId2"/>
          <a:stretch>
            <a:fillRect/>
          </a:stretch>
        </p:blipFill>
        <p:spPr bwMode="auto">
          <a:xfrm>
            <a:off x="2578100" y="1193800"/>
            <a:ext cx="3987800" cy="3390900"/>
          </a:xfrm>
          <a:prstGeom prst="rect">
            <a:avLst/>
          </a:prstGeom>
          <a:noFill/>
          <a:ln w="9525">
            <a:noFill/>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Violin plot 2</a:t>
            </a:r>
          </a:p>
        </p:txBody>
      </p:sp>
      <p:pic>
        <p:nvPicPr>
          <p:cNvPr id="3" name="Picture 1" descr="images/s2_05_image44.png"/>
          <p:cNvPicPr>
            <a:picLocks noGrp="1" noChangeAspect="1"/>
          </p:cNvPicPr>
          <p:nvPr/>
        </p:nvPicPr>
        <p:blipFill>
          <a:blip r:embed="rId2"/>
          <a:stretch>
            <a:fillRect/>
          </a:stretch>
        </p:blipFill>
        <p:spPr bwMode="auto">
          <a:xfrm>
            <a:off x="1816100" y="1193800"/>
            <a:ext cx="5511800" cy="3390900"/>
          </a:xfrm>
          <a:prstGeom prst="rect">
            <a:avLst/>
          </a:prstGeom>
          <a:noFill/>
          <a:ln w="9525">
            <a:noFill/>
            <a:headEnd/>
            <a:tailEnd/>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Harrell plot</a:t>
            </a:r>
          </a:p>
        </p:txBody>
      </p:sp>
      <p:pic>
        <p:nvPicPr>
          <p:cNvPr id="3" name="Picture 1" descr="images/s2_05_image45.png"/>
          <p:cNvPicPr>
            <a:picLocks noGrp="1" noChangeAspect="1"/>
          </p:cNvPicPr>
          <p:nvPr/>
        </p:nvPicPr>
        <p:blipFill>
          <a:blip r:embed="rId3"/>
          <a:stretch>
            <a:fillRect/>
          </a:stretch>
        </p:blipFill>
        <p:spPr bwMode="auto">
          <a:xfrm>
            <a:off x="2260600" y="1193800"/>
            <a:ext cx="46101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Harrell, Frank E. 2014. “Principles of Graph Construction.”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Harrell plots vs. common alternatives</a:t>
            </a:r>
          </a:p>
        </p:txBody>
      </p:sp>
      <p:pic>
        <p:nvPicPr>
          <p:cNvPr id="3" name="Picture 1" descr="images/s2_05_image46.png"/>
          <p:cNvPicPr>
            <a:picLocks noGrp="1" noChangeAspect="1"/>
          </p:cNvPicPr>
          <p:nvPr/>
        </p:nvPicPr>
        <p:blipFill>
          <a:blip r:embed="rId3"/>
          <a:stretch>
            <a:fillRect/>
          </a:stretch>
        </p:blipFill>
        <p:spPr bwMode="auto">
          <a:xfrm>
            <a:off x="2260600" y="1193800"/>
            <a:ext cx="46101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https://www.middleprofessor.com/files/quasipubs/harrell_plot_intro.html</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Ridgeline plot</a:t>
            </a:r>
          </a:p>
        </p:txBody>
      </p:sp>
      <p:pic>
        <p:nvPicPr>
          <p:cNvPr id="3" name="Picture 1" descr="images/s2_05_image47.png"/>
          <p:cNvPicPr>
            <a:picLocks noGrp="1" noChangeAspect="1"/>
          </p:cNvPicPr>
          <p:nvPr/>
        </p:nvPicPr>
        <p:blipFill>
          <a:blip r:embed="rId2"/>
          <a:stretch>
            <a:fillRect/>
          </a:stretch>
        </p:blipFill>
        <p:spPr bwMode="auto">
          <a:xfrm>
            <a:off x="2197100" y="1193800"/>
            <a:ext cx="4749800" cy="3390900"/>
          </a:xfrm>
          <a:prstGeom prst="rect">
            <a:avLst/>
          </a:prstGeom>
          <a:noFill/>
          <a:ln w="9525">
            <a:noFill/>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More complex graphs</a:t>
            </a:r>
          </a:p>
        </p:txBody>
      </p:sp>
      <p:pic>
        <p:nvPicPr>
          <p:cNvPr id="3" name="Picture 1" descr="images/s2_05_slide44_complex-graphs.png"/>
          <p:cNvPicPr>
            <a:picLocks noGrp="1" noChangeAspect="1"/>
          </p:cNvPicPr>
          <p:nvPr/>
        </p:nvPicPr>
        <p:blipFill>
          <a:blip r:embed="rId2"/>
          <a:stretch>
            <a:fillRect/>
          </a:stretch>
        </p:blipFill>
        <p:spPr bwMode="auto">
          <a:xfrm>
            <a:off x="2171700" y="1193800"/>
            <a:ext cx="4813300" cy="3390900"/>
          </a:xfrm>
          <a:prstGeom prst="rect">
            <a:avLst/>
          </a:prstGeom>
          <a:noFill/>
          <a:ln w="9525">
            <a:noFill/>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Tufte’s views on graphical excellence</a:t>
            </a:r>
          </a:p>
        </p:txBody>
      </p:sp>
      <p:sp>
        <p:nvSpPr>
          <p:cNvPr id="3" name="Content Placeholder 2"/>
          <p:cNvSpPr>
            <a:spLocks noGrp="1"/>
          </p:cNvSpPr>
          <p:nvPr>
            <p:ph idx="1"/>
          </p:nvPr>
        </p:nvSpPr>
        <p:spPr/>
        <p:txBody>
          <a:bodyPr/>
          <a:lstStyle/>
          <a:p>
            <a:pPr marL="1270000" lvl="0" indent="0">
              <a:buNone/>
            </a:pPr>
            <a:r>
              <a:rPr sz="2000"/>
              <a:t>“Excellence in statistical graphics consists of complex ideas communicated with clarity, precision, and efficiency.”</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Tufte — graphical displays should (1/2)</a:t>
            </a:r>
          </a:p>
        </p:txBody>
      </p:sp>
      <p:sp>
        <p:nvSpPr>
          <p:cNvPr id="3" name="Content Placeholder 2"/>
          <p:cNvSpPr>
            <a:spLocks noGrp="1"/>
          </p:cNvSpPr>
          <p:nvPr>
            <p:ph idx="1"/>
          </p:nvPr>
        </p:nvSpPr>
        <p:spPr/>
        <p:txBody>
          <a:bodyPr/>
          <a:lstStyle/>
          <a:p>
            <a:pPr lvl="0"/>
            <a:r>
              <a:t>Show the data</a:t>
            </a:r>
          </a:p>
          <a:p>
            <a:pPr lvl="0"/>
            <a:r>
              <a:t>Induce the viewer to think about the substance rather than about methodology, graphic design, the technology of graphic production, or something else</a:t>
            </a:r>
          </a:p>
          <a:p>
            <a:pPr lvl="0"/>
            <a:r>
              <a:t>Avoid distorting what the data have to say</a:t>
            </a:r>
          </a:p>
          <a:p>
            <a:pPr lvl="0"/>
            <a:r>
              <a:t>Present many numbers in a small space</a:t>
            </a:r>
          </a:p>
          <a:p>
            <a:pPr lvl="0"/>
            <a:r>
              <a:t>Make large data sets coherent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Tufte — graphical displays should (2/2)</a:t>
            </a:r>
          </a:p>
        </p:txBody>
      </p:sp>
      <p:sp>
        <p:nvSpPr>
          <p:cNvPr id="3" name="Content Placeholder 2"/>
          <p:cNvSpPr>
            <a:spLocks noGrp="1"/>
          </p:cNvSpPr>
          <p:nvPr>
            <p:ph idx="1"/>
          </p:nvPr>
        </p:nvSpPr>
        <p:spPr/>
        <p:txBody>
          <a:bodyPr/>
          <a:lstStyle/>
          <a:p>
            <a:pPr lvl="0"/>
            <a:r>
              <a:t>Encourage the eye to compare different pieces of data</a:t>
            </a:r>
          </a:p>
          <a:p>
            <a:pPr lvl="0"/>
            <a:r>
              <a:t>Reveal the data at several levels of detail, from a broad overview to the fine structure</a:t>
            </a:r>
          </a:p>
          <a:p>
            <a:pPr lvl="0"/>
            <a:r>
              <a:t>Serve a reasonably clear purpose: description, exploration, tabulation, or decoration</a:t>
            </a:r>
          </a:p>
          <a:p>
            <a:pPr lvl="0"/>
            <a:r>
              <a:t>Be closely integrated with the statistical and verbal descriptions of a data set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Summary: variables, descriptives and graphs</a:t>
            </a:r>
          </a:p>
        </p:txBody>
      </p:sp>
      <p:pic>
        <p:nvPicPr>
          <p:cNvPr id="3" name="Picture 1" descr="images/s2_05_slide46_summary.png"/>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Banning bar graphs</a:t>
            </a:r>
          </a:p>
        </p:txBody>
      </p:sp>
      <p:pic>
        <p:nvPicPr>
          <p:cNvPr id="3" name="Picture 1" descr="images/s2_05_slide47_ban-bars.png"/>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Dot plot example</a:t>
            </a:r>
          </a:p>
        </p:txBody>
      </p:sp>
      <p:pic>
        <p:nvPicPr>
          <p:cNvPr id="3" name="Picture 1" descr="images/s2_05_image58.png"/>
          <p:cNvPicPr>
            <a:picLocks noGrp="1" noChangeAspect="1"/>
          </p:cNvPicPr>
          <p:nvPr/>
        </p:nvPicPr>
        <p:blipFill>
          <a:blip r:embed="rId2"/>
          <a:stretch>
            <a:fillRect/>
          </a:stretch>
        </p:blipFill>
        <p:spPr bwMode="auto">
          <a:xfrm>
            <a:off x="3162300" y="1193800"/>
            <a:ext cx="2832100" cy="3390900"/>
          </a:xfrm>
          <a:prstGeom prst="rect">
            <a:avLst/>
          </a:prstGeom>
          <a:noFill/>
          <a:ln w="9525">
            <a:noFill/>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Descriptive statistics / Describing data</a:t>
            </a:r>
          </a:p>
        </p:txBody>
      </p:sp>
      <p:sp>
        <p:nvSpPr>
          <p:cNvPr id="3" name="Content Placeholder 2"/>
          <p:cNvSpPr>
            <a:spLocks noGrp="1"/>
          </p:cNvSpPr>
          <p:nvPr>
            <p:ph idx="1"/>
          </p:nvPr>
        </p:nvSpPr>
        <p:spPr/>
        <p:txBody>
          <a:bodyPr/>
          <a:lstStyle/>
          <a:p>
            <a:pPr lvl="0"/>
            <a:r>
              <a:t>To look slowly at the data</a:t>
            </a:r>
          </a:p>
          <a:p>
            <a:pPr lvl="0"/>
            <a:r>
              <a:t>To discover trends</a:t>
            </a:r>
          </a:p>
          <a:p>
            <a:pPr lvl="0"/>
            <a:r>
              <a:t>To show relationships</a:t>
            </a:r>
          </a:p>
          <a:p>
            <a:pPr marL="0" lvl="0" indent="0">
              <a:buNone/>
            </a:pPr>
            <a:r>
              <a:rPr b="1"/>
              <a:t>To what end?</a:t>
            </a:r>
          </a:p>
          <a:p>
            <a:pPr lvl="0"/>
            <a:r>
              <a:t>To find the best approach to show it</a:t>
            </a:r>
          </a:p>
          <a:p>
            <a:pPr lvl="0"/>
            <a:r>
              <a:t>To increase the comprehension of the data</a:t>
            </a:r>
          </a:p>
          <a:p>
            <a:pPr lvl="0"/>
            <a:r>
              <a:t>To give utility to the data</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Measures of Occurrence, Association and Effect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Measures of occurrence, association and effect</a:t>
            </a:r>
          </a:p>
        </p:txBody>
      </p:sp>
      <p:sp>
        <p:nvSpPr>
          <p:cNvPr id="3" name="Content Placeholder 2"/>
          <p:cNvSpPr>
            <a:spLocks noGrp="1"/>
          </p:cNvSpPr>
          <p:nvPr>
            <p:ph idx="1"/>
          </p:nvPr>
        </p:nvSpPr>
        <p:spPr/>
        <p:txBody>
          <a:bodyPr/>
          <a:lstStyle/>
          <a:p>
            <a:pPr lvl="0"/>
            <a:r>
              <a:t>To describe the occurrence of an event of interest (X)</a:t>
            </a:r>
          </a:p>
          <a:p>
            <a:pPr lvl="0"/>
            <a:r>
              <a:t>When we have two variables (X, Y) there is an interest in their degree of “</a:t>
            </a:r>
            <a:r>
              <a:rPr b="1"/>
              <a:t>association</a:t>
            </a:r>
            <a:r>
              <a:t>”</a:t>
            </a:r>
          </a:p>
          <a:p>
            <a:pPr marL="0" lvl="0" indent="0">
              <a:buNone/>
            </a:pPr>
            <a:r>
              <a:rPr b="1"/>
              <a:t>Measures of occurrence:</a:t>
            </a:r>
            <a:r>
              <a:t> risks, rates, incidence, prevalence</a:t>
            </a:r>
          </a:p>
          <a:p>
            <a:pPr marL="0" lvl="0" indent="0">
              <a:buNone/>
            </a:pPr>
            <a:r>
              <a:rPr b="1"/>
              <a:t>Measures of association:</a:t>
            </a:r>
          </a:p>
          <a:p>
            <a:pPr lvl="0"/>
            <a:r>
              <a:t>Absolute: absolute risk and absolute risk reduction (ARR)</a:t>
            </a:r>
          </a:p>
          <a:p>
            <a:pPr lvl="0"/>
            <a:r>
              <a:t>Relative: odds, relative risk, odds ratio, hazard ratio</a:t>
            </a:r>
          </a:p>
          <a:p>
            <a:pPr lvl="0"/>
            <a:r>
              <a:t>Pearson linear “correlation” coefficient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Risk and basic measures of frequency</a:t>
            </a:r>
          </a:p>
        </p:txBody>
      </p:sp>
      <p:sp>
        <p:nvSpPr>
          <p:cNvPr id="3" name="Content Placeholder 2"/>
          <p:cNvSpPr>
            <a:spLocks noGrp="1"/>
          </p:cNvSpPr>
          <p:nvPr>
            <p:ph idx="1"/>
          </p:nvPr>
        </p:nvSpPr>
        <p:spPr/>
        <p:txBody>
          <a:bodyPr/>
          <a:lstStyle/>
          <a:p>
            <a:pPr marL="0" lvl="0" indent="0">
              <a:buNone/>
            </a:pPr>
            <a:r>
              <a:rPr b="1"/>
              <a:t>Risk:</a:t>
            </a:r>
            <a:r>
              <a:t> probability of an event occurring (illness, death…) — a measure of frequency and a measure of association</a:t>
            </a:r>
          </a:p>
          <a:p>
            <a:pPr marL="0" lvl="0" indent="0">
              <a:buNone/>
            </a:pPr>
            <a:r>
              <a:rPr b="1"/>
              <a:t>Basic measures of frequency</a:t>
            </a:r>
          </a:p>
          <a:p>
            <a:pPr lvl="0"/>
            <a:r>
              <a:t>Incidence (incident or new cases): proportion or rate</a:t>
            </a:r>
          </a:p>
          <a:p>
            <a:pPr lvl="0"/>
            <a:r>
              <a:t>Prevalence (prevalent or existing cases): point or period prevalence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Risk — Incidence</a:t>
            </a:r>
          </a:p>
        </p:txBody>
      </p:sp>
      <p:pic>
        <p:nvPicPr>
          <p:cNvPr id="3" name="Picture 1" descr="images/s2_06_slide04_incidence.png"/>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Risk — Cumulative incidence (CI)</a:t>
            </a:r>
          </a:p>
        </p:txBody>
      </p:sp>
      <p:sp>
        <p:nvSpPr>
          <p:cNvPr id="3" name="Content Placeholder 2"/>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𝐶𝐼</m:t>
                  </m:r>
                  <m:r>
                    <a:rPr>
                      <a:latin typeface="Cambria Math" panose="02040503050406030204" pitchFamily="18" charset="0"/>
                    </a:rPr>
                    <m:t>=</m:t>
                  </m:r>
                  <m:f>
                    <m:fPr>
                      <m:ctrlPr>
                        <a:rPr i="0"/>
                      </m:ctrlPr>
                    </m:fPr>
                    <m:num>
                      <m:r>
                        <m:rPr>
                          <m:nor/>
                        </m:rPr>
                        <a:rPr i="0"/>
                        <m:t>Number of new events</m:t>
                      </m:r>
                    </m:num>
                    <m:den>
                      <m:r>
                        <m:rPr>
                          <m:nor/>
                        </m:rPr>
                        <a:rPr i="0"/>
                        <m:t>Total population at risk</m:t>
                      </m:r>
                    </m:den>
                  </m:f>
                </m:oMath>
              </m:oMathPara>
            </a14:m>
            <a:endParaRPr/>
          </a:p>
          <a:p>
            <a:pPr lvl="0"/>
            <a:r>
              <a:t>It is a proportion (cases / total) — a fraction (%)</a:t>
            </a:r>
          </a:p>
          <a:p>
            <a:pPr lvl="0"/>
            <a:r>
              <a:t>Represents risk (from 0 to 1)</a:t>
            </a:r>
          </a:p>
          <a:p>
            <a:pPr lvl="0"/>
            <a:r>
              <a:t>Requires a </a:t>
            </a:r>
            <a:r>
              <a:rPr b="1"/>
              <a:t>time specification</a:t>
            </a:r>
          </a:p>
          <a:p>
            <a:pPr lvl="0"/>
            <a:r>
              <a:t>It requires defining the “population at risk”</a:t>
            </a:r>
          </a:p>
          <a:p>
            <a:pPr lvl="0"/>
            <a:r>
              <a:t>Absence of losses (complete follow-up)</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Risk — Cumulative incidence: examples and uses</a:t>
            </a:r>
          </a:p>
        </p:txBody>
      </p:sp>
      <p:sp>
        <p:nvSpPr>
          <p:cNvPr id="3" name="Content Placeholder 2"/>
          <p:cNvSpPr>
            <a:spLocks noGrp="1"/>
          </p:cNvSpPr>
          <p:nvPr>
            <p:ph idx="1"/>
          </p:nvPr>
        </p:nvSpPr>
        <p:spPr/>
        <p:txBody>
          <a:bodyPr/>
          <a:lstStyle/>
          <a:p>
            <a:pPr marL="0" lvl="0" indent="0">
              <a:buNone/>
            </a:pPr>
            <a:r>
              <a:rPr b="1"/>
              <a:t>Examples</a:t>
            </a:r>
          </a:p>
          <a:p>
            <a:pPr lvl="0"/>
            <a:r>
              <a:t>5-year mortality of patients diagnosed with lung cancer</a:t>
            </a:r>
          </a:p>
          <a:p>
            <a:pPr lvl="0"/>
            <a:r>
              <a:t>Mortality within 30 days of ICU admission</a:t>
            </a:r>
          </a:p>
          <a:p>
            <a:pPr lvl="0"/>
            <a:r>
              <a:t>10-year incidence of gastric cancer in general practitioners</a:t>
            </a:r>
          </a:p>
          <a:p>
            <a:pPr marL="0" lvl="0" indent="0">
              <a:buNone/>
            </a:pPr>
            <a:r>
              <a:rPr b="1"/>
              <a:t>Uses in health sciences:</a:t>
            </a:r>
            <a:r>
              <a:t> (absolute) risk — fatality, lethality, mortality, 5-year survival…</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Risk — “Rate”</a:t>
            </a:r>
          </a:p>
        </p:txBody>
      </p:sp>
      <p:pic>
        <p:nvPicPr>
          <p:cNvPr id="3" name="Picture 1" descr="images/s2_06_image5.png"/>
          <p:cNvPicPr>
            <a:picLocks noGrp="1" noChangeAspect="1"/>
          </p:cNvPicPr>
          <p:nvPr/>
        </p:nvPicPr>
        <p:blipFill>
          <a:blip r:embed="rId2"/>
          <a:stretch>
            <a:fillRect/>
          </a:stretch>
        </p:blipFill>
        <p:spPr bwMode="auto">
          <a:xfrm>
            <a:off x="2565400" y="1193800"/>
            <a:ext cx="40259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It is a measure of “how fast something happens”: 1 hour, 60 km → average rate = 60 km/h</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Risk — Incidence rate (IR)</a:t>
            </a:r>
          </a:p>
        </p:txBody>
      </p:sp>
      <p:sp>
        <p:nvSpPr>
          <p:cNvPr id="3" name="Content Placeholder 2"/>
          <p:cNvSpPr>
            <a:spLocks noGrp="1"/>
          </p:cNvSpPr>
          <p:nvPr>
            <p:ph idx="1"/>
          </p:nvPr>
        </p:nvSpPr>
        <p:spPr/>
        <p:txBody>
          <a:bodyPr/>
          <a:lstStyle/>
          <a:p>
            <a:pPr lvl="0"/>
            <a:r>
              <a:t>Incidence rate (velocity), event rate</a:t>
            </a:r>
          </a:p>
          <a:p>
            <a:pPr lvl="0"/>
            <a:r>
              <a:t>It is a density — NOT a ratio or proportion</a:t>
            </a:r>
          </a:p>
          <a:p>
            <a:pPr lvl="0"/>
            <a:r>
              <a:t>Allows risk estimation only indirectly</a:t>
            </a:r>
          </a:p>
          <a:p>
            <a:pPr marL="0" lvl="0" indent="0">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𝐼𝑅</m:t>
                  </m:r>
                  <m:r>
                    <a:rPr>
                      <a:latin typeface="Cambria Math" panose="02040503050406030204" pitchFamily="18" charset="0"/>
                    </a:rPr>
                    <m:t>=</m:t>
                  </m:r>
                  <m:f>
                    <m:fPr>
                      <m:ctrlPr>
                        <a:rPr i="0"/>
                      </m:ctrlPr>
                    </m:fPr>
                    <m:num>
                      <m:r>
                        <m:rPr>
                          <m:nor/>
                        </m:rPr>
                        <a:rPr i="0"/>
                        <m:t>Number of new events</m:t>
                      </m:r>
                    </m:num>
                    <m:den>
                      <m:r>
                        <m:rPr>
                          <m:nor/>
                        </m:rPr>
                        <a:rPr i="0"/>
                        <m:t>Person−time free of the event</m:t>
                      </m:r>
                    </m:den>
                  </m:f>
                </m:oMath>
              </m:oMathPara>
            </a14:m>
            <a:endParaRPr/>
          </a:p>
          <a:p>
            <a:pPr marL="0" lvl="0" indent="0">
              <a:buNone/>
            </a:pPr>
            <a:r>
              <a:rPr i="1"/>
              <a:t>Definition: number of subjects presenting the event per unit of subject-follow-up time at risk of the particular event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CI versus IR</a:t>
            </a:r>
          </a:p>
        </p:txBody>
      </p:sp>
      <p:pic>
        <p:nvPicPr>
          <p:cNvPr id="3" name="Picture 1" descr="images/s2_06_slide10_ci-ir.png"/>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CI versus IR — calculation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t>Cumulative incidence (CI)</a:t>
                      </a:r>
                    </a:p>
                  </a:txBody>
                  <a:tcPr/>
                </a:tc>
                <a:tc>
                  <a:txBody>
                    <a:bodyPr/>
                    <a:lstStyle/>
                    <a:p>
                      <a:pPr marL="0" lvl="0" indent="0">
                        <a:buNone/>
                      </a:pPr>
                      <a:r>
                        <a:t>Incidence rate (IR)</a:t>
                      </a:r>
                    </a:p>
                  </a:txBody>
                  <a:tcPr/>
                </a:tc>
                <a:extLst>
                  <a:ext uri="{0D108BD9-81ED-4DB2-BD59-A6C34878D82A}">
                    <a16:rowId xmlns:a16="http://schemas.microsoft.com/office/drawing/2014/main" val="10000"/>
                  </a:ext>
                </a:extLst>
              </a:tr>
              <a:tr h="0">
                <a:tc>
                  <a:txBody>
                    <a:bodyPr/>
                    <a:lstStyle/>
                    <a:p>
                      <a:pPr marL="0" lvl="0" indent="0">
                        <a:buNone/>
                      </a:pPr>
                      <a:r>
                        <a:t>CI = 2 / 5 = 0.4</a:t>
                      </a:r>
                    </a:p>
                  </a:txBody>
                  <a:tcPr/>
                </a:tc>
                <a:tc>
                  <a:txBody>
                    <a:bodyPr/>
                    <a:lstStyle/>
                    <a:p>
                      <a:pPr marL="0" lvl="0" indent="0">
                        <a:buNone/>
                      </a:pPr>
                      <a:r>
                        <a:t>IR = 2 / (3 + 0.5 + 0.5) = 2 / 4</a:t>
                      </a:r>
                    </a:p>
                  </a:txBody>
                  <a:tcPr/>
                </a:tc>
                <a:extLst>
                  <a:ext uri="{0D108BD9-81ED-4DB2-BD59-A6C34878D82A}">
                    <a16:rowId xmlns:a16="http://schemas.microsoft.com/office/drawing/2014/main" val="10001"/>
                  </a:ext>
                </a:extLst>
              </a:tr>
              <a:tr h="0">
                <a:tc>
                  <a:txBody>
                    <a:bodyPr/>
                    <a:lstStyle/>
                    <a:p>
                      <a:pPr marL="0" lvl="0" indent="0">
                        <a:buNone/>
                      </a:pPr>
                      <a:r>
                        <a:t>Cumulative incidence of AMI at 1 year is 40%</a:t>
                      </a:r>
                    </a:p>
                  </a:txBody>
                  <a:tcPr/>
                </a:tc>
                <a:tc>
                  <a:txBody>
                    <a:bodyPr/>
                    <a:lstStyle/>
                    <a:p>
                      <a:pPr marL="0" lvl="0" indent="0">
                        <a:buNone/>
                      </a:pPr>
                      <a:r>
                        <a:t>Incidence rate of 0.5 per person-year (5 per 10 person-years)</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IR (incidence rate) — example</a:t>
            </a:r>
          </a:p>
        </p:txBody>
      </p:sp>
      <p:sp>
        <p:nvSpPr>
          <p:cNvPr id="3" name="Content Placeholder 2"/>
          <p:cNvSpPr>
            <a:spLocks noGrp="1"/>
          </p:cNvSpPr>
          <p:nvPr>
            <p:ph idx="1"/>
          </p:nvPr>
        </p:nvSpPr>
        <p:spPr/>
        <p:txBody>
          <a:bodyPr/>
          <a:lstStyle/>
          <a:p>
            <a:pPr marL="0" lvl="0" indent="0">
              <a:buNone/>
            </a:pPr>
            <a:r>
              <a:rPr b="1"/>
              <a:t>5 new cases per 10 person-years</a:t>
            </a:r>
          </a:p>
          <a:p>
            <a:pPr marL="0" lvl="0" indent="0">
              <a:buNone/>
            </a:pPr>
            <a:r>
              <a:t>Interpretation:</a:t>
            </a:r>
          </a:p>
          <a:p>
            <a:pPr lvl="0"/>
            <a:r>
              <a:t>On average, 5 new cases occur for every 10 years of observation in a cohort of disease-free subjects</a:t>
            </a:r>
          </a:p>
          <a:p>
            <a:pPr lvl="0"/>
            <a:r>
              <a:t>Its interpretation is not easy to use for the prediction of risk at the individual level</a:t>
            </a:r>
          </a:p>
          <a:p>
            <a:pPr lvl="0"/>
            <a:r>
              <a:t>It becomes useful at the population level or in research</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Risk vs Rate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t>Cumulative incidence</a:t>
                      </a:r>
                    </a:p>
                  </a:txBody>
                  <a:tcPr/>
                </a:tc>
                <a:tc>
                  <a:txBody>
                    <a:bodyPr/>
                    <a:lstStyle/>
                    <a:p>
                      <a:pPr marL="0" lvl="0" indent="0">
                        <a:buNone/>
                      </a:pPr>
                      <a:r>
                        <a:t>Incidence rate</a:t>
                      </a:r>
                    </a:p>
                  </a:txBody>
                  <a:tcPr/>
                </a:tc>
                <a:extLst>
                  <a:ext uri="{0D108BD9-81ED-4DB2-BD59-A6C34878D82A}">
                    <a16:rowId xmlns:a16="http://schemas.microsoft.com/office/drawing/2014/main" val="10000"/>
                  </a:ext>
                </a:extLst>
              </a:tr>
              <a:tr h="0">
                <a:tc>
                  <a:txBody>
                    <a:bodyPr/>
                    <a:lstStyle/>
                    <a:p>
                      <a:pPr marL="0" lvl="0" indent="0">
                        <a:buNone/>
                      </a:pPr>
                      <a:r>
                        <a:t>Proportion (0 – 1)</a:t>
                      </a:r>
                    </a:p>
                  </a:txBody>
                  <a:tcPr/>
                </a:tc>
                <a:tc>
                  <a:txBody>
                    <a:bodyPr/>
                    <a:lstStyle/>
                    <a:p>
                      <a:pPr marL="0" lvl="0" indent="0">
                        <a:buNone/>
                      </a:pPr>
                      <a:r>
                        <a:t>Describes how quickly new events occur in a population</a:t>
                      </a:r>
                    </a:p>
                  </a:txBody>
                  <a:tcPr/>
                </a:tc>
                <a:extLst>
                  <a:ext uri="{0D108BD9-81ED-4DB2-BD59-A6C34878D82A}">
                    <a16:rowId xmlns:a16="http://schemas.microsoft.com/office/drawing/2014/main" val="10001"/>
                  </a:ext>
                </a:extLst>
              </a:tr>
              <a:tr h="0">
                <a:tc>
                  <a:txBody>
                    <a:bodyPr/>
                    <a:lstStyle/>
                    <a:p>
                      <a:pPr marL="0" lvl="0" indent="0">
                        <a:buNone/>
                      </a:pPr>
                      <a:r>
                        <a:t>Probability that an individual will develop the disease in a certain time</a:t>
                      </a:r>
                    </a:p>
                  </a:txBody>
                  <a:tcPr/>
                </a:tc>
                <a:tc>
                  <a:txBody>
                    <a:bodyPr/>
                    <a:lstStyle/>
                    <a:p>
                      <a:pPr marL="0" lvl="0" indent="0">
                        <a:buNone/>
                      </a:pPr>
                      <a:r>
                        <a:t>Useful in etiological comparisons (causality)</a:t>
                      </a:r>
                    </a:p>
                  </a:txBody>
                  <a:tcPr/>
                </a:tc>
                <a:extLst>
                  <a:ext uri="{0D108BD9-81ED-4DB2-BD59-A6C34878D82A}">
                    <a16:rowId xmlns:a16="http://schemas.microsoft.com/office/drawing/2014/main" val="10002"/>
                  </a:ext>
                </a:extLst>
              </a:tr>
              <a:tr h="0">
                <a:tc>
                  <a:txBody>
                    <a:bodyPr/>
                    <a:lstStyle/>
                    <a:p>
                      <a:pPr marL="0" lvl="0" indent="0">
                        <a:buNone/>
                      </a:pPr>
                      <a:r>
                        <a:t>Used for individual prognosis</a:t>
                      </a:r>
                    </a:p>
                  </a:txBody>
                  <a:tcPr/>
                </a:tc>
                <a:tc>
                  <a:txBody>
                    <a:bodyPr/>
                    <a:lstStyle/>
                    <a:p>
                      <a:pPr marL="0" lvl="0" indent="0">
                        <a:buNone/>
                      </a:pPr>
                      <a:r>
                        <a:t>Low use at the individual level</a:t>
                      </a:r>
                    </a:p>
                  </a:txBody>
                  <a:tcPr/>
                </a:tc>
                <a:extLst>
                  <a:ext uri="{0D108BD9-81ED-4DB2-BD59-A6C34878D82A}">
                    <a16:rowId xmlns:a16="http://schemas.microsoft.com/office/drawing/2014/main" val="10003"/>
                  </a:ext>
                </a:extLst>
              </a:tr>
              <a:tr h="0">
                <a:tc>
                  <a:txBody>
                    <a:bodyPr/>
                    <a:lstStyle/>
                    <a:p>
                      <a:pPr marL="0" lvl="0" indent="0">
                        <a:buNone/>
                      </a:pPr>
                      <a:r>
                        <a:t>Does not take into account situations such as loss to follow-up or competing risks</a:t>
                      </a:r>
                    </a:p>
                  </a:txBody>
                  <a:tcPr/>
                </a:tc>
                <a:tc>
                  <a:txBody>
                    <a:bodyPr/>
                    <a:lstStyle/>
                    <a:p>
                      <a:pPr marL="0" lvl="0" indent="0">
                        <a:buNone/>
                      </a:pPr>
                      <a:r>
                        <a:t>Can handle situations such as loss to follow-up or competing risks</a:t>
                      </a:r>
                    </a:p>
                  </a:txBody>
                  <a:tcPr/>
                </a:tc>
                <a:extLst>
                  <a:ext uri="{0D108BD9-81ED-4DB2-BD59-A6C34878D82A}">
                    <a16:rowId xmlns:a16="http://schemas.microsoft.com/office/drawing/2014/main" val="10004"/>
                  </a:ext>
                </a:extLst>
              </a:tr>
              <a:tr h="0">
                <a:tc>
                  <a:txBody>
                    <a:bodyPr/>
                    <a:lstStyle/>
                    <a:p>
                      <a:pPr marL="0" lvl="0" indent="0">
                        <a:buNone/>
                      </a:pPr>
                      <a:r>
                        <a:t>Easy to quantify in small populations without major losses</a:t>
                      </a:r>
                    </a:p>
                  </a:txBody>
                  <a:tcPr/>
                </a:tc>
                <a:tc>
                  <a:txBody>
                    <a:bodyPr/>
                    <a:lstStyle/>
                    <a:p>
                      <a:pPr marL="0" lvl="0" indent="0">
                        <a:buNone/>
                      </a:pPr>
                      <a:r>
                        <a:t>Can be calculated in large populations or with losses during follow-up</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Mortality</a:t>
            </a:r>
          </a:p>
        </p:txBody>
      </p:sp>
      <p:sp>
        <p:nvSpPr>
          <p:cNvPr id="3" name="Content Placeholder 2"/>
          <p:cNvSpPr>
            <a:spLocks noGrp="1"/>
          </p:cNvSpPr>
          <p:nvPr>
            <p:ph idx="1"/>
          </p:nvPr>
        </p:nvSpPr>
        <p:spPr/>
        <p:txBody>
          <a:bodyPr/>
          <a:lstStyle/>
          <a:p>
            <a:pPr lvl="0"/>
            <a:r>
              <a:t>It can be expressed as cumulative incidence (proportion) or as a rate</a:t>
            </a:r>
          </a:p>
          <a:p>
            <a:pPr lvl="0"/>
            <a:r>
              <a:t>Classification as a rate is used in vital statistics</a:t>
            </a:r>
          </a:p>
          <a:p>
            <a:pPr marL="0" lvl="0" indent="0">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𝑀𝑅</m:t>
                  </m:r>
                  <m:r>
                    <a:rPr>
                      <a:latin typeface="Cambria Math" panose="02040503050406030204" pitchFamily="18" charset="0"/>
                    </a:rPr>
                    <m:t>=</m:t>
                  </m:r>
                  <m:f>
                    <m:fPr>
                      <m:ctrlPr>
                        <a:rPr i="0"/>
                      </m:ctrlPr>
                    </m:fPr>
                    <m:num>
                      <m:r>
                        <m:rPr>
                          <m:nor/>
                        </m:rPr>
                        <a:rPr i="0"/>
                        <m:t>All−cause deaths</m:t>
                      </m:r>
                    </m:num>
                    <m:den>
                      <m:sSup>
                        <m:sSupPr>
                          <m:ctrlPr>
                            <a:rPr i="0"/>
                          </m:ctrlPr>
                        </m:sSupPr>
                        <m:e>
                          <m:r>
                            <m:rPr>
                              <m:nor/>
                            </m:rPr>
                            <a:rPr i="0"/>
                            <m:t>Population at risk</m:t>
                          </m:r>
                        </m:e>
                        <m:sup>
                          <m:r>
                            <a:rPr>
                              <a:latin typeface="Cambria Math" panose="02040503050406030204" pitchFamily="18" charset="0"/>
                            </a:rPr>
                            <m:t>∗</m:t>
                          </m:r>
                        </m:sup>
                      </m:sSup>
                    </m:den>
                  </m:f>
                  <m:r>
                    <a:rPr>
                      <a:latin typeface="Cambria Math" panose="02040503050406030204" pitchFamily="18" charset="0"/>
                    </a:rPr>
                    <m:t>×100,000</m:t>
                  </m:r>
                </m:oMath>
              </m:oMathPara>
            </a14:m>
            <a:endParaRPr/>
          </a:p>
          <a:p>
            <a:pPr marL="0" lvl="0" indent="0">
              <a:buNone/>
            </a:pPr>
            <a:r>
              <a:t>MR: mortality rate, with deaths and population at risk measured over the same period</a:t>
            </a:r>
          </a:p>
          <a:p>
            <a:pPr marL="0" lvl="0" indent="0">
              <a:buNone/>
            </a:pPr>
            <a:r>
              <a:rPr i="1"/>
              <a:t>*Population at risk at the middle of the period (year)</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Risk — Prevalence</a:t>
            </a:r>
          </a:p>
        </p:txBody>
      </p:sp>
      <p:sp>
        <p:nvSpPr>
          <p:cNvPr id="3" name="Content Placeholder 2"/>
          <p:cNvSpPr>
            <a:spLocks noGrp="1"/>
          </p:cNvSpPr>
          <p:nvPr>
            <p:ph idx="1"/>
          </p:nvPr>
        </p:nvSpPr>
        <p:spPr/>
        <p:txBody>
          <a:bodyPr/>
          <a:lstStyle/>
          <a:p>
            <a:pPr lvl="0"/>
            <a:r>
              <a:t>Existing cases / total population</a:t>
            </a:r>
          </a:p>
          <a:p>
            <a:pPr lvl="0"/>
            <a:r>
              <a:t>Cases that are present</a:t>
            </a:r>
          </a:p>
          <a:p>
            <a:pPr lvl="0"/>
            <a:r>
              <a:t>Proportion (%), ranges from 0 to 1</a:t>
            </a:r>
          </a:p>
          <a:p>
            <a:pPr lvl="0"/>
            <a:r>
              <a:t>Point or period</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Point prevalence</a:t>
            </a:r>
          </a:p>
        </p:txBody>
      </p:sp>
      <p:pic>
        <p:nvPicPr>
          <p:cNvPr id="3" name="Picture 1" descr="images/s2_06_slide16_point-prev.png"/>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Period prevalence</a:t>
            </a:r>
          </a:p>
        </p:txBody>
      </p:sp>
      <p:pic>
        <p:nvPicPr>
          <p:cNvPr id="3" name="Picture 1" descr="images/s2_06_slide17_period-prev.png"/>
          <p:cNvPicPr>
            <a:picLocks noGrp="1" noChangeAspect="1"/>
          </p:cNvPicPr>
          <p:nvPr/>
        </p:nvPicPr>
        <p:blipFill>
          <a:blip r:embed="rId2"/>
          <a:stretch>
            <a:fillRect/>
          </a:stretch>
        </p:blipFill>
        <p:spPr bwMode="auto">
          <a:xfrm>
            <a:off x="2108200" y="1193800"/>
            <a:ext cx="49276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Period prevalence (years 1 to 4): P(per) = 4/9 = 44%</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Point / Period</a:t>
            </a:r>
          </a:p>
        </p:txBody>
      </p:sp>
      <p:sp>
        <p:nvSpPr>
          <p:cNvPr id="3" name="Content Placeholder 2"/>
          <p:cNvSpPr>
            <a:spLocks noGrp="1"/>
          </p:cNvSpPr>
          <p:nvPr>
            <p:ph idx="1"/>
          </p:nvPr>
        </p:nvSpPr>
        <p:spPr/>
        <p:txBody>
          <a:bodyPr/>
          <a:lstStyle/>
          <a:p>
            <a:pPr marL="0" lvl="0" indent="0">
              <a:buNone/>
            </a:pPr>
            <a:r>
              <a:rPr b="1"/>
              <a:t>Point prevalence:</a:t>
            </a:r>
            <a:r>
              <a:t> proportion of people experiencing the clinical event (case) at a given point in time. It is a cut at a given moment, in which the CASES are counted.</a:t>
            </a:r>
          </a:p>
          <a:p>
            <a:pPr marL="0" lvl="0" indent="0">
              <a:buNone/>
            </a:pPr>
            <a:r>
              <a:rPr b="1"/>
              <a:t>Period prevalence:</a:t>
            </a:r>
            <a:r>
              <a:t> proportion of cases. It includes those who fell ill in previous periods and who are still CASES (existing and new). Each person represented in the numerator had the disease at some point during the specified period.</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Prevalence and incidence relationship</a:t>
            </a:r>
          </a:p>
        </p:txBody>
      </p:sp>
      <p:sp>
        <p:nvSpPr>
          <p:cNvPr id="3" name="Content Placeholder 2"/>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m:r>
                    <m:rPr>
                      <m:nor/>
                    </m:rPr>
                    <a:rPr i="0"/>
                    <m:t>Prevalence</m:t>
                  </m:r>
                  <m:r>
                    <a:rPr>
                      <a:latin typeface="Cambria Math" panose="02040503050406030204" pitchFamily="18" charset="0"/>
                    </a:rPr>
                    <m:t>=</m:t>
                  </m:r>
                  <m:r>
                    <a:rPr>
                      <a:latin typeface="Cambria Math" panose="02040503050406030204" pitchFamily="18" charset="0"/>
                    </a:rPr>
                    <m:t>𝐼𝑅</m:t>
                  </m:r>
                  <m:r>
                    <a:rPr>
                      <a:latin typeface="Cambria Math" panose="02040503050406030204" pitchFamily="18" charset="0"/>
                    </a:rPr>
                    <m:t>×</m:t>
                  </m:r>
                  <m:r>
                    <m:rPr>
                      <m:nor/>
                    </m:rPr>
                    <a:rPr i="0"/>
                    <m:t>duration of the disease</m:t>
                  </m:r>
                </m:oMath>
              </m:oMathPara>
            </a14:m>
            <a:endParaRPr/>
          </a:p>
          <a:p>
            <a:pPr marL="0" lvl="0" indent="0">
              <a:buNone/>
            </a:pPr>
            <a:r>
              <a:rPr i="1"/>
              <a:t>*Only useful in cases of low IR</a:t>
            </a:r>
          </a:p>
          <a:p>
            <a:pPr marL="0" lvl="0" indent="0">
              <a:buNone/>
            </a:pPr>
            <a:r>
              <a:t>Prevalence depends on INCIDENCE</a:t>
            </a:r>
          </a:p>
          <a:p>
            <a:pPr lvl="0"/>
            <a:r>
              <a:t>A high incidence produces a high prevalence if the duration of cases does not change</a:t>
            </a:r>
          </a:p>
          <a:p>
            <a:pPr lvl="0"/>
            <a:r>
              <a:t>Prevalence depends on the DURATION of the disease (recovered, dead, migrated)</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Incidence, prevalence and outflow</a:t>
            </a:r>
          </a:p>
        </p:txBody>
      </p:sp>
      <p:pic>
        <p:nvPicPr>
          <p:cNvPr id="3" name="Picture 1" descr="images/s2_06_slide20_bathtub.png"/>
          <p:cNvPicPr>
            <a:picLocks noGrp="1" noChangeAspect="1"/>
          </p:cNvPicPr>
          <p:nvPr/>
        </p:nvPicPr>
        <p:blipFill>
          <a:blip r:embed="rId2"/>
          <a:stretch>
            <a:fillRect/>
          </a:stretch>
        </p:blipFill>
        <p:spPr bwMode="auto">
          <a:xfrm>
            <a:off x="2527300" y="1193800"/>
            <a:ext cx="40894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Gordis. Epidemiology, 4th Edition. Relationship between incidence and prevalence.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2 × 2 table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endParaRPr/>
                    </a:p>
                  </a:txBody>
                  <a:tcPr/>
                </a:tc>
                <a:tc>
                  <a:txBody>
                    <a:bodyPr/>
                    <a:lstStyle/>
                    <a:p>
                      <a:pPr marL="0" lvl="0" indent="0" algn="r">
                        <a:buNone/>
                      </a:pPr>
                      <a:r>
                        <a:t>Outcome: Yes</a:t>
                      </a:r>
                    </a:p>
                  </a:txBody>
                  <a:tcPr/>
                </a:tc>
                <a:tc>
                  <a:txBody>
                    <a:bodyPr/>
                    <a:lstStyle/>
                    <a:p>
                      <a:pPr marL="0" lvl="0" indent="0" algn="r">
                        <a:buNone/>
                      </a:pPr>
                      <a:r>
                        <a:t>Outcome: No</a:t>
                      </a:r>
                    </a:p>
                  </a:txBody>
                  <a:tcPr/>
                </a:tc>
                <a:tc>
                  <a:txBody>
                    <a:bodyPr/>
                    <a:lstStyle/>
                    <a:p>
                      <a:pPr marL="0" lvl="0" indent="0" algn="r">
                        <a:buNone/>
                      </a:pPr>
                      <a:r>
                        <a:t>Total</a:t>
                      </a:r>
                    </a:p>
                  </a:txBody>
                  <a:tcPr/>
                </a:tc>
                <a:extLst>
                  <a:ext uri="{0D108BD9-81ED-4DB2-BD59-A6C34878D82A}">
                    <a16:rowId xmlns:a16="http://schemas.microsoft.com/office/drawing/2014/main" val="10000"/>
                  </a:ext>
                </a:extLst>
              </a:tr>
              <a:tr h="0">
                <a:tc>
                  <a:txBody>
                    <a:bodyPr/>
                    <a:lstStyle/>
                    <a:p>
                      <a:pPr marL="0" lvl="0" indent="0">
                        <a:buNone/>
                      </a:pPr>
                      <a:r>
                        <a:rPr b="1"/>
                        <a:t>Exposed</a:t>
                      </a:r>
                    </a:p>
                  </a:txBody>
                  <a:tcPr/>
                </a:tc>
                <a:tc>
                  <a:txBody>
                    <a:bodyPr/>
                    <a:lstStyle/>
                    <a:p>
                      <a:pPr marL="0" lvl="0" indent="0" algn="r">
                        <a:buNone/>
                      </a:pPr>
                      <a:r>
                        <a:t>a</a:t>
                      </a:r>
                    </a:p>
                  </a:txBody>
                  <a:tcPr/>
                </a:tc>
                <a:tc>
                  <a:txBody>
                    <a:bodyPr/>
                    <a:lstStyle/>
                    <a:p>
                      <a:pPr marL="0" lvl="0" indent="0" algn="r">
                        <a:buNone/>
                      </a:pPr>
                      <a:r>
                        <a:t>b</a:t>
                      </a:r>
                    </a:p>
                  </a:txBody>
                  <a:tcPr/>
                </a:tc>
                <a:tc>
                  <a:txBody>
                    <a:bodyPr/>
                    <a:lstStyle/>
                    <a:p>
                      <a:pPr marL="0" lvl="0" indent="0" algn="r">
                        <a:buNone/>
                      </a:pPr>
                      <a:r>
                        <a:t>a+b</a:t>
                      </a:r>
                    </a:p>
                  </a:txBody>
                  <a:tcPr/>
                </a:tc>
                <a:extLst>
                  <a:ext uri="{0D108BD9-81ED-4DB2-BD59-A6C34878D82A}">
                    <a16:rowId xmlns:a16="http://schemas.microsoft.com/office/drawing/2014/main" val="10001"/>
                  </a:ext>
                </a:extLst>
              </a:tr>
              <a:tr h="0">
                <a:tc>
                  <a:txBody>
                    <a:bodyPr/>
                    <a:lstStyle/>
                    <a:p>
                      <a:pPr marL="0" lvl="0" indent="0">
                        <a:buNone/>
                      </a:pPr>
                      <a:r>
                        <a:rPr b="1"/>
                        <a:t>Non exposed</a:t>
                      </a:r>
                    </a:p>
                  </a:txBody>
                  <a:tcPr/>
                </a:tc>
                <a:tc>
                  <a:txBody>
                    <a:bodyPr/>
                    <a:lstStyle/>
                    <a:p>
                      <a:pPr marL="0" lvl="0" indent="0" algn="r">
                        <a:buNone/>
                      </a:pPr>
                      <a:r>
                        <a:t>c</a:t>
                      </a:r>
                    </a:p>
                  </a:txBody>
                  <a:tcPr/>
                </a:tc>
                <a:tc>
                  <a:txBody>
                    <a:bodyPr/>
                    <a:lstStyle/>
                    <a:p>
                      <a:pPr marL="0" lvl="0" indent="0" algn="r">
                        <a:buNone/>
                      </a:pPr>
                      <a:r>
                        <a:t>d</a:t>
                      </a:r>
                    </a:p>
                  </a:txBody>
                  <a:tcPr/>
                </a:tc>
                <a:tc>
                  <a:txBody>
                    <a:bodyPr/>
                    <a:lstStyle/>
                    <a:p>
                      <a:pPr marL="0" lvl="0" indent="0" algn="r">
                        <a:buNone/>
                      </a:pPr>
                      <a:r>
                        <a:t>c+d</a:t>
                      </a:r>
                    </a:p>
                  </a:txBody>
                  <a:tcPr/>
                </a:tc>
                <a:extLst>
                  <a:ext uri="{0D108BD9-81ED-4DB2-BD59-A6C34878D82A}">
                    <a16:rowId xmlns:a16="http://schemas.microsoft.com/office/drawing/2014/main" val="10002"/>
                  </a:ext>
                </a:extLst>
              </a:tr>
              <a:tr h="0">
                <a:tc>
                  <a:txBody>
                    <a:bodyPr/>
                    <a:lstStyle/>
                    <a:p>
                      <a:pPr marL="0" lvl="0" indent="0">
                        <a:buNone/>
                      </a:pPr>
                      <a:r>
                        <a:rPr b="1"/>
                        <a:t>Total</a:t>
                      </a:r>
                    </a:p>
                  </a:txBody>
                  <a:tcPr/>
                </a:tc>
                <a:tc>
                  <a:txBody>
                    <a:bodyPr/>
                    <a:lstStyle/>
                    <a:p>
                      <a:pPr marL="0" lvl="0" indent="0" algn="r">
                        <a:buNone/>
                      </a:pPr>
                      <a:r>
                        <a:t>a+c</a:t>
                      </a:r>
                    </a:p>
                  </a:txBody>
                  <a:tcPr/>
                </a:tc>
                <a:tc>
                  <a:txBody>
                    <a:bodyPr/>
                    <a:lstStyle/>
                    <a:p>
                      <a:pPr marL="0" lvl="0" indent="0" algn="r">
                        <a:buNone/>
                      </a:pPr>
                      <a:r>
                        <a:t>b+d</a:t>
                      </a:r>
                    </a:p>
                  </a:txBody>
                  <a:tcPr/>
                </a:tc>
                <a:tc>
                  <a:txBody>
                    <a:bodyPr/>
                    <a:lstStyle/>
                    <a:p>
                      <a:pPr marL="0" lvl="0" indent="0" algn="r">
                        <a:buNone/>
                      </a:pPr>
                      <a:r>
                        <a:t>a+b+c+d</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2 × 2 table — frequency measures</a:t>
            </a:r>
          </a:p>
        </p:txBody>
      </p:sp>
      <p:sp>
        <p:nvSpPr>
          <p:cNvPr id="3" name="Content Placeholder 2"/>
          <p:cNvSpPr>
            <a:spLocks noGrp="1"/>
          </p:cNvSpPr>
          <p:nvPr>
            <p:ph idx="1"/>
          </p:nvPr>
        </p:nvSpPr>
        <p:spPr/>
        <p:txBody>
          <a:bodyPr/>
          <a:lstStyle/>
          <a:p>
            <a:pPr marL="0" lvl="0" indent="0">
              <a:buNone/>
            </a:pPr>
            <a:r>
              <a:t>Frequency measurements can be extracted:</a:t>
            </a:r>
          </a:p>
          <a:p>
            <a:pPr lvl="0"/>
            <a:r>
              <a:t>CI (exp) = a / (a+b)</a:t>
            </a:r>
          </a:p>
          <a:p>
            <a:pPr lvl="0"/>
            <a:r>
              <a:t>CI (non exp) = c / (c+d)</a:t>
            </a:r>
          </a:p>
          <a:p>
            <a:pPr lvl="0"/>
            <a:r>
              <a:t>CI = (a+c) / (a+b+c+d)</a:t>
            </a:r>
          </a:p>
          <a:p>
            <a:pPr lvl="0"/>
            <a:r>
              <a:t>Prevalence = (a+c) / (a+b+c+d)</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Absolute association measures</a:t>
            </a:r>
          </a:p>
        </p:txBody>
      </p:sp>
      <p:pic>
        <p:nvPicPr>
          <p:cNvPr id="3" name="Picture 1" descr="images/s2_06_slide22_absolute.png"/>
          <p:cNvPicPr>
            <a:picLocks noGrp="1" noChangeAspect="1"/>
          </p:cNvPicPr>
          <p:nvPr/>
        </p:nvPicPr>
        <p:blipFill>
          <a:blip r:embed="rId2"/>
          <a:stretch>
            <a:fillRect/>
          </a:stretch>
        </p:blipFill>
        <p:spPr bwMode="auto">
          <a:xfrm>
            <a:off x="1676400" y="1193800"/>
            <a:ext cx="5791200" cy="3390900"/>
          </a:xfrm>
          <a:prstGeom prst="rect">
            <a:avLst/>
          </a:prstGeom>
          <a:noFill/>
          <a:ln w="9525">
            <a:noFill/>
            <a:headEnd/>
            <a:tailEnd/>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Relative association measures: relative risk / CIR</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endParaRPr/>
                    </a:p>
                  </a:txBody>
                  <a:tcPr/>
                </a:tc>
                <a:tc>
                  <a:txBody>
                    <a:bodyPr/>
                    <a:lstStyle/>
                    <a:p>
                      <a:pPr marL="0" lvl="0" indent="0" algn="r">
                        <a:buNone/>
                      </a:pPr>
                      <a:r>
                        <a:t>Outcome: Yes</a:t>
                      </a:r>
                    </a:p>
                  </a:txBody>
                  <a:tcPr/>
                </a:tc>
                <a:tc>
                  <a:txBody>
                    <a:bodyPr/>
                    <a:lstStyle/>
                    <a:p>
                      <a:pPr marL="0" lvl="0" indent="0" algn="r">
                        <a:buNone/>
                      </a:pPr>
                      <a:r>
                        <a:t>Outcome: No</a:t>
                      </a:r>
                    </a:p>
                  </a:txBody>
                  <a:tcPr/>
                </a:tc>
                <a:tc>
                  <a:txBody>
                    <a:bodyPr/>
                    <a:lstStyle/>
                    <a:p>
                      <a:pPr marL="0" lvl="0" indent="0" algn="r">
                        <a:buNone/>
                      </a:pPr>
                      <a:r>
                        <a:t>Total</a:t>
                      </a:r>
                    </a:p>
                  </a:txBody>
                  <a:tcPr/>
                </a:tc>
                <a:extLst>
                  <a:ext uri="{0D108BD9-81ED-4DB2-BD59-A6C34878D82A}">
                    <a16:rowId xmlns:a16="http://schemas.microsoft.com/office/drawing/2014/main" val="10000"/>
                  </a:ext>
                </a:extLst>
              </a:tr>
              <a:tr h="0">
                <a:tc>
                  <a:txBody>
                    <a:bodyPr/>
                    <a:lstStyle/>
                    <a:p>
                      <a:pPr marL="0" lvl="0" indent="0">
                        <a:buNone/>
                      </a:pPr>
                      <a:r>
                        <a:rPr b="1"/>
                        <a:t>Exposed</a:t>
                      </a:r>
                    </a:p>
                  </a:txBody>
                  <a:tcPr/>
                </a:tc>
                <a:tc>
                  <a:txBody>
                    <a:bodyPr/>
                    <a:lstStyle/>
                    <a:p>
                      <a:pPr marL="0" lvl="0" indent="0" algn="r">
                        <a:buNone/>
                      </a:pPr>
                      <a:r>
                        <a:t>a</a:t>
                      </a:r>
                    </a:p>
                  </a:txBody>
                  <a:tcPr/>
                </a:tc>
                <a:tc>
                  <a:txBody>
                    <a:bodyPr/>
                    <a:lstStyle/>
                    <a:p>
                      <a:pPr marL="0" lvl="0" indent="0" algn="r">
                        <a:buNone/>
                      </a:pPr>
                      <a:r>
                        <a:t>b</a:t>
                      </a:r>
                    </a:p>
                  </a:txBody>
                  <a:tcPr/>
                </a:tc>
                <a:tc>
                  <a:txBody>
                    <a:bodyPr/>
                    <a:lstStyle/>
                    <a:p>
                      <a:pPr marL="0" lvl="0" indent="0" algn="r">
                        <a:buNone/>
                      </a:pPr>
                      <a:r>
                        <a:t>a+b</a:t>
                      </a:r>
                    </a:p>
                  </a:txBody>
                  <a:tcPr/>
                </a:tc>
                <a:extLst>
                  <a:ext uri="{0D108BD9-81ED-4DB2-BD59-A6C34878D82A}">
                    <a16:rowId xmlns:a16="http://schemas.microsoft.com/office/drawing/2014/main" val="10001"/>
                  </a:ext>
                </a:extLst>
              </a:tr>
              <a:tr h="0">
                <a:tc>
                  <a:txBody>
                    <a:bodyPr/>
                    <a:lstStyle/>
                    <a:p>
                      <a:pPr marL="0" lvl="0" indent="0">
                        <a:buNone/>
                      </a:pPr>
                      <a:r>
                        <a:rPr b="1"/>
                        <a:t>Non exposed</a:t>
                      </a:r>
                    </a:p>
                  </a:txBody>
                  <a:tcPr/>
                </a:tc>
                <a:tc>
                  <a:txBody>
                    <a:bodyPr/>
                    <a:lstStyle/>
                    <a:p>
                      <a:pPr marL="0" lvl="0" indent="0" algn="r">
                        <a:buNone/>
                      </a:pPr>
                      <a:r>
                        <a:t>c</a:t>
                      </a:r>
                    </a:p>
                  </a:txBody>
                  <a:tcPr/>
                </a:tc>
                <a:tc>
                  <a:txBody>
                    <a:bodyPr/>
                    <a:lstStyle/>
                    <a:p>
                      <a:pPr marL="0" lvl="0" indent="0" algn="r">
                        <a:buNone/>
                      </a:pPr>
                      <a:r>
                        <a:t>d</a:t>
                      </a:r>
                    </a:p>
                  </a:txBody>
                  <a:tcPr/>
                </a:tc>
                <a:tc>
                  <a:txBody>
                    <a:bodyPr/>
                    <a:lstStyle/>
                    <a:p>
                      <a:pPr marL="0" lvl="0" indent="0" algn="r">
                        <a:buNone/>
                      </a:pPr>
                      <a:r>
                        <a:t>c+d</a:t>
                      </a:r>
                    </a:p>
                  </a:txBody>
                  <a:tcPr/>
                </a:tc>
                <a:extLst>
                  <a:ext uri="{0D108BD9-81ED-4DB2-BD59-A6C34878D82A}">
                    <a16:rowId xmlns:a16="http://schemas.microsoft.com/office/drawing/2014/main" val="10002"/>
                  </a:ext>
                </a:extLst>
              </a:tr>
              <a:tr h="0">
                <a:tc>
                  <a:txBody>
                    <a:bodyPr/>
                    <a:lstStyle/>
                    <a:p>
                      <a:pPr marL="0" lvl="0" indent="0">
                        <a:buNone/>
                      </a:pPr>
                      <a:r>
                        <a:rPr b="1"/>
                        <a:t>Total</a:t>
                      </a:r>
                    </a:p>
                  </a:txBody>
                  <a:tcPr/>
                </a:tc>
                <a:tc>
                  <a:txBody>
                    <a:bodyPr/>
                    <a:lstStyle/>
                    <a:p>
                      <a:pPr marL="0" lvl="0" indent="0" algn="r">
                        <a:buNone/>
                      </a:pPr>
                      <a:r>
                        <a:t>a+c</a:t>
                      </a:r>
                    </a:p>
                  </a:txBody>
                  <a:tcPr/>
                </a:tc>
                <a:tc>
                  <a:txBody>
                    <a:bodyPr/>
                    <a:lstStyle/>
                    <a:p>
                      <a:pPr marL="0" lvl="0" indent="0" algn="r">
                        <a:buNone/>
                      </a:pPr>
                      <a:r>
                        <a:t>b+d</a:t>
                      </a:r>
                    </a:p>
                  </a:txBody>
                  <a:tcPr/>
                </a:tc>
                <a:tc>
                  <a:txBody>
                    <a:bodyPr/>
                    <a:lstStyle/>
                    <a:p>
                      <a:pPr marL="0" lvl="0" indent="0" algn="r">
                        <a:buNone/>
                      </a:pPr>
                      <a:r>
                        <a:t>a+b+c+d</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Relative risk / CIR — formula</a:t>
            </a:r>
          </a:p>
        </p:txBody>
      </p:sp>
      <p:sp>
        <p:nvSpPr>
          <p:cNvPr id="3" name="Content Placeholder 2"/>
          <p:cNvSpPr>
            <a:spLocks noGrp="1"/>
          </p:cNvSpPr>
          <p:nvPr>
            <p:ph idx="1"/>
          </p:nvPr>
        </p:nvSpPr>
        <p:spPr/>
        <p:txBody>
          <a:bodyPr/>
          <a:lstStyle/>
          <a:p>
            <a:pPr marL="0" lvl="0" indent="0">
              <a:buNone/>
            </a:pPr>
            <a:r>
              <a:t>The relative risk is a ratio of cumulative incidences — the cumulative incidence ratio (CIR):</a:t>
            </a:r>
          </a:p>
          <a:p>
            <a:pPr marL="0" lvl="0" indent="0">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𝐶𝐼𝑅</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𝐶</m:t>
                      </m:r>
                      <m:sSub>
                        <m:sSubPr>
                          <m:ctrlPr>
                            <a:rPr>
                              <a:latin typeface="Cambria Math" panose="02040503050406030204" pitchFamily="18" charset="0"/>
                            </a:rPr>
                          </m:ctrlPr>
                        </m:sSubPr>
                        <m:e>
                          <m:r>
                            <a:rPr>
                              <a:latin typeface="Cambria Math" panose="02040503050406030204" pitchFamily="18" charset="0"/>
                            </a:rPr>
                            <m:t>𝐼</m:t>
                          </m:r>
                        </m:e>
                        <m:sub>
                          <m:r>
                            <m:rPr>
                              <m:nor/>
                            </m:rPr>
                            <a:rPr i="0"/>
                            <m:t>exposed</m:t>
                          </m:r>
                        </m:sub>
                      </m:sSub>
                    </m:num>
                    <m:den>
                      <m:r>
                        <a:rPr>
                          <a:latin typeface="Cambria Math" panose="02040503050406030204" pitchFamily="18" charset="0"/>
                        </a:rPr>
                        <m:t>𝐶</m:t>
                      </m:r>
                      <m:sSub>
                        <m:sSubPr>
                          <m:ctrlPr>
                            <a:rPr>
                              <a:latin typeface="Cambria Math" panose="02040503050406030204" pitchFamily="18" charset="0"/>
                            </a:rPr>
                          </m:ctrlPr>
                        </m:sSubPr>
                        <m:e>
                          <m:r>
                            <a:rPr>
                              <a:latin typeface="Cambria Math" panose="02040503050406030204" pitchFamily="18" charset="0"/>
                            </a:rPr>
                            <m:t>𝐼</m:t>
                          </m:r>
                        </m:e>
                        <m:sub>
                          <m:r>
                            <m:rPr>
                              <m:nor/>
                            </m:rPr>
                            <a:rPr i="0"/>
                            <m:t>non exposed</m:t>
                          </m:r>
                        </m:sub>
                      </m:sSub>
                    </m:den>
                  </m:f>
                  <m:r>
                    <a:rPr>
                      <a:latin typeface="Cambria Math" panose="02040503050406030204" pitchFamily="18" charset="0"/>
                    </a:rPr>
                    <m:t>=</m:t>
                  </m:r>
                  <m:f>
                    <m:fPr>
                      <m:ctrlPr>
                        <a:rPr i="1">
                          <a:latin typeface="Cambria Math" panose="02040503050406030204" pitchFamily="18" charset="0"/>
                        </a:rPr>
                      </m:ctrlPr>
                    </m:fPr>
                    <m:num>
                      <m:f>
                        <m:fPr>
                          <m:ctrlPr>
                            <a:rPr>
                              <a:latin typeface="Cambria Math" panose="02040503050406030204" pitchFamily="18" charset="0"/>
                            </a:rPr>
                          </m:ctrlPr>
                        </m:fPr>
                        <m:num>
                          <m:r>
                            <a:rPr>
                              <a:latin typeface="Cambria Math" panose="02040503050406030204" pitchFamily="18" charset="0"/>
                            </a:rPr>
                            <m:t>𝑎</m:t>
                          </m:r>
                        </m:num>
                        <m:den>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𝑏</m:t>
                          </m:r>
                        </m:den>
                      </m:f>
                    </m:num>
                    <m:den>
                      <m:f>
                        <m:fPr>
                          <m:ctrlPr>
                            <a:rPr>
                              <a:latin typeface="Cambria Math" panose="02040503050406030204" pitchFamily="18" charset="0"/>
                            </a:rPr>
                          </m:ctrlPr>
                        </m:fPr>
                        <m:num>
                          <m:r>
                            <a:rPr>
                              <a:latin typeface="Cambria Math" panose="02040503050406030204" pitchFamily="18" charset="0"/>
                            </a:rPr>
                            <m:t>𝑐</m:t>
                          </m:r>
                        </m:num>
                        <m:den>
                          <m:r>
                            <a:rPr>
                              <a:latin typeface="Cambria Math" panose="02040503050406030204" pitchFamily="18" charset="0"/>
                            </a:rPr>
                            <m:t>𝑐</m:t>
                          </m:r>
                          <m:r>
                            <a:rPr>
                              <a:latin typeface="Cambria Math" panose="02040503050406030204" pitchFamily="18" charset="0"/>
                            </a:rPr>
                            <m:t>+</m:t>
                          </m:r>
                          <m:r>
                            <a:rPr>
                              <a:latin typeface="Cambria Math" panose="02040503050406030204" pitchFamily="18" charset="0"/>
                            </a:rPr>
                            <m:t>𝑑</m:t>
                          </m:r>
                        </m:den>
                      </m:f>
                    </m:den>
                  </m:f>
                </m:oMath>
              </m:oMathPara>
            </a14:m>
            <a:endParaRPr/>
          </a:p>
          <a:p>
            <a:pPr lvl="0"/>
            <a:r>
              <a:t>RR = 1: no association between categories and outcome</a:t>
            </a:r>
          </a:p>
          <a:p>
            <a:pPr lvl="0"/>
            <a:r>
              <a:t>RR &gt; 1: positive association or risk</a:t>
            </a:r>
          </a:p>
          <a:p>
            <a:pPr lvl="0"/>
            <a:r>
              <a:t>RR &lt; 1: negative association or less risk (protective)</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Relative risk — example (Honolulu Heart Programme, Abbot, 1980)</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buNone/>
                      </a:pPr>
                      <a:r>
                        <a:t>Cohort</a:t>
                      </a:r>
                    </a:p>
                  </a:txBody>
                  <a:tcPr/>
                </a:tc>
                <a:tc>
                  <a:txBody>
                    <a:bodyPr/>
                    <a:lstStyle/>
                    <a:p>
                      <a:pPr marL="0" lvl="0" indent="0" algn="r">
                        <a:buNone/>
                      </a:pPr>
                      <a:r>
                        <a:t>Yes</a:t>
                      </a:r>
                    </a:p>
                  </a:txBody>
                  <a:tcPr/>
                </a:tc>
                <a:tc>
                  <a:txBody>
                    <a:bodyPr/>
                    <a:lstStyle/>
                    <a:p>
                      <a:pPr marL="0" lvl="0" indent="0" algn="r">
                        <a:buNone/>
                      </a:pPr>
                      <a:r>
                        <a:t>No</a:t>
                      </a:r>
                    </a:p>
                  </a:txBody>
                  <a:tcPr/>
                </a:tc>
                <a:tc>
                  <a:txBody>
                    <a:bodyPr/>
                    <a:lstStyle/>
                    <a:p>
                      <a:pPr marL="0" lvl="0" indent="0" algn="r">
                        <a:buNone/>
                      </a:pPr>
                      <a:r>
                        <a:t>Total</a:t>
                      </a:r>
                    </a:p>
                  </a:txBody>
                  <a:tcPr/>
                </a:tc>
                <a:extLst>
                  <a:ext uri="{0D108BD9-81ED-4DB2-BD59-A6C34878D82A}">
                    <a16:rowId xmlns:a16="http://schemas.microsoft.com/office/drawing/2014/main" val="10000"/>
                  </a:ext>
                </a:extLst>
              </a:tr>
              <a:tr h="0">
                <a:tc>
                  <a:txBody>
                    <a:bodyPr/>
                    <a:lstStyle/>
                    <a:p>
                      <a:pPr marL="0" lvl="0" indent="0">
                        <a:buNone/>
                      </a:pPr>
                      <a:r>
                        <a:t>Smokers</a:t>
                      </a:r>
                    </a:p>
                  </a:txBody>
                  <a:tcPr/>
                </a:tc>
                <a:tc>
                  <a:txBody>
                    <a:bodyPr/>
                    <a:lstStyle/>
                    <a:p>
                      <a:pPr marL="0" lvl="0" indent="0" algn="r">
                        <a:buNone/>
                      </a:pPr>
                      <a:r>
                        <a:t>171</a:t>
                      </a:r>
                    </a:p>
                  </a:txBody>
                  <a:tcPr/>
                </a:tc>
                <a:tc>
                  <a:txBody>
                    <a:bodyPr/>
                    <a:lstStyle/>
                    <a:p>
                      <a:pPr marL="0" lvl="0" indent="0" algn="r">
                        <a:buNone/>
                      </a:pPr>
                      <a:r>
                        <a:t>3264</a:t>
                      </a:r>
                    </a:p>
                  </a:txBody>
                  <a:tcPr/>
                </a:tc>
                <a:tc>
                  <a:txBody>
                    <a:bodyPr/>
                    <a:lstStyle/>
                    <a:p>
                      <a:pPr marL="0" lvl="0" indent="0" algn="r">
                        <a:buNone/>
                      </a:pPr>
                      <a:r>
                        <a:t>3435</a:t>
                      </a:r>
                    </a:p>
                  </a:txBody>
                  <a:tcPr/>
                </a:tc>
                <a:extLst>
                  <a:ext uri="{0D108BD9-81ED-4DB2-BD59-A6C34878D82A}">
                    <a16:rowId xmlns:a16="http://schemas.microsoft.com/office/drawing/2014/main" val="10001"/>
                  </a:ext>
                </a:extLst>
              </a:tr>
              <a:tr h="0">
                <a:tc>
                  <a:txBody>
                    <a:bodyPr/>
                    <a:lstStyle/>
                    <a:p>
                      <a:pPr marL="0" lvl="0" indent="0">
                        <a:buNone/>
                      </a:pPr>
                      <a:r>
                        <a:t>Non-smokers</a:t>
                      </a:r>
                    </a:p>
                  </a:txBody>
                  <a:tcPr/>
                </a:tc>
                <a:tc>
                  <a:txBody>
                    <a:bodyPr/>
                    <a:lstStyle/>
                    <a:p>
                      <a:pPr marL="0" lvl="0" indent="0" algn="r">
                        <a:buNone/>
                      </a:pPr>
                      <a:r>
                        <a:t>117</a:t>
                      </a:r>
                    </a:p>
                  </a:txBody>
                  <a:tcPr/>
                </a:tc>
                <a:tc>
                  <a:txBody>
                    <a:bodyPr/>
                    <a:lstStyle/>
                    <a:p>
                      <a:pPr marL="0" lvl="0" indent="0" algn="r">
                        <a:buNone/>
                      </a:pPr>
                      <a:r>
                        <a:t>4320</a:t>
                      </a:r>
                    </a:p>
                  </a:txBody>
                  <a:tcPr/>
                </a:tc>
                <a:tc>
                  <a:txBody>
                    <a:bodyPr/>
                    <a:lstStyle/>
                    <a:p>
                      <a:pPr marL="0" lvl="0" indent="0" algn="r">
                        <a:buNone/>
                      </a:pPr>
                      <a:r>
                        <a:t>4437</a:t>
                      </a:r>
                    </a:p>
                  </a:txBody>
                  <a:tcPr/>
                </a:tc>
                <a:extLst>
                  <a:ext uri="{0D108BD9-81ED-4DB2-BD59-A6C34878D82A}">
                    <a16:rowId xmlns:a16="http://schemas.microsoft.com/office/drawing/2014/main" val="10002"/>
                  </a:ext>
                </a:extLst>
              </a:tr>
              <a:tr h="0">
                <a:tc>
                  <a:txBody>
                    <a:bodyPr/>
                    <a:lstStyle/>
                    <a:p>
                      <a:pPr marL="0" lvl="0" indent="0">
                        <a:buNone/>
                      </a:pPr>
                      <a:r>
                        <a:rPr b="1"/>
                        <a:t>Total</a:t>
                      </a:r>
                    </a:p>
                  </a:txBody>
                  <a:tcPr/>
                </a:tc>
                <a:tc>
                  <a:txBody>
                    <a:bodyPr/>
                    <a:lstStyle/>
                    <a:p>
                      <a:pPr marL="0" lvl="0" indent="0" algn="r">
                        <a:buNone/>
                      </a:pPr>
                      <a:r>
                        <a:rPr b="1"/>
                        <a:t>228</a:t>
                      </a:r>
                    </a:p>
                  </a:txBody>
                  <a:tcPr/>
                </a:tc>
                <a:tc>
                  <a:txBody>
                    <a:bodyPr/>
                    <a:lstStyle/>
                    <a:p>
                      <a:pPr marL="0" lvl="0" indent="0" algn="r">
                        <a:buNone/>
                      </a:pPr>
                      <a:r>
                        <a:rPr b="1"/>
                        <a:t>7584</a:t>
                      </a:r>
                    </a:p>
                  </a:txBody>
                  <a:tcPr/>
                </a:tc>
                <a:tc>
                  <a:txBody>
                    <a:bodyPr/>
                    <a:lstStyle/>
                    <a:p>
                      <a:pPr marL="0" lvl="0" indent="0" algn="r">
                        <a:buNone/>
                      </a:pPr>
                      <a:r>
                        <a:rPr b="1"/>
                        <a:t>7872</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Relative risk — example calculation</a:t>
            </a:r>
          </a:p>
        </p:txBody>
      </p:sp>
      <p:sp>
        <p:nvSpPr>
          <p:cNvPr id="3" name="Content Placeholder 2"/>
          <p:cNvSpPr>
            <a:spLocks noGrp="1"/>
          </p:cNvSpPr>
          <p:nvPr>
            <p:ph idx="1"/>
          </p:nvPr>
        </p:nvSpPr>
        <p:spPr/>
        <p:txBody>
          <a:bodyPr/>
          <a:lstStyle/>
          <a:p>
            <a:pPr marL="0" lvl="0" indent="0">
              <a:buNone/>
            </a:pPr>
            <a:r>
              <a:t>Cerebral thrombosis after 12-year follow-up:</a:t>
            </a:r>
          </a:p>
          <a:p>
            <a:pPr lvl="0"/>
            <a:r>
              <a:t>CI (smokers) = 171 / 3435 = </a:t>
            </a:r>
            <a:r>
              <a:rPr b="1"/>
              <a:t>0.049</a:t>
            </a:r>
            <a:r>
              <a:t> in 12 years of follow-up</a:t>
            </a:r>
          </a:p>
          <a:p>
            <a:pPr lvl="0"/>
            <a:r>
              <a:t>CI (non-smokers) = 117 / 4437 = </a:t>
            </a:r>
            <a:r>
              <a:rPr b="1"/>
              <a:t>0.026</a:t>
            </a:r>
            <a:r>
              <a:t> in 12 years of follow-up</a:t>
            </a:r>
          </a:p>
          <a:p>
            <a:pPr marL="0" lvl="0" indent="0">
              <a:buNone/>
            </a:pPr>
            <a14:m xmlns:a14="http://schemas.microsoft.com/office/drawing/2010/main">
              <m:oMathPara xmlns:m="http://schemas.openxmlformats.org/officeDocument/2006/math">
                <m:oMathParaPr>
                  <m:jc m:val="center"/>
                </m:oMathParaPr>
                <m:oMath>
                  <m:r>
                    <a:rPr>
                      <a:latin typeface="Cambria Math" panose="02040503050406030204" pitchFamily="18" charset="0"/>
                    </a:rPr>
                    <m:t>𝑅𝑅</m:t>
                  </m:r>
                  <m:r>
                    <a:rPr>
                      <a:latin typeface="Cambria Math" panose="02040503050406030204" pitchFamily="18" charset="0"/>
                    </a:rPr>
                    <m:t> (</m:t>
                  </m:r>
                  <m:r>
                    <a:rPr>
                      <a:latin typeface="Cambria Math" panose="02040503050406030204" pitchFamily="18" charset="0"/>
                    </a:rPr>
                    <m:t>𝐶𝐼𝑅</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𝐶</m:t>
                      </m:r>
                      <m:sSub>
                        <m:sSubPr>
                          <m:ctrlPr>
                            <a:rPr>
                              <a:latin typeface="Cambria Math" panose="02040503050406030204" pitchFamily="18" charset="0"/>
                            </a:rPr>
                          </m:ctrlPr>
                        </m:sSubPr>
                        <m:e>
                          <m:r>
                            <a:rPr>
                              <a:latin typeface="Cambria Math" panose="02040503050406030204" pitchFamily="18" charset="0"/>
                            </a:rPr>
                            <m:t>𝐼</m:t>
                          </m:r>
                        </m:e>
                        <m:sub>
                          <m:r>
                            <m:rPr>
                              <m:nor/>
                            </m:rPr>
                            <a:rPr i="0"/>
                            <m:t>exposed</m:t>
                          </m:r>
                        </m:sub>
                      </m:sSub>
                    </m:num>
                    <m:den>
                      <m:r>
                        <a:rPr>
                          <a:latin typeface="Cambria Math" panose="02040503050406030204" pitchFamily="18" charset="0"/>
                        </a:rPr>
                        <m:t>𝐶</m:t>
                      </m:r>
                      <m:sSub>
                        <m:sSubPr>
                          <m:ctrlPr>
                            <a:rPr>
                              <a:latin typeface="Cambria Math" panose="02040503050406030204" pitchFamily="18" charset="0"/>
                            </a:rPr>
                          </m:ctrlPr>
                        </m:sSubPr>
                        <m:e>
                          <m:r>
                            <a:rPr>
                              <a:latin typeface="Cambria Math" panose="02040503050406030204" pitchFamily="18" charset="0"/>
                            </a:rPr>
                            <m:t>𝐼</m:t>
                          </m:r>
                        </m:e>
                        <m:sub>
                          <m:r>
                            <m:rPr>
                              <m:nor/>
                            </m:rPr>
                            <a:rPr i="0"/>
                            <m:t>non exposed</m:t>
                          </m:r>
                        </m:sub>
                      </m:sSub>
                    </m:den>
                  </m:f>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0.049</m:t>
                      </m:r>
                    </m:num>
                    <m:den>
                      <m:r>
                        <a:rPr>
                          <a:latin typeface="Cambria Math" panose="02040503050406030204" pitchFamily="18" charset="0"/>
                        </a:rPr>
                        <m:t>0.026</m:t>
                      </m:r>
                    </m:den>
                  </m:f>
                  <m:r>
                    <a:rPr>
                      <a:latin typeface="Cambria Math" panose="02040503050406030204" pitchFamily="18" charset="0"/>
                    </a:rPr>
                    <m:t>=</m:t>
                  </m:r>
                  <m:r>
                    <a:rPr>
                      <a:latin typeface="Cambria Math" panose="02040503050406030204" pitchFamily="18" charset="0"/>
                    </a:rPr>
                    <m:t>𝟏</m:t>
                  </m:r>
                  <m:r>
                    <a:rPr>
                      <a:latin typeface="Cambria Math" panose="02040503050406030204" pitchFamily="18" charset="0"/>
                    </a:rPr>
                    <m:t>.</m:t>
                  </m:r>
                  <m:r>
                    <a:rPr>
                      <a:latin typeface="Cambria Math" panose="02040503050406030204" pitchFamily="18" charset="0"/>
                    </a:rPr>
                    <m:t>𝟖𝟗</m:t>
                  </m:r>
                </m:oMath>
              </m:oMathPara>
            </a14:m>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Odds</a:t>
            </a:r>
          </a:p>
        </p:txBody>
      </p:sp>
      <p:pic>
        <p:nvPicPr>
          <p:cNvPr id="3" name="Picture 1" descr="images/s2_06_slide26_odds.png"/>
          <p:cNvPicPr>
            <a:picLocks noGrp="1" noChangeAspect="1"/>
          </p:cNvPicPr>
          <p:nvPr/>
        </p:nvPicPr>
        <p:blipFill>
          <a:blip r:embed="rId2"/>
          <a:stretch>
            <a:fillRect/>
          </a:stretch>
        </p:blipFill>
        <p:spPr bwMode="auto">
          <a:xfrm>
            <a:off x="457200" y="1371600"/>
            <a:ext cx="8229600" cy="3048000"/>
          </a:xfrm>
          <a:prstGeom prst="rect">
            <a:avLst/>
          </a:prstGeom>
          <a:noFill/>
          <a:ln w="9525">
            <a:noFill/>
            <a:headEnd/>
            <a:tailEnd/>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Odds — risk vs odds</a:t>
            </a:r>
          </a:p>
        </p:txBody>
      </p:sp>
      <p:sp>
        <p:nvSpPr>
          <p:cNvPr id="3" name="Content Placeholder 2"/>
          <p:cNvSpPr>
            <a:spLocks noGrp="1"/>
          </p:cNvSpPr>
          <p:nvPr>
            <p:ph idx="1"/>
          </p:nvPr>
        </p:nvSpPr>
        <p:spPr/>
        <p:txBody>
          <a:bodyPr/>
          <a:lstStyle/>
          <a:p>
            <a:pPr lvl="0"/>
            <a:r>
              <a:t>Risk (CI) = 10 / 100 = 0.1 = 10%</a:t>
            </a:r>
          </a:p>
          <a:p>
            <a:pPr lvl="0"/>
            <a:r>
              <a:t>Odds = 10 / 90 = 0.11 = 11%</a:t>
            </a:r>
          </a:p>
          <a:p>
            <a:pPr marL="0" lvl="0" indent="0">
              <a:buNone/>
            </a:pPr>
            <a:r>
              <a:rPr i="1"/>
              <a:t>Odds: the relationship between the probability of occurrence of an event and the non-occurrence of the same event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Odds ratio</a:t>
            </a:r>
          </a:p>
        </p:txBody>
      </p:sp>
      <p:sp>
        <p:nvSpPr>
          <p:cNvPr id="3" name="Content Placeholder 2"/>
          <p:cNvSpPr>
            <a:spLocks noGrp="1"/>
          </p:cNvSpPr>
          <p:nvPr>
            <p:ph idx="1"/>
          </p:nvPr>
        </p:nvSpPr>
        <p:spPr/>
        <p:txBody>
          <a:bodyPr/>
          <a:lstStyle/>
          <a:p>
            <a:pPr lvl="0"/>
            <a:r>
              <a:t>Useful association measure when the entire exposed population is not available</a:t>
            </a:r>
          </a:p>
          <a:p>
            <a:pPr lvl="0"/>
            <a:r>
              <a:t>Useful in case-control studies but applicable to any study data</a:t>
            </a:r>
          </a:p>
          <a:p>
            <a:pPr lvl="0"/>
            <a:r>
              <a:t>Flexible mathematical properties (0 – infinite); the numerator is not included in the denominator</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Odds ratio — 2 × 2 table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endParaRPr/>
                    </a:p>
                  </a:txBody>
                  <a:tcPr/>
                </a:tc>
                <a:tc>
                  <a:txBody>
                    <a:bodyPr/>
                    <a:lstStyle/>
                    <a:p>
                      <a:pPr marL="0" lvl="0" indent="0" algn="r">
                        <a:buNone/>
                      </a:pPr>
                      <a:r>
                        <a:t>Cases</a:t>
                      </a:r>
                    </a:p>
                  </a:txBody>
                  <a:tcPr/>
                </a:tc>
                <a:tc>
                  <a:txBody>
                    <a:bodyPr/>
                    <a:lstStyle/>
                    <a:p>
                      <a:pPr marL="0" lvl="0" indent="0" algn="r">
                        <a:buNone/>
                      </a:pPr>
                      <a:r>
                        <a:t>Controls</a:t>
                      </a:r>
                    </a:p>
                  </a:txBody>
                  <a:tcPr/>
                </a:tc>
                <a:extLst>
                  <a:ext uri="{0D108BD9-81ED-4DB2-BD59-A6C34878D82A}">
                    <a16:rowId xmlns:a16="http://schemas.microsoft.com/office/drawing/2014/main" val="10000"/>
                  </a:ext>
                </a:extLst>
              </a:tr>
              <a:tr h="0">
                <a:tc>
                  <a:txBody>
                    <a:bodyPr/>
                    <a:lstStyle/>
                    <a:p>
                      <a:pPr marL="0" lvl="0" indent="0">
                        <a:buNone/>
                      </a:pPr>
                      <a:r>
                        <a:rPr b="1"/>
                        <a:t>Exposed</a:t>
                      </a:r>
                    </a:p>
                  </a:txBody>
                  <a:tcPr/>
                </a:tc>
                <a:tc>
                  <a:txBody>
                    <a:bodyPr/>
                    <a:lstStyle/>
                    <a:p>
                      <a:pPr marL="0" lvl="0" indent="0" algn="r">
                        <a:buNone/>
                      </a:pPr>
                      <a:r>
                        <a:t>a</a:t>
                      </a:r>
                    </a:p>
                  </a:txBody>
                  <a:tcPr/>
                </a:tc>
                <a:tc>
                  <a:txBody>
                    <a:bodyPr/>
                    <a:lstStyle/>
                    <a:p>
                      <a:pPr marL="0" lvl="0" indent="0" algn="r">
                        <a:buNone/>
                      </a:pPr>
                      <a:r>
                        <a:t>b</a:t>
                      </a:r>
                    </a:p>
                  </a:txBody>
                  <a:tcPr/>
                </a:tc>
                <a:extLst>
                  <a:ext uri="{0D108BD9-81ED-4DB2-BD59-A6C34878D82A}">
                    <a16:rowId xmlns:a16="http://schemas.microsoft.com/office/drawing/2014/main" val="10001"/>
                  </a:ext>
                </a:extLst>
              </a:tr>
              <a:tr h="0">
                <a:tc>
                  <a:txBody>
                    <a:bodyPr/>
                    <a:lstStyle/>
                    <a:p>
                      <a:pPr marL="0" lvl="0" indent="0">
                        <a:buNone/>
                      </a:pPr>
                      <a:r>
                        <a:rPr b="1"/>
                        <a:t>Non exposed</a:t>
                      </a:r>
                    </a:p>
                  </a:txBody>
                  <a:tcPr/>
                </a:tc>
                <a:tc>
                  <a:txBody>
                    <a:bodyPr/>
                    <a:lstStyle/>
                    <a:p>
                      <a:pPr marL="0" lvl="0" indent="0" algn="r">
                        <a:buNone/>
                      </a:pPr>
                      <a:r>
                        <a:t>c</a:t>
                      </a:r>
                    </a:p>
                  </a:txBody>
                  <a:tcPr/>
                </a:tc>
                <a:tc>
                  <a:txBody>
                    <a:bodyPr/>
                    <a:lstStyle/>
                    <a:p>
                      <a:pPr marL="0" lvl="0" indent="0" algn="r">
                        <a:buNone/>
                      </a:pPr>
                      <a:r>
                        <a:t>d</a:t>
                      </a:r>
                    </a:p>
                  </a:txBody>
                  <a:tcPr/>
                </a:tc>
                <a:extLst>
                  <a:ext uri="{0D108BD9-81ED-4DB2-BD59-A6C34878D82A}">
                    <a16:rowId xmlns:a16="http://schemas.microsoft.com/office/drawing/2014/main" val="10002"/>
                  </a:ext>
                </a:extLst>
              </a:tr>
              <a:tr h="0">
                <a:tc>
                  <a:txBody>
                    <a:bodyPr/>
                    <a:lstStyle/>
                    <a:p>
                      <a:pPr marL="0" lvl="0" indent="0">
                        <a:buNone/>
                      </a:pPr>
                      <a:r>
                        <a:rPr b="1"/>
                        <a:t>Total</a:t>
                      </a:r>
                    </a:p>
                  </a:txBody>
                  <a:tcPr/>
                </a:tc>
                <a:tc>
                  <a:txBody>
                    <a:bodyPr/>
                    <a:lstStyle/>
                    <a:p>
                      <a:pPr marL="0" lvl="0" indent="0" algn="r">
                        <a:buNone/>
                      </a:pPr>
                      <a:r>
                        <a:t>a+c</a:t>
                      </a:r>
                    </a:p>
                  </a:txBody>
                  <a:tcPr/>
                </a:tc>
                <a:tc>
                  <a:txBody>
                    <a:bodyPr/>
                    <a:lstStyle/>
                    <a:p>
                      <a:pPr marL="0" lvl="0" indent="0" algn="r">
                        <a:buNone/>
                      </a:pPr>
                      <a:r>
                        <a:t>b+d</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Odds ratio — formula</a:t>
            </a:r>
          </a:p>
        </p:txBody>
      </p:sp>
      <p:sp>
        <p:nvSpPr>
          <p:cNvPr id="3" name="Content Placeholder 2"/>
          <p:cNvSpPr>
            <a:spLocks noGrp="1"/>
          </p:cNvSpPr>
          <p:nvPr>
            <p:ph idx="1"/>
          </p:nvPr>
        </p:nvSpPr>
        <p:spPr/>
        <p:txBody>
          <a:bodyPr/>
          <a:lstStyle/>
          <a:p>
            <a:pPr marL="0" lvl="0" indent="0">
              <a:buNone/>
            </a:pPr>
            <a:r>
              <a:t>Odds (exp) = a / b; Odds (non exp) = c / d</a:t>
            </a:r>
          </a:p>
          <a:p>
            <a:pPr marL="0" lvl="0" indent="0">
              <a:buNone/>
            </a:pPr>
            <a14:m xmlns:a14="http://schemas.microsoft.com/office/drawing/2010/main">
              <m:oMathPara xmlns:m="http://schemas.openxmlformats.org/officeDocument/2006/math">
                <m:oMathParaPr>
                  <m:jc m:val="center"/>
                </m:oMathParaPr>
                <m:oMath>
                  <m:r>
                    <m:rPr>
                      <m:nor/>
                    </m:rPr>
                    <a:rPr i="0"/>
                    <m:t>Odds Ratio</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𝑏</m:t>
                      </m:r>
                    </m:num>
                    <m:den>
                      <m:r>
                        <a:rPr>
                          <a:latin typeface="Cambria Math" panose="02040503050406030204" pitchFamily="18" charset="0"/>
                        </a:rPr>
                        <m:t>𝑐</m:t>
                      </m:r>
                      <m:r>
                        <a:rPr>
                          <a:latin typeface="Cambria Math" panose="02040503050406030204" pitchFamily="18" charset="0"/>
                        </a:rPr>
                        <m:t>/</m:t>
                      </m:r>
                      <m:r>
                        <a:rPr>
                          <a:latin typeface="Cambria Math" panose="02040503050406030204" pitchFamily="18" charset="0"/>
                        </a:rPr>
                        <m:t>𝑑</m:t>
                      </m:r>
                    </m:den>
                  </m:f>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𝑑</m:t>
                      </m:r>
                    </m:num>
                    <m:den>
                      <m:r>
                        <a:rPr>
                          <a:latin typeface="Cambria Math" panose="02040503050406030204" pitchFamily="18" charset="0"/>
                        </a:rPr>
                        <m:t>𝑐</m:t>
                      </m:r>
                      <m:r>
                        <a:rPr>
                          <a:latin typeface="Cambria Math" panose="02040503050406030204" pitchFamily="18" charset="0"/>
                        </a:rPr>
                        <m:t>×</m:t>
                      </m:r>
                      <m:r>
                        <a:rPr>
                          <a:latin typeface="Cambria Math" panose="02040503050406030204" pitchFamily="18" charset="0"/>
                        </a:rPr>
                        <m:t>𝑏</m:t>
                      </m:r>
                    </m:den>
                  </m:f>
                </m:oMath>
              </m:oMathPara>
            </a14:m>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Odds ratio — example (MacMahon et al., NEJM, 1981)</a:t>
            </a:r>
          </a:p>
        </p:txBody>
      </p:sp>
      <p:pic>
        <p:nvPicPr>
          <p:cNvPr id="3" name="Picture 1" descr="images/s2_06_slide28_macmahon.png"/>
          <p:cNvPicPr>
            <a:picLocks noGrp="1" noChangeAspect="1"/>
          </p:cNvPicPr>
          <p:nvPr/>
        </p:nvPicPr>
        <p:blipFill>
          <a:blip r:embed="rId2"/>
          <a:stretch>
            <a:fillRect/>
          </a:stretch>
        </p:blipFill>
        <p:spPr bwMode="auto">
          <a:xfrm>
            <a:off x="2171700" y="1193800"/>
            <a:ext cx="4813300" cy="3390900"/>
          </a:xfrm>
          <a:prstGeom prst="rect">
            <a:avLst/>
          </a:prstGeom>
          <a:noFill/>
          <a:ln w="9525">
            <a:noFill/>
            <a:headEnd/>
            <a:tailEnd/>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RR and OR interpretation (1/2)</a:t>
            </a:r>
          </a:p>
        </p:txBody>
      </p:sp>
      <p:sp>
        <p:nvSpPr>
          <p:cNvPr id="3" name="Content Placeholder 2"/>
          <p:cNvSpPr>
            <a:spLocks noGrp="1"/>
          </p:cNvSpPr>
          <p:nvPr>
            <p:ph idx="1"/>
          </p:nvPr>
        </p:nvSpPr>
        <p:spPr/>
        <p:txBody>
          <a:bodyPr/>
          <a:lstStyle/>
          <a:p>
            <a:pPr marL="0" lvl="0" indent="0">
              <a:buNone/>
            </a:pPr>
            <a:r>
              <a:t>Both indicate magnitudes of association</a:t>
            </a:r>
          </a:p>
          <a:p>
            <a:pPr lvl="0"/>
            <a:r>
              <a:t>The RR is the ratio of two cumulative incidences (risks). As a direct risk assessment, it is appropriate to refer to the RR as “risk”</a:t>
            </a:r>
          </a:p>
          <a:p>
            <a:pPr lvl="1"/>
            <a:r>
              <a:t>RR = 1.8: compared to the control group, the intervention group had a 1.8-fold increased risk of developing side effects</a:t>
            </a:r>
          </a:p>
          <a:p>
            <a:pPr lvl="0"/>
            <a:r>
              <a:t>When interpreting the OR, it is preferable to speak of “times more likely” and avoid the term “risk”</a:t>
            </a:r>
          </a:p>
          <a:p>
            <a:pPr lvl="1"/>
            <a:r>
              <a:t>OR = 1.8: compared to the control group, the intervention group was 1.8 times more likely to develop side effects</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RR and OR interpretation (2/2)</a:t>
            </a:r>
          </a:p>
        </p:txBody>
      </p:sp>
      <p:sp>
        <p:nvSpPr>
          <p:cNvPr id="3" name="Content Placeholder 2"/>
          <p:cNvSpPr>
            <a:spLocks noGrp="1"/>
          </p:cNvSpPr>
          <p:nvPr>
            <p:ph idx="1"/>
          </p:nvPr>
        </p:nvSpPr>
        <p:spPr/>
        <p:txBody>
          <a:bodyPr/>
          <a:lstStyle/>
          <a:p>
            <a:pPr lvl="0"/>
            <a:r>
              <a:t>When the outcome event is infrequent (&lt; 10%), the OR and RR approach each other</a:t>
            </a:r>
          </a:p>
          <a:p>
            <a:pPr lvl="0"/>
            <a:r>
              <a:t>When interpreting the clinical significance of an outcome expressed as an OR, it should be treated as an RR (most of the time)</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Risk “vs” Odds</a:t>
            </a:r>
          </a:p>
        </p:txBody>
      </p:sp>
      <p:pic>
        <p:nvPicPr>
          <p:cNvPr id="3" name="Picture 1" descr="images/s2_06_image20.png"/>
          <p:cNvPicPr>
            <a:picLocks noGrp="1" noChangeAspect="1"/>
          </p:cNvPicPr>
          <p:nvPr/>
        </p:nvPicPr>
        <p:blipFill>
          <a:blip r:embed="rId2"/>
          <a:stretch>
            <a:fillRect/>
          </a:stretch>
        </p:blipFill>
        <p:spPr bwMode="auto">
          <a:xfrm>
            <a:off x="457200" y="1638300"/>
            <a:ext cx="8229600" cy="1993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Effective Clinical Practice, May/June 2000, Volume 3, Number 3</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Clarifying some concepts</a:t>
            </a:r>
          </a:p>
        </p:txBody>
      </p:sp>
      <p:sp>
        <p:nvSpPr>
          <p:cNvPr id="3" name="Content Placeholder 2"/>
          <p:cNvSpPr>
            <a:spLocks noGrp="1"/>
          </p:cNvSpPr>
          <p:nvPr>
            <p:ph idx="1"/>
          </p:nvPr>
        </p:nvSpPr>
        <p:spPr/>
        <p:txBody>
          <a:bodyPr/>
          <a:lstStyle/>
          <a:p>
            <a:pPr marL="0" lvl="0" indent="0">
              <a:buNone/>
            </a:pPr>
            <a:r>
              <a:t>What (exactly) is a </a:t>
            </a:r>
            <a:r>
              <a:rPr b="1"/>
              <a:t>risk factor</a:t>
            </a:r>
            <a:r>
              <a:t>?*</a:t>
            </a:r>
          </a:p>
          <a:p>
            <a:pPr marL="0" lvl="0" indent="0">
              <a:buNone/>
            </a:pPr>
            <a:r>
              <a:rPr i="1"/>
              <a:t>*Think in prediction versus explanation</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Is caviar a risk factor for being a millionaire?</a:t>
            </a:r>
          </a:p>
        </p:txBody>
      </p:sp>
      <p:pic>
        <p:nvPicPr>
          <p:cNvPr id="3" name="Picture 1" descr="images/s2_06_image21.png"/>
          <p:cNvPicPr>
            <a:picLocks noGrp="1" noChangeAspect="1"/>
          </p:cNvPicPr>
          <p:nvPr/>
        </p:nvPicPr>
        <p:blipFill>
          <a:blip r:embed="rId2"/>
          <a:stretch>
            <a:fillRect/>
          </a:stretch>
        </p:blipFill>
        <p:spPr bwMode="auto">
          <a:xfrm>
            <a:off x="457200" y="1866900"/>
            <a:ext cx="8229600" cy="15367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BMJ 2016;355:i6536 doi: 10.1136/bmj.i6536</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risk factor approach</a:t>
            </a:r>
          </a:p>
        </p:txBody>
      </p:sp>
      <p:sp>
        <p:nvSpPr>
          <p:cNvPr id="3" name="Content Placeholder 2"/>
          <p:cNvSpPr>
            <a:spLocks noGrp="1"/>
          </p:cNvSpPr>
          <p:nvPr>
            <p:ph idx="1"/>
          </p:nvPr>
        </p:nvSpPr>
        <p:spPr/>
        <p:txBody>
          <a:bodyPr/>
          <a:lstStyle/>
          <a:p>
            <a:pPr lvl="0"/>
            <a:r>
              <a:t>The risk factor approach to epidemiology was introduced by the Framingham Heart Study investigators, who first alluded to the idea in 1951 and introduced it in 1961</a:t>
            </a:r>
          </a:p>
          <a:p>
            <a:pPr lvl="0"/>
            <a:r>
              <a:t>The semantic confusion has hindered precise communication about study design and data analysis</a:t>
            </a:r>
          </a:p>
          <a:p>
            <a:pPr lvl="0"/>
            <a:r>
              <a:t>You have a secretive friend, and among other questions, you are interested in knowing whether he is a millionaire. You are aware that there are some attributes, or risk factors, that are thought to be linked to being a millionaire</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Four broad objectives of clinical research</a:t>
            </a:r>
          </a:p>
        </p:txBody>
      </p:sp>
      <p:sp>
        <p:nvSpPr>
          <p:cNvPr id="3" name="Content Placeholder 2"/>
          <p:cNvSpPr>
            <a:spLocks noGrp="1"/>
          </p:cNvSpPr>
          <p:nvPr>
            <p:ph idx="1"/>
          </p:nvPr>
        </p:nvSpPr>
        <p:spPr/>
        <p:txBody>
          <a:bodyPr/>
          <a:lstStyle/>
          <a:p>
            <a:pPr marL="0" lvl="0" indent="0">
              <a:buNone/>
            </a:pPr>
            <a:r>
              <a:t>Clinical research can generally be divided into four broad objectives based on the intended use of the information obtained by the study:</a:t>
            </a:r>
          </a:p>
          <a:p>
            <a:pPr lvl="0"/>
            <a:r>
              <a:rPr b="1"/>
              <a:t>Diagnosis</a:t>
            </a:r>
          </a:p>
          <a:p>
            <a:pPr lvl="0"/>
            <a:r>
              <a:rPr b="1"/>
              <a:t>Prognosis</a:t>
            </a:r>
          </a:p>
          <a:p>
            <a:pPr lvl="0"/>
            <a:r>
              <a:rPr b="1"/>
              <a:t>Treatment effects</a:t>
            </a:r>
          </a:p>
          <a:p>
            <a:pPr lvl="0"/>
            <a:r>
              <a:rPr b="1"/>
              <a:t>Aetiology</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Objectives and definitions of risk factor</a:t>
            </a:r>
          </a:p>
        </p:txBody>
      </p:sp>
      <p:pic>
        <p:nvPicPr>
          <p:cNvPr id="3" name="Picture 1" descr="images/s2_06_image22.png"/>
          <p:cNvPicPr>
            <a:picLocks noGrp="1" noChangeAspect="1"/>
          </p:cNvPicPr>
          <p:nvPr/>
        </p:nvPicPr>
        <p:blipFill>
          <a:blip r:embed="rId2"/>
          <a:stretch>
            <a:fillRect/>
          </a:stretch>
        </p:blipFill>
        <p:spPr bwMode="auto">
          <a:xfrm>
            <a:off x="2082800" y="1193800"/>
            <a:ext cx="4978400" cy="3390900"/>
          </a:xfrm>
          <a:prstGeom prst="rect">
            <a:avLst/>
          </a:prstGeom>
          <a:noFill/>
          <a:ln w="9525">
            <a:noFill/>
            <a:headEnd/>
            <a:tailEnd/>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Therefore…</a:t>
            </a:r>
          </a:p>
        </p:txBody>
      </p:sp>
      <p:sp>
        <p:nvSpPr>
          <p:cNvPr id="3" name="Content Placeholder 2"/>
          <p:cNvSpPr>
            <a:spLocks noGrp="1"/>
          </p:cNvSpPr>
          <p:nvPr>
            <p:ph idx="1"/>
          </p:nvPr>
        </p:nvSpPr>
        <p:spPr/>
        <p:txBody>
          <a:bodyPr/>
          <a:lstStyle/>
          <a:p>
            <a:pPr lvl="0"/>
            <a:r>
              <a:t>When conducting observational studies, data analysis needs to be designed to match the particular definition that is being considered</a:t>
            </a:r>
          </a:p>
          <a:p>
            <a:pPr lvl="0"/>
            <a:r>
              <a:t>The definition of “risk factor” will vary depending on whether a research question is exploring diagnosis, prognosis, treatment effects, or aetiology</a:t>
            </a:r>
          </a:p>
          <a:p>
            <a:pPr lvl="0"/>
            <a:r>
              <a:t>Unless a definition is specified, it is not possible for readers of research papers to understand what the investigators attempted to learn, or to evaluate whether they succeeded in their objectives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3677</Words>
  <Application>Microsoft Office PowerPoint</Application>
  <PresentationFormat>On-screen Show (16:9)</PresentationFormat>
  <Paragraphs>462</Paragraphs>
  <Slides>124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124</vt:i4>
      </vt:variant>
    </vt:vector>
  </HeadingPairs>
  <TitlesOfParts>
    <vt:vector size="128" baseType="lpstr">
      <vt:lpstr>Arial</vt:lpstr>
      <vt:lpstr>Calibri</vt:lpstr>
      <vt:lpstr>Cambria Math</vt:lpstr>
      <vt:lpstr>Office Theme</vt:lpstr>
      <vt:lpstr>Types of Data, Data Description and Measures of Association</vt:lpstr>
      <vt:lpstr>Types of Data</vt:lpstr>
      <vt:lpstr>Basic principles of research</vt:lpstr>
      <vt:lpstr>Basic principles in data analysis</vt:lpstr>
      <vt:lpstr>Basic definitions</vt:lpstr>
      <vt:lpstr>Population</vt:lpstr>
      <vt:lpstr>Population — definition and unit of analysis</vt:lpstr>
      <vt:lpstr>Sample</vt:lpstr>
      <vt:lpstr>Variable</vt:lpstr>
      <vt:lpstr>Types of variables</vt:lpstr>
      <vt:lpstr>Nominal variables</vt:lpstr>
      <vt:lpstr>Nominal variables (cont.)</vt:lpstr>
      <vt:lpstr>Ordinal variables</vt:lpstr>
      <vt:lpstr>How to summarize: frequency table (n, %)</vt:lpstr>
      <vt:lpstr>Qualitative variables</vt:lpstr>
      <vt:lpstr>Discrete (quantitative) variables</vt:lpstr>
      <vt:lpstr>Continuous (quantitative) variables</vt:lpstr>
      <vt:lpstr>Data</vt:lpstr>
      <vt:lpstr>Data sample</vt:lpstr>
      <vt:lpstr>Data sample — example</vt:lpstr>
      <vt:lpstr>Example: healthy lifestyle and life expectancy</vt:lpstr>
      <vt:lpstr>Example — abstract (1/4)</vt:lpstr>
      <vt:lpstr>Example — abstract (2/4)</vt:lpstr>
      <vt:lpstr>Example — abstract (3/4)</vt:lpstr>
      <vt:lpstr>Example — abstract (4/4)</vt:lpstr>
      <vt:lpstr>Example — conclusion</vt:lpstr>
      <vt:lpstr>Example — Table 1</vt:lpstr>
      <vt:lpstr>Graphs and Data Description</vt:lpstr>
      <vt:lpstr>Qualitative variables (n, %)</vt:lpstr>
      <vt:lpstr>Qualitative variables — example</vt:lpstr>
      <vt:lpstr>Quantitative variables</vt:lpstr>
      <vt:lpstr>Centralization and dispersion</vt:lpstr>
      <vt:lpstr>Mean (x ‾)</vt:lpstr>
      <vt:lpstr>Standard deviation (SD)</vt:lpstr>
      <vt:lpstr>Mean and SD — example</vt:lpstr>
      <vt:lpstr>Normal distribution</vt:lpstr>
      <vt:lpstr>Normal distribution — standard normal</vt:lpstr>
      <vt:lpstr>Normal distribution — different means and variances</vt:lpstr>
      <vt:lpstr>Normal distribution — heart rate example</vt:lpstr>
      <vt:lpstr>SD and normal distribution</vt:lpstr>
      <vt:lpstr>SD and normal distribution — μ ± σ</vt:lpstr>
      <vt:lpstr>Reporting mean ± SD</vt:lpstr>
      <vt:lpstr>Mean in a skewed distribution</vt:lpstr>
      <vt:lpstr>Median and quartiles</vt:lpstr>
      <vt:lpstr>Quartiles and the boxplot</vt:lpstr>
      <vt:lpstr>Median</vt:lpstr>
      <vt:lpstr>Median — calculation</vt:lpstr>
      <vt:lpstr>Median — properties</vt:lpstr>
      <vt:lpstr>Data from 240 medical students (ALT)</vt:lpstr>
      <vt:lpstr>Data from 240 medical students (ALT) — histogram</vt:lpstr>
      <vt:lpstr>Median (50th percentile)</vt:lpstr>
      <vt:lpstr>Median and IQR</vt:lpstr>
      <vt:lpstr>Distribution of the data</vt:lpstr>
      <vt:lpstr>Families of distributions</vt:lpstr>
      <vt:lpstr>Graphs in statistics</vt:lpstr>
      <vt:lpstr>Graphs by type of variable</vt:lpstr>
      <vt:lpstr>Graphs in statistics — overview</vt:lpstr>
      <vt:lpstr>Qualitative data</vt:lpstr>
      <vt:lpstr>Qualitative data — bar chart</vt:lpstr>
      <vt:lpstr>Quantitative data</vt:lpstr>
      <vt:lpstr>Histograms</vt:lpstr>
      <vt:lpstr>Histograms by group</vt:lpstr>
      <vt:lpstr>Density plots by group</vt:lpstr>
      <vt:lpstr>Relationships between variables</vt:lpstr>
      <vt:lpstr>Scatter plot — outliers</vt:lpstr>
      <vt:lpstr>Scatter plot — life expectancy and GNP</vt:lpstr>
      <vt:lpstr>Scatter plot — agreement between methods</vt:lpstr>
      <vt:lpstr>Scatter plot matrix</vt:lpstr>
      <vt:lpstr>Boxplot</vt:lpstr>
      <vt:lpstr>Boxplot with data points</vt:lpstr>
      <vt:lpstr>Violin plot 1</vt:lpstr>
      <vt:lpstr>Violin plot 2</vt:lpstr>
      <vt:lpstr>Harrell plot</vt:lpstr>
      <vt:lpstr>Harrell plots vs. common alternatives</vt:lpstr>
      <vt:lpstr>Ridgeline plot</vt:lpstr>
      <vt:lpstr>More complex graphs</vt:lpstr>
      <vt:lpstr>Tufte’s views on graphical excellence</vt:lpstr>
      <vt:lpstr>Tufte — graphical displays should (1/2)</vt:lpstr>
      <vt:lpstr>Tufte — graphical displays should (2/2)</vt:lpstr>
      <vt:lpstr>Summary: variables, descriptives and graphs</vt:lpstr>
      <vt:lpstr>Banning bar graphs</vt:lpstr>
      <vt:lpstr>Dot plot example</vt:lpstr>
      <vt:lpstr>Descriptive statistics / Describing data</vt:lpstr>
      <vt:lpstr>Measures of Occurrence, Association and Effect</vt:lpstr>
      <vt:lpstr>Measures of occurrence, association and effect</vt:lpstr>
      <vt:lpstr>Risk and basic measures of frequency</vt:lpstr>
      <vt:lpstr>Risk — Incidence</vt:lpstr>
      <vt:lpstr>Risk — Cumulative incidence (CI)</vt:lpstr>
      <vt:lpstr>Risk — Cumulative incidence: examples and uses</vt:lpstr>
      <vt:lpstr>Risk — “Rate”</vt:lpstr>
      <vt:lpstr>Risk — Incidence rate (IR)</vt:lpstr>
      <vt:lpstr>CI versus IR</vt:lpstr>
      <vt:lpstr>CI versus IR — calculation</vt:lpstr>
      <vt:lpstr>IR (incidence rate) — example</vt:lpstr>
      <vt:lpstr>Risk vs Rate</vt:lpstr>
      <vt:lpstr>Mortality</vt:lpstr>
      <vt:lpstr>Risk — Prevalence</vt:lpstr>
      <vt:lpstr>Point prevalence</vt:lpstr>
      <vt:lpstr>Period prevalence</vt:lpstr>
      <vt:lpstr>Point / Period</vt:lpstr>
      <vt:lpstr>Prevalence and incidence relationship</vt:lpstr>
      <vt:lpstr>Incidence, prevalence and outflow</vt:lpstr>
      <vt:lpstr>2 × 2 table</vt:lpstr>
      <vt:lpstr>2 × 2 table — frequency measures</vt:lpstr>
      <vt:lpstr>Absolute association measures</vt:lpstr>
      <vt:lpstr>Relative association measures: relative risk / CIR</vt:lpstr>
      <vt:lpstr>Relative risk / CIR — formula</vt:lpstr>
      <vt:lpstr>Relative risk — example (Honolulu Heart Programme, Abbot, 1980)</vt:lpstr>
      <vt:lpstr>Relative risk — example calculation</vt:lpstr>
      <vt:lpstr>Odds</vt:lpstr>
      <vt:lpstr>Odds — risk vs odds</vt:lpstr>
      <vt:lpstr>Odds ratio</vt:lpstr>
      <vt:lpstr>Odds ratio — 2 × 2 table</vt:lpstr>
      <vt:lpstr>Odds ratio — formula</vt:lpstr>
      <vt:lpstr>Odds ratio — example (MacMahon et al., NEJM, 1981)</vt:lpstr>
      <vt:lpstr>RR and OR interpretation (1/2)</vt:lpstr>
      <vt:lpstr>RR and OR interpretation (2/2)</vt:lpstr>
      <vt:lpstr>Risk “vs” Odds</vt:lpstr>
      <vt:lpstr>Clarifying some concepts</vt:lpstr>
      <vt:lpstr>Is caviar a risk factor for being a millionaire?</vt:lpstr>
      <vt:lpstr>The risk factor approach</vt:lpstr>
      <vt:lpstr>Four broad objectives of clinical research</vt:lpstr>
      <vt:lpstr>Objectives and definitions of risk factor</vt:lpstr>
      <vt:lpstr>Therefore…</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0</TotalTime>
  <Words>11</Words>
  <Application>Microsoft Office PowerPoint</Application>
  <PresentationFormat>On-screen Show (16:9)</PresentationFormat>
  <Paragraphs>5</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Title</vt:lpstr>
      <vt:lpstr>A heading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Data, Data Description and Measures of Association</dc:title>
  <dc:creator>Jose Andres Calvache MD MSc PhD</dc:creator>
  <cp:keywords/>
  <cp:lastModifiedBy>JOSE ANDRES CALVACHE ESPANA</cp:lastModifiedBy>
  <cp:revision>1</cp:revision>
  <dcterms:created xsi:type="dcterms:W3CDTF">2026-10-04T19:23:09Z</dcterms:created>
  <dcterms:modified xsi:type="dcterms:W3CDTF">2026-10-04T19:23:22Z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date">
    <vt:lpwstr>2026-10-04</vt:lpwstr>
  </property>
  <property fmtid="{D5CDD505-2E9C-101B-9397-08002B2CF9AE}" pid="8" name="engines">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institute">
    <vt:lpwstr/>
  </property>
  <property fmtid="{D5CDD505-2E9C-101B-9397-08002B2CF9AE}" pid="13" name="institutes">
    <vt:lpwstr/>
  </property>
  <property fmtid="{D5CDD505-2E9C-101B-9397-08002B2CF9AE}" pid="14" name="labels">
    <vt:lpwstr/>
  </property>
  <property fmtid="{D5CDD505-2E9C-101B-9397-08002B2CF9AE}" pid="15" name="subtitle">
    <vt:lpwstr>Section 2 — Introduction to Biostatistics</vt:lpwstr>
  </property>
  <property fmtid="{D5CDD505-2E9C-101B-9397-08002B2CF9AE}" pid="16" name="toc-title">
    <vt:lpwstr>Table of contents</vt:lpwstr>
  </property>
</Properties>
</file>