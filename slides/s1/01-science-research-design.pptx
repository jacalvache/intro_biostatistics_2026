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notesMaster" Target="notesMasters/notesMaster1.xml"/><Relationship Id="rId20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If you examine 1 million swans and observe them all to be white, this does not prove the hypothesis that all swans are white — if you see one black swan, the hypothesis is falsified (falsification).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Slide 20 original note: key questions to classify a study design.</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case series is a prevalence survey of a group of individuals with a particular disease, performed at a single point in time — particularly common for delineating the clinical picture of rare diseases. For example, sampling an outcome and describing its potential risk factors: this would be the case group of a case-control study.</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solidFill>
                  <a:srgbClr val="08295E"/>
                </a:solidFill>
              </a:defRPr>
            </a:lvl1p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solidFill>
                  <a:srgbClr val="08295E"/>
                </a:solidFill>
              </a:defRPr>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solidFill>
                  <a:srgbClr val="08295E"/>
                </a:solidFill>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10/4/2026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rgbClr val="08295E"/>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Science Before Statistics</a:t>
            </a:r>
          </a:p>
        </p:txBody>
      </p:sp>
      <p:sp>
        <p:nvSpPr>
          <p:cNvPr id="3" name="Subtitle 2"/>
          <p:cNvSpPr>
            <a:spLocks noGrp="1"/>
          </p:cNvSpPr>
          <p:nvPr>
            <p:ph type="subTitle" idx="1"/>
          </p:nvPr>
        </p:nvSpPr>
        <p:spPr>
          <a:xfrm>
            <a:off x="1371600" y="2914650"/>
            <a:ext cx="6400800" cy="1314450"/>
          </a:xfrm>
        </p:spPr>
        <p:txBody>
          <a:bodyPr/>
          <a:lstStyle/>
          <a:p>
            <a:pPr marL="0" lvl="0" indent="0">
              <a:buNone/>
            </a:pPr>
            <a:r>
              <a:t>Section 1 — Introduction to Biostatistics</a:t>
            </a:r>
            <a:br/>
            <a:br/>
            <a:r>
              <a:t>Jose Andres Calvache MD MSc PhD</a:t>
            </a:r>
          </a:p>
        </p:txBody>
      </p:sp>
      <p:sp>
        <p:nvSpPr>
          <p:cNvPr id="4" name="Date Placeholder 3"/>
          <p:cNvSpPr>
            <a:spLocks noGrp="1"/>
          </p:cNvSpPr>
          <p:nvPr>
            <p:ph type="dt" sz="half" idx="10"/>
          </p:nvPr>
        </p:nvSpPr>
        <p:spPr/>
        <p:txBody>
          <a:bodyPr/>
          <a:lstStyle/>
          <a:p>
            <a:pPr marL="0" lvl="0" indent="0">
              <a:buNone/>
            </a:pPr>
            <a:r>
              <a:t>2026-10-04</a:t>
            </a:r>
          </a:p>
        </p:txBody>
      </p:sp>
      <p:pic>
        <p:nvPicPr>
          <p:cNvPr id="6" name="Picture 5">
            <a:extLst>
              <a:ext uri="{FF2B5EF4-FFF2-40B4-BE49-F238E27FC236}">
                <a16:creationId xmlns:a16="http://schemas.microsoft.com/office/drawing/2014/main" id="{9FD18C7E-822F-0BAD-16F9-8031326D0501}"/>
              </a:ext>
            </a:extLst>
          </p:cNvPr>
          <p:cNvPicPr>
            <a:picLocks noChangeAspect="1"/>
          </p:cNvPicPr>
          <p:nvPr/>
        </p:nvPicPr>
        <p:blipFill>
          <a:blip r:embed="rId2"/>
          <a:stretch>
            <a:fillRect/>
          </a:stretch>
        </p:blipFill>
        <p:spPr>
          <a:xfrm>
            <a:off x="7439237" y="127000"/>
            <a:ext cx="214279" cy="330200"/>
          </a:xfrm>
          <a:prstGeom prst="rect">
            <a:avLst/>
          </a:prstGeom>
        </p:spPr>
      </p:pic>
      <p:pic>
        <p:nvPicPr>
          <p:cNvPr id="8" name="Picture 7">
            <a:extLst>
              <a:ext uri="{FF2B5EF4-FFF2-40B4-BE49-F238E27FC236}">
                <a16:creationId xmlns:a16="http://schemas.microsoft.com/office/drawing/2014/main" id="{9BD85B05-9E53-D8EC-E5C8-9B93F5B7FCB8}"/>
              </a:ext>
            </a:extLst>
          </p:cNvPr>
          <p:cNvPicPr>
            <a:picLocks noChangeAspect="1"/>
          </p:cNvPicPr>
          <p:nvPr/>
        </p:nvPicPr>
        <p:blipFill>
          <a:blip r:embed="rId3"/>
          <a:stretch>
            <a:fillRect/>
          </a:stretch>
        </p:blipFill>
        <p:spPr>
          <a:xfrm>
            <a:off x="7755116" y="127000"/>
            <a:ext cx="288570" cy="330200"/>
          </a:xfrm>
          <a:prstGeom prst="rect">
            <a:avLst/>
          </a:prstGeom>
        </p:spPr>
      </p:pic>
      <p:pic>
        <p:nvPicPr>
          <p:cNvPr id="10" name="Picture 9">
            <a:extLst>
              <a:ext uri="{FF2B5EF4-FFF2-40B4-BE49-F238E27FC236}">
                <a16:creationId xmlns:a16="http://schemas.microsoft.com/office/drawing/2014/main" id="{2D1ADC6B-C9DD-B6FC-8343-87480CDA6E12}"/>
              </a:ext>
            </a:extLst>
          </p:cNvPr>
          <p:cNvPicPr>
            <a:picLocks noChangeAspect="1"/>
          </p:cNvPicPr>
          <p:nvPr/>
        </p:nvPicPr>
        <p:blipFill>
          <a:blip r:embed="rId4"/>
          <a:stretch>
            <a:fillRect/>
          </a:stretch>
        </p:blipFill>
        <p:spPr>
          <a:xfrm>
            <a:off x="8145286" y="127000"/>
            <a:ext cx="820914" cy="330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Science Before Statistics</a:t>
            </a:r>
          </a:p>
        </p:txBody>
      </p:sp>
      <p:sp>
        <p:nvSpPr>
          <p:cNvPr id="3" name="Content Placeholder 2"/>
          <p:cNvSpPr>
            <a:spLocks noGrp="1"/>
          </p:cNvSpPr>
          <p:nvPr>
            <p:ph idx="1"/>
          </p:nvPr>
        </p:nvSpPr>
        <p:spPr/>
        <p:txBody>
          <a:bodyPr/>
          <a:lstStyle/>
          <a:p>
            <a:pPr lvl="0"/>
            <a:r>
              <a:t>Research questions</a:t>
            </a:r>
          </a:p>
          <a:p>
            <a:pPr lvl="0"/>
            <a:r>
              <a:t>Brief overview of study designs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On research quality</a:t>
            </a:r>
          </a:p>
        </p:txBody>
      </p:sp>
      <p:pic>
        <p:nvPicPr>
          <p:cNvPr id="3" name="Picture 1" descr="images/quote-altman.png"/>
          <p:cNvPicPr>
            <a:picLocks noGrp="1" noChangeAspect="1"/>
          </p:cNvPicPr>
          <p:nvPr/>
        </p:nvPicPr>
        <p:blipFill>
          <a:blip r:embed="rId2"/>
          <a:stretch>
            <a:fillRect/>
          </a:stretch>
        </p:blipFill>
        <p:spPr bwMode="auto">
          <a:xfrm>
            <a:off x="1028700" y="1193800"/>
            <a:ext cx="7073900" cy="33909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methodology matters</a:t>
            </a:r>
          </a:p>
        </p:txBody>
      </p:sp>
      <p:sp>
        <p:nvSpPr>
          <p:cNvPr id="3" name="Content Placeholder 2"/>
          <p:cNvSpPr>
            <a:spLocks noGrp="1"/>
          </p:cNvSpPr>
          <p:nvPr>
            <p:ph idx="1"/>
          </p:nvPr>
        </p:nvSpPr>
        <p:spPr/>
        <p:txBody>
          <a:bodyPr/>
          <a:lstStyle/>
          <a:p>
            <a:pPr marL="0" lvl="0" indent="0">
              <a:buNone/>
            </a:pPr>
            <a:r>
              <a:t>Training in statistics and methodology should discuss how studies are designed and how research questions are translated into study procedures, data collection processes, and analysis tools.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incentives — the problem</a:t>
            </a:r>
          </a:p>
        </p:txBody>
      </p:sp>
      <p:sp>
        <p:nvSpPr>
          <p:cNvPr id="3" name="Content Placeholder 2"/>
          <p:cNvSpPr>
            <a:spLocks noGrp="1"/>
          </p:cNvSpPr>
          <p:nvPr>
            <p:ph idx="1"/>
          </p:nvPr>
        </p:nvSpPr>
        <p:spPr/>
        <p:txBody>
          <a:bodyPr/>
          <a:lstStyle/>
          <a:p>
            <a:pPr lvl="0"/>
            <a:r>
              <a:t>Research incentives focus on quantity, rather than methodological quality</a:t>
            </a:r>
          </a:p>
          <a:p>
            <a:pPr lvl="0"/>
            <a:r>
              <a:t>Funders and journals prioritize novelty over incremental and replication research</a:t>
            </a:r>
          </a:p>
          <a:p>
            <a:pPr lvl="0"/>
            <a:r>
              <a:t>Researchers’ agendas are dictated by short-term deadlines</a:t>
            </a:r>
          </a:p>
          <a:p>
            <a:pPr lvl="0"/>
            <a:r>
              <a:t>Peer review remains unacknowledged</a:t>
            </a:r>
          </a:p>
          <a:p>
            <a:pPr lvl="0"/>
            <a:r>
              <a:t>Methodological illiteracy is still accepted</a:t>
            </a:r>
          </a:p>
          <a:p>
            <a:pPr lvl="0"/>
            <a:r>
              <a:t>Transparent and complete reporting remains rare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Practices resulting from prioritizing publication appearance over quality (1/2)</a:t>
            </a:r>
          </a:p>
        </p:txBody>
      </p:sp>
      <p:sp>
        <p:nvSpPr>
          <p:cNvPr id="3" name="Content Placeholder 2"/>
          <p:cNvSpPr>
            <a:spLocks noGrp="1"/>
          </p:cNvSpPr>
          <p:nvPr>
            <p:ph idx="1"/>
          </p:nvPr>
        </p:nvSpPr>
        <p:spPr/>
        <p:txBody>
          <a:bodyPr/>
          <a:lstStyle/>
          <a:p>
            <a:pPr lvl="0"/>
            <a:r>
              <a:t>Poor study preparation and design</a:t>
            </a:r>
          </a:p>
          <a:p>
            <a:pPr lvl="0"/>
            <a:r>
              <a:t>Data or analysis tweaking (e.g. p-hacking)</a:t>
            </a:r>
          </a:p>
          <a:p>
            <a:pPr lvl="0"/>
            <a:r>
              <a:t>Incomplete reporting</a:t>
            </a:r>
          </a:p>
          <a:p>
            <a:pPr lvl="0"/>
            <a:r>
              <a:t>Selective reporting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Practices resulting from prioritizing publication appearance over quality (2/2)</a:t>
            </a:r>
          </a:p>
        </p:txBody>
      </p:sp>
      <p:sp>
        <p:nvSpPr>
          <p:cNvPr id="3" name="Content Placeholder 2"/>
          <p:cNvSpPr>
            <a:spLocks noGrp="1"/>
          </p:cNvSpPr>
          <p:nvPr>
            <p:ph idx="1"/>
          </p:nvPr>
        </p:nvSpPr>
        <p:spPr/>
        <p:txBody>
          <a:bodyPr/>
          <a:lstStyle/>
          <a:p>
            <a:pPr lvl="0"/>
            <a:r>
              <a:t>To use exaggerated claims when disseminating research results (over or wrong interpretation)</a:t>
            </a:r>
          </a:p>
          <a:p>
            <a:pPr lvl="0"/>
            <a:r>
              <a:t>Publication bias</a:t>
            </a:r>
          </a:p>
          <a:p>
            <a:pPr lvl="0"/>
            <a:r>
              <a:t>HARKing (hypothesizing after the results are known)</a:t>
            </a:r>
          </a:p>
          <a:p>
            <a:pPr lvl="0"/>
            <a:r>
              <a:t>Reluctance to take corrective action post hoc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research process</a:t>
            </a:r>
          </a:p>
        </p:txBody>
      </p:sp>
      <p:pic>
        <p:nvPicPr>
          <p:cNvPr id="3" name="Picture 1" descr="images/research-process-steps.png"/>
          <p:cNvPicPr>
            <a:picLocks noGrp="1" noChangeAspect="1"/>
          </p:cNvPicPr>
          <p:nvPr/>
        </p:nvPicPr>
        <p:blipFill>
          <a:blip r:embed="rId2"/>
          <a:stretch>
            <a:fillRect/>
          </a:stretch>
        </p:blipFill>
        <p:spPr bwMode="auto">
          <a:xfrm>
            <a:off x="2959100" y="1193800"/>
            <a:ext cx="3225800" cy="33909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is Science?</a:t>
            </a:r>
          </a:p>
        </p:txBody>
      </p:sp>
      <p:sp>
        <p:nvSpPr>
          <p:cNvPr id="3" name="Content Placeholder 2"/>
          <p:cNvSpPr>
            <a:spLocks noGrp="1"/>
          </p:cNvSpPr>
          <p:nvPr>
            <p:ph idx="1"/>
          </p:nvPr>
        </p:nvSpPr>
        <p:spPr/>
        <p:txBody>
          <a:bodyPr/>
          <a:lstStyle/>
          <a:p>
            <a:pPr marL="0" lvl="0" indent="0">
              <a:buNone/>
            </a:pPr>
            <a:r>
              <a:rPr b="1"/>
              <a:t>Oxford Dictionary definition:</a:t>
            </a:r>
            <a:r>
              <a:t> A branch of knowledge conducted on objective principles involving the systematized observation of and experiments with phenomena, especially concerned with the material and functions of the physical universe.</a:t>
            </a:r>
          </a:p>
          <a:p>
            <a:pPr marL="0" lvl="0" indent="0">
              <a:buNone/>
            </a:pPr>
            <a:r>
              <a:rPr b="1"/>
              <a:t>More simply:</a:t>
            </a:r>
            <a:r>
              <a:t> Science is the acquisition of reliable but not infallible knowledge of the real world, including explanations of phenomena.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Science is not! (popular myths)</a:t>
            </a:r>
          </a:p>
        </p:txBody>
      </p:sp>
      <p:sp>
        <p:nvSpPr>
          <p:cNvPr id="3" name="Content Placeholder 2"/>
          <p:cNvSpPr>
            <a:spLocks noGrp="1"/>
          </p:cNvSpPr>
          <p:nvPr>
            <p:ph idx="1"/>
          </p:nvPr>
        </p:nvSpPr>
        <p:spPr/>
        <p:txBody>
          <a:bodyPr/>
          <a:lstStyle/>
          <a:p>
            <a:pPr lvl="0"/>
            <a:r>
              <a:t>The practice of Science leads to the truth</a:t>
            </a:r>
          </a:p>
          <a:p>
            <a:pPr lvl="0"/>
            <a:r>
              <a:t>Science can prove things</a:t>
            </a:r>
          </a:p>
          <a:p>
            <a:pPr lvl="0"/>
            <a:r>
              <a:t>Science can only be done whenever experimental manipulation can be carried out</a:t>
            </a:r>
          </a:p>
          <a:p>
            <a:pPr marL="0" lvl="0" indent="0">
              <a:buNone/>
            </a:pPr>
            <a:r>
              <a:t>The essence of science is the testability of hypotheses and the reproducibility of findings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Knowledge comes in many forms</a:t>
            </a:r>
          </a:p>
        </p:txBody>
      </p:sp>
      <p:sp>
        <p:nvSpPr>
          <p:cNvPr id="3" name="Content Placeholder 2"/>
          <p:cNvSpPr>
            <a:spLocks noGrp="1"/>
          </p:cNvSpPr>
          <p:nvPr>
            <p:ph idx="1"/>
          </p:nvPr>
        </p:nvSpPr>
        <p:spPr/>
        <p:txBody>
          <a:bodyPr/>
          <a:lstStyle/>
          <a:p>
            <a:pPr lvl="0"/>
            <a:r>
              <a:t>Science is one approach to gaining knowledge through research</a:t>
            </a:r>
          </a:p>
          <a:p>
            <a:pPr lvl="0"/>
            <a:r>
              <a:t>Science includes anything observable in the universe</a:t>
            </a:r>
          </a:p>
          <a:p>
            <a:pPr lvl="1"/>
            <a:r>
              <a:t>Must be measurable</a:t>
            </a:r>
          </a:p>
          <a:p>
            <a:pPr lvl="1"/>
            <a:r>
              <a:t>Empirical — relies on observation and experience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Areas of Science</a:t>
            </a:r>
          </a:p>
        </p:txBody>
      </p:sp>
      <p:sp>
        <p:nvSpPr>
          <p:cNvPr id="3" name="Content Placeholder 2"/>
          <p:cNvSpPr>
            <a:spLocks noGrp="1"/>
          </p:cNvSpPr>
          <p:nvPr>
            <p:ph sz="half" idx="1"/>
          </p:nvPr>
        </p:nvSpPr>
        <p:spPr/>
        <p:txBody>
          <a:bodyPr/>
          <a:lstStyle/>
          <a:p>
            <a:pPr lvl="0"/>
            <a:r>
              <a:rPr b="1"/>
              <a:t>Physical Sciences</a:t>
            </a:r>
          </a:p>
          <a:p>
            <a:pPr lvl="1"/>
            <a:r>
              <a:t>Chemistry</a:t>
            </a:r>
          </a:p>
          <a:p>
            <a:pPr lvl="1"/>
            <a:r>
              <a:t>Physics</a:t>
            </a:r>
          </a:p>
          <a:p>
            <a:pPr lvl="0"/>
            <a:r>
              <a:rPr b="1"/>
              <a:t>Biological Sciences</a:t>
            </a:r>
          </a:p>
          <a:p>
            <a:pPr lvl="1"/>
            <a:r>
              <a:t>Ecology</a:t>
            </a:r>
          </a:p>
          <a:p>
            <a:pPr lvl="1"/>
            <a:r>
              <a:t>Evolution</a:t>
            </a:r>
          </a:p>
          <a:p>
            <a:pPr lvl="1"/>
            <a:r>
              <a:t>Molecular Biology</a:t>
            </a:r>
          </a:p>
          <a:p>
            <a:pPr lvl="0"/>
            <a:r>
              <a:rPr b="1"/>
              <a:t>Behavioural Sciences</a:t>
            </a:r>
          </a:p>
          <a:p>
            <a:pPr lvl="1"/>
            <a:r>
              <a:t>Animal behaviour</a:t>
            </a:r>
          </a:p>
          <a:p>
            <a:pPr lvl="1"/>
            <a:r>
              <a:t>Human behaviour</a:t>
            </a:r>
          </a:p>
          <a:p>
            <a:pPr lvl="0"/>
            <a:r>
              <a:rPr b="1"/>
              <a:t>Earth Sciences</a:t>
            </a:r>
          </a:p>
        </p:txBody>
      </p:sp>
      <p:sp>
        <p:nvSpPr>
          <p:cNvPr id="4" name="Content Placeholder 3"/>
          <p:cNvSpPr>
            <a:spLocks noGrp="1"/>
          </p:cNvSpPr>
          <p:nvPr>
            <p:ph sz="half" idx="2"/>
          </p:nvPr>
        </p:nvSpPr>
        <p:spPr/>
        <p:txBody>
          <a:bodyPr/>
          <a:lstStyle/>
          <a:p>
            <a:pPr marL="0" lvl="0" indent="0">
              <a:buNone/>
            </a:pPr>
            <a:r>
              <a:t>Can rely heavily on observation outside the laboratory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understand science?</a:t>
            </a:r>
          </a:p>
        </p:txBody>
      </p:sp>
      <p:sp>
        <p:nvSpPr>
          <p:cNvPr id="3" name="Content Placeholder 2"/>
          <p:cNvSpPr>
            <a:spLocks noGrp="1"/>
          </p:cNvSpPr>
          <p:nvPr>
            <p:ph idx="1"/>
          </p:nvPr>
        </p:nvSpPr>
        <p:spPr/>
        <p:txBody>
          <a:bodyPr/>
          <a:lstStyle/>
          <a:p>
            <a:pPr lvl="0"/>
            <a:r>
              <a:t>To be informed</a:t>
            </a:r>
          </a:p>
          <a:p>
            <a:pPr lvl="0"/>
            <a:r>
              <a:t>To make decisions</a:t>
            </a:r>
          </a:p>
          <a:p>
            <a:pPr lvl="0"/>
            <a:r>
              <a:t>Pseudoscience</a:t>
            </a:r>
          </a:p>
          <a:p>
            <a:pPr lvl="1"/>
            <a:r>
              <a:t>Silly to dangerous</a:t>
            </a:r>
          </a:p>
          <a:p>
            <a:pPr lvl="1"/>
            <a:r>
              <a:t>Need to separate sense from nonsense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we need to understand</a:t>
            </a:r>
          </a:p>
        </p:txBody>
      </p:sp>
      <p:sp>
        <p:nvSpPr>
          <p:cNvPr id="3" name="Content Placeholder 2"/>
          <p:cNvSpPr>
            <a:spLocks noGrp="1"/>
          </p:cNvSpPr>
          <p:nvPr>
            <p:ph idx="1"/>
          </p:nvPr>
        </p:nvSpPr>
        <p:spPr/>
        <p:txBody>
          <a:bodyPr/>
          <a:lstStyle/>
          <a:p>
            <a:pPr lvl="0"/>
            <a:r>
              <a:t>Link between MMR vaccine &amp; Autism, 1998 — study in </a:t>
            </a:r>
            <a:r>
              <a:rPr i="1"/>
              <a:t>The Lancet</a:t>
            </a:r>
          </a:p>
          <a:p>
            <a:pPr lvl="0"/>
            <a:r>
              <a:t>Sample size of 12 children</a:t>
            </a:r>
          </a:p>
          <a:p>
            <a:pPr lvl="0"/>
            <a:r>
              <a:t>Parents of 8 noted symptoms of Autism after vaccination</a:t>
            </a:r>
          </a:p>
          <a:p>
            <a:pPr lvl="0"/>
            <a:r>
              <a:t>Study recommended further investigation to examine possible link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we need to understand — the aftermath</a:t>
            </a:r>
          </a:p>
        </p:txBody>
      </p:sp>
      <p:sp>
        <p:nvSpPr>
          <p:cNvPr id="3" name="Content Placeholder 2"/>
          <p:cNvSpPr>
            <a:spLocks noGrp="1"/>
          </p:cNvSpPr>
          <p:nvPr>
            <p:ph idx="1"/>
          </p:nvPr>
        </p:nvSpPr>
        <p:spPr/>
        <p:txBody>
          <a:bodyPr/>
          <a:lstStyle/>
          <a:p>
            <a:pPr lvl="0"/>
            <a:r>
              <a:t>Press conference with lead author who suggested a link</a:t>
            </a:r>
          </a:p>
          <a:p>
            <a:pPr lvl="0"/>
            <a:r>
              <a:t>Major health scare</a:t>
            </a:r>
          </a:p>
          <a:p>
            <a:pPr lvl="0"/>
            <a:r>
              <a:t>Children getting MMR vaccine dropped considerably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Major flaws with this study</a:t>
            </a:r>
          </a:p>
        </p:txBody>
      </p:sp>
      <p:sp>
        <p:nvSpPr>
          <p:cNvPr id="3" name="Content Placeholder 2"/>
          <p:cNvSpPr>
            <a:spLocks noGrp="1"/>
          </p:cNvSpPr>
          <p:nvPr>
            <p:ph idx="1"/>
          </p:nvPr>
        </p:nvSpPr>
        <p:spPr/>
        <p:txBody>
          <a:bodyPr/>
          <a:lstStyle/>
          <a:p>
            <a:pPr lvl="0"/>
            <a:r>
              <a:t>Small sample size</a:t>
            </a:r>
          </a:p>
          <a:p>
            <a:pPr lvl="0"/>
            <a:r>
              <a:t>Patients were not chosen randomly</a:t>
            </a:r>
          </a:p>
          <a:p>
            <a:pPr lvl="0"/>
            <a:r>
              <a:t>No control group to compare</a:t>
            </a:r>
          </a:p>
          <a:p>
            <a:pPr marL="0" lvl="0" indent="0">
              <a:buNone/>
            </a:pPr>
            <a:r>
              <a:t>Most importantly, despite these flaws the study did not observe a link. Importance of communication of findings.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Major flaws with this study — what happened next</a:t>
            </a:r>
          </a:p>
        </p:txBody>
      </p:sp>
      <p:sp>
        <p:nvSpPr>
          <p:cNvPr id="3" name="Content Placeholder 2"/>
          <p:cNvSpPr>
            <a:spLocks noGrp="1"/>
          </p:cNvSpPr>
          <p:nvPr>
            <p:ph idx="1"/>
          </p:nvPr>
        </p:nvSpPr>
        <p:spPr/>
        <p:txBody>
          <a:bodyPr/>
          <a:lstStyle/>
          <a:p>
            <a:pPr lvl="0"/>
            <a:r>
              <a:t>Lead author received large amounts of money from lawyers</a:t>
            </a:r>
          </a:p>
          <a:p>
            <a:pPr lvl="0"/>
            <a:r>
              <a:t>Applied for patent for a vaccine to rival MMR</a:t>
            </a:r>
          </a:p>
          <a:p>
            <a:pPr lvl="0"/>
            <a:r>
              <a:t>As a result, 10 of the 12 authors published a retraction</a:t>
            </a:r>
          </a:p>
          <a:p>
            <a:pPr marL="0" lvl="0" indent="0">
              <a:buNone/>
            </a:pPr>
            <a:r>
              <a:rPr i="1"/>
              <a:t>Since then… all following studies have been definitive on the conclusion that there is no link between MMR vaccine and autism.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Philosophy of Science</a:t>
            </a:r>
          </a:p>
        </p:txBody>
      </p:sp>
      <p:sp>
        <p:nvSpPr>
          <p:cNvPr id="3" name="Content Placeholder 2"/>
          <p:cNvSpPr>
            <a:spLocks noGrp="1"/>
          </p:cNvSpPr>
          <p:nvPr>
            <p:ph idx="1"/>
          </p:nvPr>
        </p:nvSpPr>
        <p:spPr/>
        <p:txBody>
          <a:bodyPr/>
          <a:lstStyle/>
          <a:p>
            <a:pPr lvl="0"/>
            <a:r>
              <a:rPr b="1"/>
              <a:t>Philosophy:</a:t>
            </a:r>
            <a:r>
              <a:t> How we understand the world</a:t>
            </a:r>
          </a:p>
          <a:p>
            <a:pPr lvl="0"/>
            <a:r>
              <a:rPr b="1"/>
              <a:t>Science:</a:t>
            </a:r>
            <a:r>
              <a:t> A method for understanding</a:t>
            </a:r>
          </a:p>
          <a:p>
            <a:pPr lvl="1"/>
            <a:r>
              <a:t>Developing a theory</a:t>
            </a:r>
          </a:p>
          <a:p>
            <a:pPr lvl="1"/>
            <a:r>
              <a:t>Formulation of hypotheses</a:t>
            </a:r>
          </a:p>
          <a:p>
            <a:pPr lvl="1"/>
            <a:r>
              <a:t>Explanations and predictions</a:t>
            </a:r>
          </a:p>
          <a:p>
            <a:pPr lvl="1"/>
            <a:r>
              <a:t>Design and analyses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Four terms: four meanings</a:t>
            </a:r>
          </a:p>
        </p:txBody>
      </p:sp>
      <p:sp>
        <p:nvSpPr>
          <p:cNvPr id="3" name="Content Placeholder 2"/>
          <p:cNvSpPr>
            <a:spLocks noGrp="1"/>
          </p:cNvSpPr>
          <p:nvPr>
            <p:ph idx="1"/>
          </p:nvPr>
        </p:nvSpPr>
        <p:spPr/>
        <p:txBody>
          <a:bodyPr/>
          <a:lstStyle/>
          <a:p>
            <a:pPr lvl="0"/>
            <a:r>
              <a:t>Fact</a:t>
            </a:r>
          </a:p>
          <a:p>
            <a:pPr lvl="0"/>
            <a:r>
              <a:t>Law</a:t>
            </a:r>
          </a:p>
          <a:p>
            <a:pPr lvl="0"/>
            <a:r>
              <a:t>Hypothesis</a:t>
            </a:r>
          </a:p>
          <a:p>
            <a:pPr lvl="0"/>
            <a:r>
              <a:t>Theory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fact</a:t>
            </a:r>
          </a:p>
        </p:txBody>
      </p:sp>
      <p:sp>
        <p:nvSpPr>
          <p:cNvPr id="3" name="Content Placeholder 2"/>
          <p:cNvSpPr>
            <a:spLocks noGrp="1"/>
          </p:cNvSpPr>
          <p:nvPr>
            <p:ph idx="1"/>
          </p:nvPr>
        </p:nvSpPr>
        <p:spPr/>
        <p:txBody>
          <a:bodyPr/>
          <a:lstStyle/>
          <a:p>
            <a:pPr marL="0" lvl="0" indent="0">
              <a:buNone/>
            </a:pPr>
            <a:r>
              <a:rPr i="1"/>
              <a:t>(National Academy of Sciences)</a:t>
            </a:r>
          </a:p>
          <a:p>
            <a:pPr marL="0" lvl="0" indent="0">
              <a:buNone/>
            </a:pPr>
            <a:r>
              <a:t>In science, an observation that has been repeatedly confirmed and for all practical purposes is accepted as “true”.</a:t>
            </a:r>
          </a:p>
          <a:p>
            <a:pPr marL="0" lvl="0" indent="0">
              <a:buNone/>
            </a:pPr>
            <a:r>
              <a:t>Truth in science, however, is never final, and what is accepted as a fact today may be modified or even discarded tomorrow.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law</a:t>
            </a:r>
          </a:p>
        </p:txBody>
      </p:sp>
      <p:sp>
        <p:nvSpPr>
          <p:cNvPr id="3" name="Content Placeholder 2"/>
          <p:cNvSpPr>
            <a:spLocks noGrp="1"/>
          </p:cNvSpPr>
          <p:nvPr>
            <p:ph idx="1"/>
          </p:nvPr>
        </p:nvSpPr>
        <p:spPr/>
        <p:txBody>
          <a:bodyPr/>
          <a:lstStyle/>
          <a:p>
            <a:pPr marL="0" lvl="0" indent="0">
              <a:buNone/>
            </a:pPr>
            <a:r>
              <a:rPr i="1"/>
              <a:t>(National Academy of Sciences)</a:t>
            </a:r>
          </a:p>
          <a:p>
            <a:pPr marL="0" lvl="0" indent="0">
              <a:buNone/>
            </a:pPr>
            <a:r>
              <a:t>In science, a descriptive generalization about how some aspect of the natural world behaves under specified circumstances.</a:t>
            </a:r>
          </a:p>
          <a:p>
            <a:pPr marL="0" lvl="0" indent="0">
              <a:buNone/>
            </a:pPr>
            <a:r>
              <a:rPr i="1"/>
              <a:t>e.g. the second law of thermodynamics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scientific hypothesis</a:t>
            </a:r>
          </a:p>
        </p:txBody>
      </p:sp>
      <p:sp>
        <p:nvSpPr>
          <p:cNvPr id="3" name="Content Placeholder 2"/>
          <p:cNvSpPr>
            <a:spLocks noGrp="1"/>
          </p:cNvSpPr>
          <p:nvPr>
            <p:ph idx="1"/>
          </p:nvPr>
        </p:nvSpPr>
        <p:spPr/>
        <p:txBody>
          <a:bodyPr/>
          <a:lstStyle/>
          <a:p>
            <a:pPr marL="0" lvl="0" indent="0">
              <a:buNone/>
            </a:pPr>
            <a:r>
              <a:rPr i="1"/>
              <a:t>(National Academy of Sciences)</a:t>
            </a:r>
          </a:p>
          <a:p>
            <a:pPr marL="0" lvl="0" indent="0">
              <a:buNone/>
            </a:pPr>
            <a:r>
              <a:t>A tentative statement about the natural world leading to deductions or predictions that can be tested. If the deductions are verified, it becomes more probable that the hypothesis is correct.</a:t>
            </a:r>
          </a:p>
          <a:p>
            <a:pPr marL="0" lvl="0" indent="0">
              <a:buNone/>
            </a:pPr>
            <a:r>
              <a:t>If the deductions are incorrect, the original hypothesis is abandoned or modified.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scientific hypothesis — testability</a:t>
            </a:r>
          </a:p>
        </p:txBody>
      </p:sp>
      <p:sp>
        <p:nvSpPr>
          <p:cNvPr id="3" name="Content Placeholder 2"/>
          <p:cNvSpPr>
            <a:spLocks noGrp="1"/>
          </p:cNvSpPr>
          <p:nvPr>
            <p:ph idx="1"/>
          </p:nvPr>
        </p:nvSpPr>
        <p:spPr/>
        <p:txBody>
          <a:bodyPr/>
          <a:lstStyle/>
          <a:p>
            <a:pPr marL="0" lvl="0" indent="0">
              <a:buNone/>
            </a:pPr>
            <a:r>
              <a:t>Research hypotheses must refer to concepts that can be studied scientifically (can be observed). </a:t>
            </a:r>
            <a:r>
              <a:rPr i="1"/>
              <a:t>“Living organisms are purposely designed by a maker”</a:t>
            </a:r>
            <a:r>
              <a:t>: no way to test for this hypothesis.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theory</a:t>
            </a:r>
          </a:p>
        </p:txBody>
      </p:sp>
      <p:sp>
        <p:nvSpPr>
          <p:cNvPr id="3" name="Content Placeholder 2"/>
          <p:cNvSpPr>
            <a:spLocks noGrp="1"/>
          </p:cNvSpPr>
          <p:nvPr>
            <p:ph idx="1"/>
          </p:nvPr>
        </p:nvSpPr>
        <p:spPr/>
        <p:txBody>
          <a:bodyPr/>
          <a:lstStyle/>
          <a:p>
            <a:pPr marL="0" lvl="0" indent="0">
              <a:buNone/>
            </a:pPr>
            <a:r>
              <a:rPr i="1"/>
              <a:t>(National Academy of Sciences)</a:t>
            </a:r>
          </a:p>
          <a:p>
            <a:pPr marL="0" lvl="0" indent="0">
              <a:buNone/>
            </a:pPr>
            <a:r>
              <a:t>The goal of science.</a:t>
            </a:r>
          </a:p>
          <a:p>
            <a:pPr marL="0" lvl="0" indent="0">
              <a:buNone/>
            </a:pPr>
            <a:r>
              <a:t>In science, a well substantiated explanation of some aspect of the natural world that incorporates facts, laws, and tested hypotheses.</a:t>
            </a:r>
          </a:p>
          <a:p>
            <a:pPr marL="0" lvl="0" indent="0">
              <a:buNone/>
            </a:pPr>
            <a:r>
              <a:t>A key element of scientific theories is that they must be </a:t>
            </a:r>
            <a:r>
              <a:rPr b="1"/>
              <a:t>FALSIFIABLE</a:t>
            </a:r>
            <a:r>
              <a:t> (refutability).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Evidence</a:t>
            </a:r>
          </a:p>
        </p:txBody>
      </p:sp>
      <p:sp>
        <p:nvSpPr>
          <p:cNvPr id="3" name="Content Placeholder 2"/>
          <p:cNvSpPr>
            <a:spLocks noGrp="1"/>
          </p:cNvSpPr>
          <p:nvPr>
            <p:ph idx="1"/>
          </p:nvPr>
        </p:nvSpPr>
        <p:spPr/>
        <p:txBody>
          <a:bodyPr/>
          <a:lstStyle/>
          <a:p>
            <a:pPr lvl="0"/>
            <a:r>
              <a:t>Hypotheses are usually tested through experimentation</a:t>
            </a:r>
          </a:p>
          <a:p>
            <a:pPr lvl="0"/>
            <a:r>
              <a:t>Two types of evidence accepted by scientists</a:t>
            </a:r>
          </a:p>
          <a:p>
            <a:pPr lvl="1"/>
            <a:r>
              <a:t>Confirmation of hypotheses by data strengthens their validity</a:t>
            </a:r>
          </a:p>
          <a:p>
            <a:pPr lvl="1"/>
            <a:r>
              <a:t>Repeated inconsistency of data with a hypothesis leads to rejection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Evidence — when a hypothesis is not verified</a:t>
            </a:r>
          </a:p>
        </p:txBody>
      </p:sp>
      <p:sp>
        <p:nvSpPr>
          <p:cNvPr id="3" name="Content Placeholder 2"/>
          <p:cNvSpPr>
            <a:spLocks noGrp="1"/>
          </p:cNvSpPr>
          <p:nvPr>
            <p:ph idx="1"/>
          </p:nvPr>
        </p:nvSpPr>
        <p:spPr/>
        <p:txBody>
          <a:bodyPr/>
          <a:lstStyle/>
          <a:p>
            <a:pPr marL="0" lvl="0" indent="0">
              <a:buNone/>
            </a:pPr>
            <a:r>
              <a:t>When a hypothesis is not verified, ask: is it because the hypothesis is incorrect, or because of problems in the statement of the hypothesis, or problems in the experiment? Repeat testing in many different ways.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Hypothetico-deductive reasoning</a:t>
            </a:r>
          </a:p>
        </p:txBody>
      </p:sp>
      <p:sp>
        <p:nvSpPr>
          <p:cNvPr id="3" name="Content Placeholder 2"/>
          <p:cNvSpPr>
            <a:spLocks noGrp="1"/>
          </p:cNvSpPr>
          <p:nvPr>
            <p:ph idx="1"/>
          </p:nvPr>
        </p:nvSpPr>
        <p:spPr/>
        <p:txBody>
          <a:bodyPr/>
          <a:lstStyle/>
          <a:p>
            <a:pPr marL="0" lvl="0" indent="0">
              <a:buNone/>
            </a:pPr>
            <a:r>
              <a:t>Karl Popper (1902–1994) proposed a reasoning cycle:</a:t>
            </a:r>
          </a:p>
          <a:p>
            <a:pPr marL="342900" lvl="0" indent="-342900">
              <a:buAutoNum type="arabicPeriod"/>
            </a:pPr>
            <a:r>
              <a:rPr b="1"/>
              <a:t>Conception</a:t>
            </a:r>
            <a:r>
              <a:t> — a </a:t>
            </a:r>
            <a:r>
              <a:rPr i="1"/>
              <a:t>Problem</a:t>
            </a:r>
            <a:r>
              <a:t>, an </a:t>
            </a:r>
            <a:r>
              <a:rPr i="1"/>
              <a:t>Idea</a:t>
            </a:r>
            <a:r>
              <a:t>, a </a:t>
            </a:r>
            <a:r>
              <a:rPr i="1"/>
              <a:t>Previous observation</a:t>
            </a:r>
            <a:r>
              <a:t>, or an </a:t>
            </a:r>
            <a:r>
              <a:rPr i="1"/>
              <a:t>Existing theory</a:t>
            </a:r>
            <a:r>
              <a:t> leads to an </a:t>
            </a:r>
            <a:r>
              <a:rPr b="1"/>
              <a:t>Insight</a:t>
            </a:r>
            <a:r>
              <a:t>, which generates a </a:t>
            </a:r>
            <a:r>
              <a:rPr b="1"/>
              <a:t>General Hypothesis</a:t>
            </a:r>
            <a:r>
              <a:t> and then a </a:t>
            </a:r>
            <a:r>
              <a:rPr b="1"/>
              <a:t>Specific Hypothesis</a:t>
            </a:r>
          </a:p>
          <a:p>
            <a:pPr marL="342900" lvl="0" indent="-342900">
              <a:buAutoNum type="arabicPeriod"/>
            </a:pPr>
            <a:r>
              <a:rPr b="1"/>
              <a:t>Assessment</a:t>
            </a:r>
            <a:r>
              <a:t> — the Specific Hypothesis is compared with new observations or experimental results</a:t>
            </a:r>
          </a:p>
          <a:p>
            <a:pPr marL="342900" lvl="0" indent="-342900">
              <a:buAutoNum type="arabicPeriod"/>
            </a:pPr>
            <a:r>
              <a:t>The comparison leads to either </a:t>
            </a:r>
            <a:r>
              <a:rPr b="1"/>
              <a:t>Confirmation</a:t>
            </a:r>
            <a:r>
              <a:t> or </a:t>
            </a:r>
            <a:r>
              <a:rPr b="1"/>
              <a:t>Falsification</a:t>
            </a:r>
            <a:r>
              <a:t> of the hypothesis, which feeds back into the cycle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Echinacea and the common cold</a:t>
            </a:r>
          </a:p>
        </p:txBody>
      </p:sp>
      <p:sp>
        <p:nvSpPr>
          <p:cNvPr id="3" name="Content Placeholder 2"/>
          <p:cNvSpPr>
            <a:spLocks noGrp="1"/>
          </p:cNvSpPr>
          <p:nvPr>
            <p:ph sz="half" idx="1"/>
          </p:nvPr>
        </p:nvSpPr>
        <p:spPr/>
        <p:txBody>
          <a:bodyPr/>
          <a:lstStyle/>
          <a:p>
            <a:pPr marL="0" lvl="0" indent="0">
              <a:buNone/>
            </a:pPr>
            <a:r>
              <a:rPr b="1"/>
              <a:t>1. Observation</a:t>
            </a:r>
          </a:p>
          <a:p>
            <a:pPr marL="0" lvl="0" indent="0">
              <a:buNone/>
            </a:pPr>
            <a:r>
              <a:t>Individuals taking Echinacea say that it reduces the intensity and duration of a cold.</a:t>
            </a:r>
          </a:p>
          <a:p>
            <a:pPr marL="0" lvl="0" indent="0">
              <a:buNone/>
            </a:pPr>
            <a:r>
              <a:rPr b="1"/>
              <a:t>2. Hypothesis</a:t>
            </a:r>
          </a:p>
          <a:p>
            <a:pPr marL="0" lvl="0" indent="0">
              <a:buNone/>
            </a:pPr>
            <a:r>
              <a:t>Echinacea reduces the severity and duration of a cold (how is it defined).</a:t>
            </a:r>
          </a:p>
          <a:p>
            <a:pPr marL="0" lvl="0" indent="0">
              <a:buNone/>
            </a:pPr>
            <a:r>
              <a:t>Null: Echinacea has no effect on the duration or severity of the common cold.</a:t>
            </a:r>
          </a:p>
        </p:txBody>
      </p:sp>
      <p:pic>
        <p:nvPicPr>
          <p:cNvPr id="4" name="Picture 1" descr="images/echinacea-1.jpeg"/>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Example: testable predictions</a:t>
            </a:r>
          </a:p>
        </p:txBody>
      </p:sp>
      <p:sp>
        <p:nvSpPr>
          <p:cNvPr id="4" name="Text Placeholder 3"/>
          <p:cNvSpPr>
            <a:spLocks noGrp="1"/>
          </p:cNvSpPr>
          <p:nvPr>
            <p:ph type="body" sz="half" idx="2"/>
          </p:nvPr>
        </p:nvSpPr>
        <p:spPr/>
        <p:txBody>
          <a:bodyPr/>
          <a:lstStyle/>
          <a:p>
            <a:pPr marL="0" lvl="0" indent="0">
              <a:buNone/>
            </a:pPr>
            <a:r>
              <a:rPr b="1"/>
              <a:t>3. Testable predictions, clear outcomes</a:t>
            </a:r>
          </a:p>
          <a:p>
            <a:pPr marL="0" lvl="0" indent="0">
              <a:buNone/>
            </a:pPr>
            <a:r>
              <a:t>If Echinacea reduces the duration &amp; severity, then individuals taking Echinacea should get sick less frequently and should recover more quickly.</a:t>
            </a:r>
          </a:p>
          <a:p>
            <a:pPr marL="0" lvl="0" indent="0">
              <a:buNone/>
            </a:pPr>
            <a:r>
              <a:rPr b="1"/>
              <a:t>4. Conduct an experiment</a:t>
            </a:r>
          </a:p>
        </p:txBody>
      </p:sp>
      <p:pic>
        <p:nvPicPr>
          <p:cNvPr id="3" name="Picture 1" descr="images/echinacea-3.jpeg"/>
          <p:cNvPicPr>
            <a:picLocks noGrp="1" noChangeAspect="1"/>
          </p:cNvPicPr>
          <p:nvPr/>
        </p:nvPicPr>
        <p:blipFill>
          <a:blip r:embed="rId2"/>
          <a:stretch>
            <a:fillRect/>
          </a:stretch>
        </p:blipFill>
        <p:spPr bwMode="auto">
          <a:xfrm>
            <a:off x="3568700" y="1498600"/>
            <a:ext cx="5105400" cy="17907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conclusions</a:t>
            </a:r>
          </a:p>
        </p:txBody>
      </p:sp>
      <p:sp>
        <p:nvSpPr>
          <p:cNvPr id="3" name="Content Placeholder 2"/>
          <p:cNvSpPr>
            <a:spLocks noGrp="1"/>
          </p:cNvSpPr>
          <p:nvPr>
            <p:ph idx="1"/>
          </p:nvPr>
        </p:nvSpPr>
        <p:spPr/>
        <p:txBody>
          <a:bodyPr/>
          <a:lstStyle/>
          <a:p>
            <a:pPr marL="0" lvl="0" indent="0">
              <a:buNone/>
            </a:pPr>
            <a:r>
              <a:rPr b="1"/>
              <a:t>5. Draw conclusions</a:t>
            </a:r>
          </a:p>
          <a:p>
            <a:pPr lvl="0"/>
            <a:r>
              <a:t>Cold symptoms lasted for the same amount of time in experimental and placebo groups</a:t>
            </a:r>
          </a:p>
          <a:p>
            <a:pPr lvl="0"/>
            <a:r>
              <a:t>Echinacea had no effect on the duration or severity of the cold</a:t>
            </a:r>
          </a:p>
          <a:p>
            <a:pPr lvl="0"/>
            <a:r>
              <a:t>Causally related</a:t>
            </a:r>
          </a:p>
          <a:p>
            <a:pPr marL="0" lvl="0" indent="0">
              <a:buNone/>
            </a:pPr>
            <a:r>
              <a:rPr b="1"/>
              <a:t>What next?</a:t>
            </a:r>
            <a:r>
              <a:t> Repeat the experiment using different variant cold viruses, use larger dose, other populations.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Popper on induction</a:t>
            </a:r>
          </a:p>
        </p:txBody>
      </p:sp>
      <p:pic>
        <p:nvPicPr>
          <p:cNvPr id="3" name="Picture 1" descr="images/popper-induction.png"/>
          <p:cNvPicPr>
            <a:picLocks noGrp="1" noChangeAspect="1"/>
          </p:cNvPicPr>
          <p:nvPr/>
        </p:nvPicPr>
        <p:blipFill>
          <a:blip r:embed="rId2"/>
          <a:stretch>
            <a:fillRect/>
          </a:stretch>
        </p:blipFill>
        <p:spPr bwMode="auto">
          <a:xfrm>
            <a:off x="2870200" y="1193800"/>
            <a:ext cx="3403600" cy="33909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Failure of falsification</a:t>
            </a:r>
          </a:p>
        </p:txBody>
      </p:sp>
      <p:sp>
        <p:nvSpPr>
          <p:cNvPr id="3" name="Content Placeholder 2"/>
          <p:cNvSpPr>
            <a:spLocks noGrp="1"/>
          </p:cNvSpPr>
          <p:nvPr>
            <p:ph idx="1"/>
          </p:nvPr>
        </p:nvSpPr>
        <p:spPr/>
        <p:txBody>
          <a:bodyPr/>
          <a:lstStyle/>
          <a:p>
            <a:pPr lvl="0"/>
            <a:r>
              <a:t>Null models not unique</a:t>
            </a:r>
          </a:p>
          <a:p>
            <a:pPr lvl="0"/>
            <a:r>
              <a:t>Science versus no science based on falsification — it is a criteria of demarcation, not about the method</a:t>
            </a:r>
          </a:p>
          <a:p>
            <a:pPr lvl="0"/>
            <a:r>
              <a:t>Should falsify the explanatory model, not the null</a:t>
            </a:r>
          </a:p>
          <a:p>
            <a:pPr lvl="0"/>
            <a:r>
              <a:t>To build some amount of theory at some point, no statistical procedure is sufficient</a:t>
            </a:r>
          </a:p>
          <a:p>
            <a:pPr lvl="0"/>
            <a:r>
              <a:t>It is called “confirmation” — models should be consistent with observed data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Against selection-of-test thinking</a:t>
            </a:r>
          </a:p>
        </p:txBody>
      </p:sp>
      <p:sp>
        <p:nvSpPr>
          <p:cNvPr id="3" name="Content Placeholder 2"/>
          <p:cNvSpPr>
            <a:spLocks noGrp="1"/>
          </p:cNvSpPr>
          <p:nvPr>
            <p:ph idx="1"/>
          </p:nvPr>
        </p:nvSpPr>
        <p:spPr/>
        <p:txBody>
          <a:bodyPr/>
          <a:lstStyle/>
          <a:p>
            <a:pPr lvl="0"/>
            <a:r>
              <a:t>Test and (selection of test) are specialized procedures</a:t>
            </a:r>
          </a:p>
          <a:p>
            <a:pPr lvl="0"/>
            <a:r>
              <a:t>Most developed in early 20th century — fragile, initial, and eclipsed by more recent tools</a:t>
            </a:r>
          </a:p>
          <a:p>
            <a:pPr lvl="0"/>
            <a:r>
              <a:t>Users are using models (usually linear models)</a:t>
            </a:r>
          </a:p>
          <a:p>
            <a:pPr lvl="0"/>
            <a:r>
              <a:t>Falsifying null model not sufficient</a:t>
            </a:r>
          </a:p>
          <a:p>
            <a:pPr lvl="0"/>
            <a:r>
              <a:t>Against dichotomization of choices</a:t>
            </a:r>
          </a:p>
          <a:p>
            <a:pPr lvl="0"/>
            <a:r>
              <a:t>P-values: wrong interpretations</a:t>
            </a:r>
          </a:p>
          <a:p>
            <a:pPr lvl="0"/>
            <a:r>
              <a:t>Inference is not decision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Against selection-of-test thinking — credits</a:t>
            </a:r>
          </a:p>
        </p:txBody>
      </p:sp>
      <p:sp>
        <p:nvSpPr>
          <p:cNvPr id="3" name="Content Placeholder 2"/>
          <p:cNvSpPr>
            <a:spLocks noGrp="1"/>
          </p:cNvSpPr>
          <p:nvPr>
            <p:ph idx="1"/>
          </p:nvPr>
        </p:nvSpPr>
        <p:spPr/>
        <p:txBody>
          <a:bodyPr/>
          <a:lstStyle/>
          <a:p>
            <a:pPr marL="0" lvl="0" indent="0">
              <a:buNone/>
            </a:pPr>
            <a:r>
              <a:rPr i="1"/>
              <a:t>Credits: Statistical Rethinking — Richard McElreath @rlmcelreath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Choosing a statistical test</a:t>
            </a:r>
          </a:p>
        </p:txBody>
      </p:sp>
      <p:pic>
        <p:nvPicPr>
          <p:cNvPr id="3" name="Picture 1" descr="images/choosing-statistical-test.png"/>
          <p:cNvPicPr>
            <a:picLocks noGrp="1" noChangeAspect="1"/>
          </p:cNvPicPr>
          <p:nvPr/>
        </p:nvPicPr>
        <p:blipFill>
          <a:blip r:embed="rId2"/>
          <a:stretch>
            <a:fillRect/>
          </a:stretch>
        </p:blipFill>
        <p:spPr bwMode="auto">
          <a:xfrm>
            <a:off x="3149600" y="1193800"/>
            <a:ext cx="2857500" cy="339090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Philosophy of Science — Inductivism</a:t>
            </a:r>
          </a:p>
        </p:txBody>
      </p:sp>
      <p:sp>
        <p:nvSpPr>
          <p:cNvPr id="3" name="Content Placeholder 2"/>
          <p:cNvSpPr>
            <a:spLocks noGrp="1"/>
          </p:cNvSpPr>
          <p:nvPr>
            <p:ph idx="1"/>
          </p:nvPr>
        </p:nvSpPr>
        <p:spPr/>
        <p:txBody>
          <a:bodyPr/>
          <a:lstStyle/>
          <a:p>
            <a:pPr lvl="0"/>
            <a:r>
              <a:rPr b="1"/>
              <a:t>Inductivism:</a:t>
            </a:r>
            <a:r>
              <a:t> Empirism, concept developed by Hume (1777)</a:t>
            </a:r>
          </a:p>
          <a:p>
            <a:pPr lvl="0"/>
            <a:r>
              <a:t>Causes of events can be determined by observation</a:t>
            </a:r>
          </a:p>
          <a:p>
            <a:pPr lvl="0"/>
            <a:r>
              <a:t>Generalization from observations</a:t>
            </a:r>
          </a:p>
          <a:p>
            <a:pPr lvl="0"/>
            <a:r>
              <a:t>Unlike deduction, the conclusions of inductive reasoning are probable given the evidence, in contrast to being certain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Philosophy of Science — Inductivism (cont.)</a:t>
            </a:r>
          </a:p>
        </p:txBody>
      </p:sp>
      <p:sp>
        <p:nvSpPr>
          <p:cNvPr id="3" name="Content Placeholder 2"/>
          <p:cNvSpPr>
            <a:spLocks noGrp="1"/>
          </p:cNvSpPr>
          <p:nvPr>
            <p:ph idx="1"/>
          </p:nvPr>
        </p:nvSpPr>
        <p:spPr/>
        <p:txBody>
          <a:bodyPr/>
          <a:lstStyle/>
          <a:p>
            <a:pPr lvl="0"/>
            <a:r>
              <a:t>When events not following the rule occur, the theory becomes a probability rather than a certainty — this is where Bayesian statistics can play a huge role</a:t>
            </a:r>
          </a:p>
          <a:p>
            <a:pPr lvl="0"/>
            <a:r>
              <a:t>Principle of the Uniformity of Nature: </a:t>
            </a:r>
            <a:r>
              <a:rPr i="1"/>
              <a:t>“The future will resemble the past”</a:t>
            </a:r>
          </a:p>
          <a:p>
            <a:pPr lvl="0"/>
            <a:r>
              <a:t>Extend the ordinary logic (true/false) to continuous plausibility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Some forms of inductivism</a:t>
            </a:r>
          </a:p>
        </p:txBody>
      </p:sp>
      <p:sp>
        <p:nvSpPr>
          <p:cNvPr id="3" name="Content Placeholder 2"/>
          <p:cNvSpPr>
            <a:spLocks noGrp="1"/>
          </p:cNvSpPr>
          <p:nvPr>
            <p:ph idx="1"/>
          </p:nvPr>
        </p:nvSpPr>
        <p:spPr/>
        <p:txBody>
          <a:bodyPr/>
          <a:lstStyle/>
          <a:p>
            <a:pPr marL="0" lvl="0" indent="0">
              <a:buNone/>
            </a:pPr>
            <a:r>
              <a:rPr b="1"/>
              <a:t>Positivism (19th Century)</a:t>
            </a:r>
          </a:p>
          <a:p>
            <a:pPr marL="0" lvl="0" indent="0">
              <a:buNone/>
            </a:pPr>
            <a:r>
              <a:t>Science can rise above superstition by specializing in the description and analysis of observable phenomena, leading to discovery of natural laws.</a:t>
            </a:r>
          </a:p>
          <a:p>
            <a:pPr marL="0" lvl="0" indent="0">
              <a:buNone/>
            </a:pPr>
            <a:r>
              <a:rPr b="1"/>
              <a:t>Logical positivism</a:t>
            </a:r>
          </a:p>
          <a:p>
            <a:pPr marL="0" lvl="0" indent="0">
              <a:buNone/>
            </a:pPr>
            <a:r>
              <a:t>Science progresses toward truth by observation, formulation of hypotheses, empirical verification, leading to additional hypotheses. Scientific questions are referred to as “positive” while unscientific ones are “normative”.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Problems with inductivism</a:t>
            </a:r>
          </a:p>
        </p:txBody>
      </p:sp>
      <p:sp>
        <p:nvSpPr>
          <p:cNvPr id="3" name="Content Placeholder 2"/>
          <p:cNvSpPr>
            <a:spLocks noGrp="1"/>
          </p:cNvSpPr>
          <p:nvPr>
            <p:ph idx="1"/>
          </p:nvPr>
        </p:nvSpPr>
        <p:spPr/>
        <p:txBody>
          <a:bodyPr/>
          <a:lstStyle/>
          <a:p>
            <a:pPr lvl="0"/>
            <a:r>
              <a:t>The theory chosen is not necessarily the right one</a:t>
            </a:r>
          </a:p>
          <a:p>
            <a:pPr lvl="0"/>
            <a:r>
              <a:t>The observed data can be biased (quite common) — measurement error</a:t>
            </a:r>
          </a:p>
          <a:p>
            <a:pPr lvl="0"/>
            <a:r>
              <a:t>Difficult to come up with an experiment without an underlying theory</a:t>
            </a:r>
          </a:p>
          <a:p>
            <a:pPr marL="0" lvl="0" indent="0">
              <a:buNone/>
            </a:pPr>
            <a:r>
              <a:rPr i="1"/>
              <a:t>In other words, we are born Bayesian…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Hypothetico-deductive and falsification</a:t>
            </a:r>
          </a:p>
        </p:txBody>
      </p:sp>
      <p:sp>
        <p:nvSpPr>
          <p:cNvPr id="3" name="Content Placeholder 2"/>
          <p:cNvSpPr>
            <a:spLocks noGrp="1"/>
          </p:cNvSpPr>
          <p:nvPr>
            <p:ph idx="1"/>
          </p:nvPr>
        </p:nvSpPr>
        <p:spPr/>
        <p:txBody>
          <a:bodyPr/>
          <a:lstStyle/>
          <a:p>
            <a:pPr marL="0" lvl="0" indent="0">
              <a:buNone/>
            </a:pPr>
            <a:r>
              <a:rPr b="1"/>
              <a:t>Background</a:t>
            </a:r>
          </a:p>
          <a:p>
            <a:pPr lvl="0"/>
            <a:r>
              <a:t>Fisher with p-values (nil-null hypothesis testing)</a:t>
            </a:r>
          </a:p>
          <a:p>
            <a:pPr lvl="0"/>
            <a:r>
              <a:t>Pearson with hypothesis testing (alternative hypothesis)</a:t>
            </a:r>
          </a:p>
          <a:p>
            <a:pPr lvl="0"/>
            <a:r>
              <a:t>Neyman with 95% CI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Hypothetico-deductive and falsification — Fisher’s framing</a:t>
            </a:r>
          </a:p>
        </p:txBody>
      </p:sp>
      <p:sp>
        <p:nvSpPr>
          <p:cNvPr id="3" name="Content Placeholder 2"/>
          <p:cNvSpPr>
            <a:spLocks noGrp="1"/>
          </p:cNvSpPr>
          <p:nvPr>
            <p:ph idx="1"/>
          </p:nvPr>
        </p:nvSpPr>
        <p:spPr/>
        <p:txBody>
          <a:bodyPr/>
          <a:lstStyle/>
          <a:p>
            <a:pPr marL="0" lvl="0" indent="0">
              <a:buNone/>
            </a:pPr>
            <a:r>
              <a:t>Applies Popper’s theory to statistics:</a:t>
            </a:r>
          </a:p>
          <a:p>
            <a:pPr marL="1270000" lvl="0" indent="0">
              <a:buNone/>
            </a:pPr>
            <a:r>
              <a:rPr sz="2000"/>
              <a:t>“The null hypothesis is never proved or established, but is possibly disproved, in the course of experimentation. Every experiment may be said to exist only in order to give the facts a chance of disproving the null hypothesis.” (Fisher, 1947)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Issues with this theory</a:t>
            </a:r>
          </a:p>
        </p:txBody>
      </p:sp>
      <p:sp>
        <p:nvSpPr>
          <p:cNvPr id="3" name="Content Placeholder 2"/>
          <p:cNvSpPr>
            <a:spLocks noGrp="1"/>
          </p:cNvSpPr>
          <p:nvPr>
            <p:ph idx="1"/>
          </p:nvPr>
        </p:nvSpPr>
        <p:spPr/>
        <p:txBody>
          <a:bodyPr/>
          <a:lstStyle/>
          <a:p>
            <a:pPr marL="0" lvl="0" indent="0">
              <a:buNone/>
            </a:pPr>
            <a:r>
              <a:t>The hypothesis is true or false, there is no probability…</a:t>
            </a:r>
          </a:p>
          <a:p>
            <a:pPr marL="0" lvl="0" indent="0">
              <a:buNone/>
            </a:pPr>
            <a:r>
              <a:rPr i="1"/>
              <a:t>“Scientific hypotheses can be rejected (i.e. falsified), but never established or accepted the same way.”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Bayesian approach</a:t>
            </a:r>
          </a:p>
        </p:txBody>
      </p:sp>
      <p:sp>
        <p:nvSpPr>
          <p:cNvPr id="3" name="Content Placeholder 2"/>
          <p:cNvSpPr>
            <a:spLocks noGrp="1"/>
          </p:cNvSpPr>
          <p:nvPr>
            <p:ph idx="1"/>
          </p:nvPr>
        </p:nvSpPr>
        <p:spPr/>
        <p:txBody>
          <a:bodyPr/>
          <a:lstStyle/>
          <a:p>
            <a:pPr marL="0" lvl="0" indent="0">
              <a:buNone/>
            </a:pPr>
            <a:r>
              <a:t>Refutation and hypothetico-deductive approaches were developed to avoid the concept that theories in sciences can be appraised in terms of their “probabilities”.</a:t>
            </a:r>
          </a:p>
          <a:p>
            <a:pPr marL="0" lvl="0" indent="0">
              <a:buNone/>
            </a:pPr>
            <a:r>
              <a:t>Theories usually lie between being certainly right or certainly wrong, we cannot tell…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Bayesian approach — Poincaré</a:t>
            </a:r>
          </a:p>
        </p:txBody>
      </p:sp>
      <p:sp>
        <p:nvSpPr>
          <p:cNvPr id="3" name="Content Placeholder 2"/>
          <p:cNvSpPr>
            <a:spLocks noGrp="1"/>
          </p:cNvSpPr>
          <p:nvPr>
            <p:ph idx="1"/>
          </p:nvPr>
        </p:nvSpPr>
        <p:spPr/>
        <p:txBody>
          <a:bodyPr/>
          <a:lstStyle/>
          <a:p>
            <a:pPr marL="1270000" lvl="0" indent="0">
              <a:buNone/>
            </a:pPr>
            <a:r>
              <a:rPr sz="2000"/>
              <a:t>“It is often stated that one should experiment without preconceived ideas. This is simply impossible; not only would it make every experiment sterile, but even if we were ready to do so, we could not implement this principle. Everyone stands by his own conception of the world, which he cannot get rid of so easily.” (Poincaré, 1905)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Bayesian approach — reasoning</a:t>
            </a:r>
          </a:p>
        </p:txBody>
      </p:sp>
      <p:sp>
        <p:nvSpPr>
          <p:cNvPr id="3" name="Content Placeholder 2"/>
          <p:cNvSpPr>
            <a:spLocks noGrp="1"/>
          </p:cNvSpPr>
          <p:nvPr>
            <p:ph idx="1"/>
          </p:nvPr>
        </p:nvSpPr>
        <p:spPr/>
        <p:txBody>
          <a:bodyPr/>
          <a:lstStyle/>
          <a:p>
            <a:pPr marL="0" lvl="0" indent="0">
              <a:buNone/>
            </a:pPr>
            <a:r>
              <a:t>Bayesian statistics have an inductive approach:</a:t>
            </a:r>
          </a:p>
          <a:p>
            <a:pPr marL="342900" lvl="0" indent="-342900">
              <a:buAutoNum type="arabicPeriod"/>
            </a:pPr>
            <a:r>
              <a:t>Start with a prior distribution (prior knowledge, multitude of observations)</a:t>
            </a:r>
          </a:p>
          <a:p>
            <a:pPr marL="342900" lvl="0" indent="-342900">
              <a:buAutoNum type="arabicPeriod"/>
            </a:pPr>
            <a:r>
              <a:t>Get data (observe under different conditions)</a:t>
            </a:r>
          </a:p>
          <a:p>
            <a:pPr marL="342900" lvl="0" indent="-342900">
              <a:buAutoNum type="arabicPeriod"/>
            </a:pPr>
            <a:r>
              <a:t>Obtain a posterior distribution (update prior knowledge)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Bayesian approach — Bayes’ theorem</a:t>
            </a:r>
          </a:p>
        </p:txBody>
      </p:sp>
      <p:pic>
        <p:nvPicPr>
          <p:cNvPr id="3" name="Picture 1" descr="images/bayes-theorem.jpeg"/>
          <p:cNvPicPr>
            <a:picLocks noGrp="1" noChangeAspect="1"/>
          </p:cNvPicPr>
          <p:nvPr/>
        </p:nvPicPr>
        <p:blipFill>
          <a:blip r:embed="rId2"/>
          <a:stretch>
            <a:fillRect/>
          </a:stretch>
        </p:blipFill>
        <p:spPr bwMode="auto">
          <a:xfrm>
            <a:off x="1676400" y="1193800"/>
            <a:ext cx="5803900" cy="3390900"/>
          </a:xfrm>
          <a:prstGeom prst="rect">
            <a:avLst/>
          </a:prstGeom>
          <a:noFill/>
          <a:ln w="9525">
            <a:noFill/>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Frequentist vs Bayesian (1/3)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3390900">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Frequentist</a:t>
                      </a:r>
                    </a:p>
                  </a:txBody>
                  <a:tcPr/>
                </a:tc>
                <a:tc>
                  <a:txBody>
                    <a:bodyPr/>
                    <a:lstStyle/>
                    <a:p>
                      <a:pPr marL="0" lvl="0" indent="0">
                        <a:buNone/>
                      </a:pPr>
                      <a:r>
                        <a:t>Bayesian</a:t>
                      </a:r>
                    </a:p>
                  </a:txBody>
                  <a:tcPr/>
                </a:tc>
                <a:extLst>
                  <a:ext uri="{0D108BD9-81ED-4DB2-BD59-A6C34878D82A}">
                    <a16:rowId xmlns:a16="http://schemas.microsoft.com/office/drawing/2014/main" val="10000"/>
                  </a:ext>
                </a:extLst>
              </a:tr>
              <a:tr h="0">
                <a:tc>
                  <a:txBody>
                    <a:bodyPr/>
                    <a:lstStyle/>
                    <a:p>
                      <a:pPr marL="0" lvl="0" indent="0">
                        <a:buNone/>
                      </a:pPr>
                      <a:r>
                        <a:t>Data</a:t>
                      </a:r>
                    </a:p>
                  </a:txBody>
                  <a:tcPr/>
                </a:tc>
                <a:tc>
                  <a:txBody>
                    <a:bodyPr/>
                    <a:lstStyle/>
                    <a:p>
                      <a:pPr marL="0" lvl="0" indent="0">
                        <a:buNone/>
                      </a:pPr>
                      <a:r>
                        <a:t>A repeatable random sample — there is a frequency</a:t>
                      </a:r>
                    </a:p>
                  </a:txBody>
                  <a:tcPr/>
                </a:tc>
                <a:tc>
                  <a:txBody>
                    <a:bodyPr/>
                    <a:lstStyle/>
                    <a:p>
                      <a:pPr marL="0" lvl="0" indent="0">
                        <a:buNone/>
                      </a:pPr>
                      <a:r>
                        <a:t>Fixed, probably a few samples</a:t>
                      </a:r>
                    </a:p>
                  </a:txBody>
                  <a:tcPr/>
                </a:tc>
                <a:extLst>
                  <a:ext uri="{0D108BD9-81ED-4DB2-BD59-A6C34878D82A}">
                    <a16:rowId xmlns:a16="http://schemas.microsoft.com/office/drawing/2014/main" val="10001"/>
                  </a:ext>
                </a:extLst>
              </a:tr>
              <a:tr h="0">
                <a:tc>
                  <a:txBody>
                    <a:bodyPr/>
                    <a:lstStyle/>
                    <a:p>
                      <a:pPr marL="0" lvl="0" indent="0">
                        <a:buNone/>
                      </a:pPr>
                      <a:r>
                        <a:t>Belief</a:t>
                      </a:r>
                    </a:p>
                  </a:txBody>
                  <a:tcPr/>
                </a:tc>
                <a:tc>
                  <a:txBody>
                    <a:bodyPr/>
                    <a:lstStyle/>
                    <a:p>
                      <a:pPr marL="0" lvl="0" indent="0">
                        <a:buNone/>
                      </a:pPr>
                      <a:r>
                        <a:t>No expression of belief (formally not present) → objective view on probability</a:t>
                      </a:r>
                    </a:p>
                  </a:txBody>
                  <a:tcPr/>
                </a:tc>
                <a:tc>
                  <a:txBody>
                    <a:bodyPr/>
                    <a:lstStyle/>
                    <a:p>
                      <a:pPr marL="0" lvl="0" indent="0">
                        <a:buNone/>
                      </a:pPr>
                      <a:r>
                        <a:t>Approach deals with belief (formally present) → subjective view on probability; updates beliefs in the evidence of new data (posterior distribution)</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Frequentist vs Bayesian (2/3)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3390900">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Frequentist</a:t>
                      </a:r>
                    </a:p>
                  </a:txBody>
                  <a:tcPr/>
                </a:tc>
                <a:tc>
                  <a:txBody>
                    <a:bodyPr/>
                    <a:lstStyle/>
                    <a:p>
                      <a:pPr marL="0" lvl="0" indent="0">
                        <a:buNone/>
                      </a:pPr>
                      <a:r>
                        <a:t>Bayesian</a:t>
                      </a:r>
                    </a:p>
                  </a:txBody>
                  <a:tcPr/>
                </a:tc>
                <a:extLst>
                  <a:ext uri="{0D108BD9-81ED-4DB2-BD59-A6C34878D82A}">
                    <a16:rowId xmlns:a16="http://schemas.microsoft.com/office/drawing/2014/main" val="10000"/>
                  </a:ext>
                </a:extLst>
              </a:tr>
              <a:tr h="0">
                <a:tc>
                  <a:txBody>
                    <a:bodyPr/>
                    <a:lstStyle/>
                    <a:p>
                      <a:pPr marL="0" lvl="0" indent="0">
                        <a:buNone/>
                      </a:pPr>
                      <a:r>
                        <a:t>Estimate</a:t>
                      </a:r>
                    </a:p>
                  </a:txBody>
                  <a:tcPr/>
                </a:tc>
                <a:tc>
                  <a:txBody>
                    <a:bodyPr/>
                    <a:lstStyle/>
                    <a:p>
                      <a:pPr marL="0" lvl="0" indent="0">
                        <a:buNone/>
                      </a:pPr>
                      <a:r>
                        <a:t>Point estimate using MLE and Least Squares Estimate</a:t>
                      </a:r>
                    </a:p>
                  </a:txBody>
                  <a:tcPr/>
                </a:tc>
                <a:tc>
                  <a:txBody>
                    <a:bodyPr/>
                    <a:lstStyle/>
                    <a:p>
                      <a:pPr marL="0" lvl="0" indent="0">
                        <a:buNone/>
                      </a:pPr>
                      <a:r>
                        <a:t>Posterior distribution with high density interval (mean, mode, median)</a:t>
                      </a:r>
                    </a:p>
                  </a:txBody>
                  <a:tcPr/>
                </a:tc>
                <a:extLst>
                  <a:ext uri="{0D108BD9-81ED-4DB2-BD59-A6C34878D82A}">
                    <a16:rowId xmlns:a16="http://schemas.microsoft.com/office/drawing/2014/main" val="10001"/>
                  </a:ext>
                </a:extLst>
              </a:tr>
              <a:tr h="0">
                <a:tc>
                  <a:txBody>
                    <a:bodyPr/>
                    <a:lstStyle/>
                    <a:p>
                      <a:pPr marL="0" lvl="0" indent="0">
                        <a:buNone/>
                      </a:pPr>
                      <a:r>
                        <a:t>Parameters</a:t>
                      </a:r>
                    </a:p>
                  </a:txBody>
                  <a:tcPr/>
                </a:tc>
                <a:tc>
                  <a:txBody>
                    <a:bodyPr/>
                    <a:lstStyle/>
                    <a:p>
                      <a:pPr marL="0" lvl="0" indent="0">
                        <a:buNone/>
                      </a:pPr>
                      <a:r>
                        <a:t>Fixed and unknown</a:t>
                      </a:r>
                    </a:p>
                  </a:txBody>
                  <a:tcPr/>
                </a:tc>
                <a:tc>
                  <a:txBody>
                    <a:bodyPr/>
                    <a:lstStyle/>
                    <a:p>
                      <a:pPr marL="0" lvl="0" indent="0">
                        <a:buNone/>
                      </a:pPr>
                      <a:r>
                        <a:t>Unknown, random, described probabilistically</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Frequentist vs Bayesian (3/3)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3390900">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Frequentist</a:t>
                      </a:r>
                    </a:p>
                  </a:txBody>
                  <a:tcPr/>
                </a:tc>
                <a:tc>
                  <a:txBody>
                    <a:bodyPr/>
                    <a:lstStyle/>
                    <a:p>
                      <a:pPr marL="0" lvl="0" indent="0">
                        <a:buNone/>
                      </a:pPr>
                      <a:r>
                        <a:t>Bayesian</a:t>
                      </a:r>
                    </a:p>
                  </a:txBody>
                  <a:tcPr/>
                </a:tc>
                <a:extLst>
                  <a:ext uri="{0D108BD9-81ED-4DB2-BD59-A6C34878D82A}">
                    <a16:rowId xmlns:a16="http://schemas.microsoft.com/office/drawing/2014/main" val="10000"/>
                  </a:ext>
                </a:extLst>
              </a:tr>
              <a:tr h="0">
                <a:tc>
                  <a:txBody>
                    <a:bodyPr/>
                    <a:lstStyle/>
                    <a:p>
                      <a:pPr marL="0" lvl="0" indent="0">
                        <a:buNone/>
                      </a:pPr>
                      <a:r>
                        <a:t>Interval</a:t>
                      </a:r>
                    </a:p>
                  </a:txBody>
                  <a:tcPr/>
                </a:tc>
                <a:tc>
                  <a:txBody>
                    <a:bodyPr/>
                    <a:lstStyle/>
                    <a:p>
                      <a:pPr marL="0" lvl="0" indent="0">
                        <a:buNone/>
                      </a:pPr>
                      <a:r>
                        <a:rPr b="1"/>
                        <a:t>Confidence interval:</a:t>
                      </a:r>
                      <a:r>
                        <a:t> over an infinite sample size taken from population, 95% of these contain the true population value</a:t>
                      </a:r>
                    </a:p>
                  </a:txBody>
                  <a:tcPr/>
                </a:tc>
                <a:tc>
                  <a:txBody>
                    <a:bodyPr/>
                    <a:lstStyle/>
                    <a:p>
                      <a:pPr marL="0" lvl="0" indent="0">
                        <a:buNone/>
                      </a:pPr>
                      <a:r>
                        <a:rPr b="1"/>
                        <a:t>Credible interval:</a:t>
                      </a:r>
                      <a:r>
                        <a:t> a 95% probability that the population value is within the limits of the interval</a:t>
                      </a:r>
                    </a:p>
                  </a:txBody>
                  <a:tcPr/>
                </a:tc>
                <a:extLst>
                  <a:ext uri="{0D108BD9-81ED-4DB2-BD59-A6C34878D82A}">
                    <a16:rowId xmlns:a16="http://schemas.microsoft.com/office/drawing/2014/main" val="10001"/>
                  </a:ext>
                </a:extLst>
              </a:tr>
              <a:tr h="0">
                <a:tc>
                  <a:txBody>
                    <a:bodyPr/>
                    <a:lstStyle/>
                    <a:p>
                      <a:pPr marL="0" lvl="0" indent="0">
                        <a:buNone/>
                      </a:pPr>
                      <a:r>
                        <a:t>Hypothesis testing</a:t>
                      </a:r>
                    </a:p>
                  </a:txBody>
                  <a:tcPr/>
                </a:tc>
                <a:tc>
                  <a:txBody>
                    <a:bodyPr/>
                    <a:lstStyle/>
                    <a:p>
                      <a:pPr marL="0" lvl="0" indent="0">
                        <a:buNone/>
                      </a:pPr>
                      <a:r>
                        <a:t>Statistical hypothesis testing with p-value and significance level</a:t>
                      </a:r>
                    </a:p>
                  </a:txBody>
                  <a:tcPr/>
                </a:tc>
                <a:tc>
                  <a:txBody>
                    <a:bodyPr/>
                    <a:lstStyle/>
                    <a:p>
                      <a:pPr marL="0" lvl="0" indent="0">
                        <a:buNone/>
                      </a:pPr>
                      <a:r>
                        <a:t>Bayes factor — direct test of null and alternate hypothesis, measure of strength of evidence</a:t>
                      </a:r>
                    </a:p>
                  </a:txBody>
                  <a:tcPr/>
                </a:tc>
                <a:extLst>
                  <a:ext uri="{0D108BD9-81ED-4DB2-BD59-A6C34878D82A}">
                    <a16:rowId xmlns:a16="http://schemas.microsoft.com/office/drawing/2014/main" val="10002"/>
                  </a:ext>
                </a:extLst>
              </a:tr>
              <a:tr h="0">
                <a:tc>
                  <a:txBody>
                    <a:bodyPr/>
                    <a:lstStyle/>
                    <a:p>
                      <a:pPr marL="0" lvl="0" indent="0">
                        <a:buNone/>
                      </a:pPr>
                      <a:r>
                        <a:t>Computation</a:t>
                      </a:r>
                    </a:p>
                  </a:txBody>
                  <a:tcPr/>
                </a:tc>
                <a:tc>
                  <a:txBody>
                    <a:bodyPr/>
                    <a:lstStyle/>
                    <a:p>
                      <a:pPr marL="0" lvl="0" indent="0">
                        <a:buNone/>
                      </a:pPr>
                      <a:r>
                        <a:t>Less computationally intensive</a:t>
                      </a:r>
                    </a:p>
                  </a:txBody>
                  <a:tcPr/>
                </a:tc>
                <a:tc>
                  <a:txBody>
                    <a:bodyPr/>
                    <a:lstStyle/>
                    <a:p>
                      <a:pPr marL="0" lvl="0" indent="0">
                        <a:buNone/>
                      </a:pPr>
                      <a:r>
                        <a:t>Computationally intensive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lighter look at Bayesian vs frequentist</a:t>
            </a:r>
          </a:p>
        </p:txBody>
      </p:sp>
      <p:pic>
        <p:nvPicPr>
          <p:cNvPr id="3" name="Picture 1" descr="images/bayesian-comic.png"/>
          <p:cNvPicPr>
            <a:picLocks noGrp="1" noChangeAspect="1"/>
          </p:cNvPicPr>
          <p:nvPr/>
        </p:nvPicPr>
        <p:blipFill>
          <a:blip r:embed="rId2"/>
          <a:stretch>
            <a:fillRect/>
          </a:stretch>
        </p:blipFill>
        <p:spPr bwMode="auto">
          <a:xfrm>
            <a:off x="927100" y="1193800"/>
            <a:ext cx="7289800" cy="3390900"/>
          </a:xfrm>
          <a:prstGeom prst="rect">
            <a:avLst/>
          </a:prstGeom>
          <a:noFill/>
          <a:ln w="9525">
            <a:noFill/>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few words on: Pseudoscience</a:t>
            </a:r>
          </a:p>
        </p:txBody>
      </p:sp>
      <p:sp>
        <p:nvSpPr>
          <p:cNvPr id="3" name="Content Placeholder 2"/>
          <p:cNvSpPr>
            <a:spLocks noGrp="1"/>
          </p:cNvSpPr>
          <p:nvPr>
            <p:ph idx="1"/>
          </p:nvPr>
        </p:nvSpPr>
        <p:spPr/>
        <p:txBody>
          <a:bodyPr/>
          <a:lstStyle/>
          <a:p>
            <a:pPr marL="0" lvl="0" indent="0">
              <a:buNone/>
            </a:pPr>
            <a:r>
              <a:t>Ideas often put forward as scientific when they are not.</a:t>
            </a:r>
          </a:p>
          <a:p>
            <a:pPr marL="0" lvl="0" indent="0">
              <a:buNone/>
            </a:pPr>
            <a:r>
              <a:rPr b="1"/>
              <a:t>Examples</a:t>
            </a:r>
          </a:p>
          <a:p>
            <a:pPr lvl="0"/>
            <a:r>
              <a:t>Astrology</a:t>
            </a:r>
          </a:p>
          <a:p>
            <a:pPr lvl="0"/>
            <a:r>
              <a:t>Creation Science / Intelligent Design Theory</a:t>
            </a:r>
          </a:p>
          <a:p>
            <a:pPr lvl="0"/>
            <a:r>
              <a:t>Paranormal phenomena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few words on: Pseudoscience (cont.)</a:t>
            </a:r>
          </a:p>
        </p:txBody>
      </p:sp>
      <p:sp>
        <p:nvSpPr>
          <p:cNvPr id="3" name="Content Placeholder 2"/>
          <p:cNvSpPr>
            <a:spLocks noGrp="1"/>
          </p:cNvSpPr>
          <p:nvPr>
            <p:ph idx="1"/>
          </p:nvPr>
        </p:nvSpPr>
        <p:spPr/>
        <p:txBody>
          <a:bodyPr/>
          <a:lstStyle/>
          <a:p>
            <a:pPr marL="0" lvl="0" indent="0">
              <a:buNone/>
            </a:pPr>
            <a:r>
              <a:rPr b="1"/>
              <a:t>Examples (cont.)</a:t>
            </a:r>
          </a:p>
          <a:p>
            <a:pPr lvl="0"/>
            <a:r>
              <a:t>UFOs</a:t>
            </a:r>
          </a:p>
          <a:p>
            <a:pPr lvl="0"/>
            <a:r>
              <a:t>Cryptozoology: e.g. Bigfoot, the Ogopogo and Loch Ness Monster</a:t>
            </a:r>
          </a:p>
          <a:p>
            <a:pPr lvl="0"/>
            <a:r>
              <a:t>And many, many more — some in health care!</a:t>
            </a:r>
          </a:p>
          <a:p>
            <a:pPr marL="0" lvl="0" indent="0">
              <a:buNone/>
            </a:pPr>
            <a:r>
              <a:rPr i="1"/>
              <a:t>Can be dangerous.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to recognize Pseudoscience</a:t>
            </a:r>
          </a:p>
        </p:txBody>
      </p:sp>
      <p:sp>
        <p:nvSpPr>
          <p:cNvPr id="3" name="Content Placeholder 2"/>
          <p:cNvSpPr>
            <a:spLocks noGrp="1"/>
          </p:cNvSpPr>
          <p:nvPr>
            <p:ph idx="1"/>
          </p:nvPr>
        </p:nvSpPr>
        <p:spPr/>
        <p:txBody>
          <a:bodyPr/>
          <a:lstStyle/>
          <a:p>
            <a:pPr lvl="0"/>
            <a:r>
              <a:t>Driven by cultural, ideological or commercial goals</a:t>
            </a:r>
          </a:p>
          <a:p>
            <a:pPr lvl="0"/>
            <a:r>
              <a:t>Changed very little since first established</a:t>
            </a:r>
          </a:p>
          <a:p>
            <a:pPr lvl="0"/>
            <a:r>
              <a:t>Challenge to dogma is considered heresy</a:t>
            </a:r>
          </a:p>
          <a:p>
            <a:pPr lvl="0"/>
            <a:r>
              <a:t>Observations not consistent with beliefs are ignored</a:t>
            </a:r>
          </a:p>
          <a:p>
            <a:pPr lvl="0"/>
            <a:r>
              <a:t>Vague and ambiguous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The Research Question and Study Designs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Right problem and right question</a:t>
            </a:r>
          </a:p>
        </p:txBody>
      </p:sp>
      <p:sp>
        <p:nvSpPr>
          <p:cNvPr id="3" name="Content Placeholder 2"/>
          <p:cNvSpPr>
            <a:spLocks noGrp="1"/>
          </p:cNvSpPr>
          <p:nvPr>
            <p:ph idx="1"/>
          </p:nvPr>
        </p:nvSpPr>
        <p:spPr/>
        <p:txBody>
          <a:bodyPr/>
          <a:lstStyle/>
          <a:p>
            <a:pPr marL="1270000" lvl="0" indent="0">
              <a:buNone/>
            </a:pPr>
            <a:r>
              <a:rPr sz="2000"/>
              <a:t>“An approximate answer to the right problem is worth a good deal more than an exact answer to an approximate problem.” ~ John Tukey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question</a:t>
            </a:r>
          </a:p>
        </p:txBody>
      </p:sp>
      <p:sp>
        <p:nvSpPr>
          <p:cNvPr id="3" name="Content Placeholder 2"/>
          <p:cNvSpPr>
            <a:spLocks noGrp="1"/>
          </p:cNvSpPr>
          <p:nvPr>
            <p:ph idx="1"/>
          </p:nvPr>
        </p:nvSpPr>
        <p:spPr/>
        <p:txBody>
          <a:bodyPr/>
          <a:lstStyle/>
          <a:p>
            <a:pPr marL="0" lvl="0" indent="0">
              <a:buNone/>
            </a:pPr>
            <a:r>
              <a:t>A good research question should be:</a:t>
            </a:r>
          </a:p>
          <a:p>
            <a:pPr lvl="0"/>
            <a:r>
              <a:rPr b="1"/>
              <a:t>F</a:t>
            </a:r>
            <a:r>
              <a:t>easible</a:t>
            </a:r>
          </a:p>
          <a:p>
            <a:pPr lvl="0"/>
            <a:r>
              <a:rPr b="1"/>
              <a:t>I</a:t>
            </a:r>
            <a:r>
              <a:t>nteresting</a:t>
            </a:r>
          </a:p>
          <a:p>
            <a:pPr lvl="0"/>
            <a:r>
              <a:rPr b="1"/>
              <a:t>N</a:t>
            </a:r>
            <a:r>
              <a:t>ovel</a:t>
            </a:r>
          </a:p>
          <a:p>
            <a:pPr lvl="0"/>
            <a:r>
              <a:rPr b="1"/>
              <a:t>E</a:t>
            </a:r>
            <a:r>
              <a:t>thical</a:t>
            </a:r>
          </a:p>
          <a:p>
            <a:pPr lvl="0"/>
            <a:r>
              <a:rPr b="1"/>
              <a:t>R</a:t>
            </a:r>
            <a:r>
              <a:t>elevant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On the right reasons to do research</a:t>
            </a:r>
          </a:p>
        </p:txBody>
      </p:sp>
      <p:pic>
        <p:nvPicPr>
          <p:cNvPr id="3" name="Picture 1" descr="images/s1_02_image5.png"/>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is the research question?</a:t>
            </a:r>
          </a:p>
        </p:txBody>
      </p:sp>
      <p:sp>
        <p:nvSpPr>
          <p:cNvPr id="3" name="Content Placeholder 2"/>
          <p:cNvSpPr>
            <a:spLocks noGrp="1"/>
          </p:cNvSpPr>
          <p:nvPr>
            <p:ph idx="1"/>
          </p:nvPr>
        </p:nvSpPr>
        <p:spPr/>
        <p:txBody>
          <a:bodyPr/>
          <a:lstStyle/>
          <a:p>
            <a:pPr marL="0" lvl="0" indent="0">
              <a:buNone/>
            </a:pPr>
            <a:r>
              <a:rPr b="1"/>
              <a:t>Step 1.</a:t>
            </a:r>
            <a:r>
              <a:t> Determine the components of the research question and the type of question under study</a:t>
            </a:r>
          </a:p>
          <a:p>
            <a:pPr lvl="0"/>
            <a:r>
              <a:t>PO: Population and Outcomes</a:t>
            </a:r>
          </a:p>
          <a:p>
            <a:pPr lvl="0"/>
            <a:r>
              <a:t>PICOt</a:t>
            </a:r>
          </a:p>
          <a:p>
            <a:pPr marL="0" lvl="0" indent="0">
              <a:buNone/>
            </a:pPr>
            <a:r>
              <a:rPr b="1"/>
              <a:t>Step 2.</a:t>
            </a:r>
            <a:r>
              <a:t> Classify the type of research question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Question types</a:t>
            </a:r>
          </a:p>
        </p:txBody>
      </p:sp>
      <p:sp>
        <p:nvSpPr>
          <p:cNvPr id="3" name="Content Placeholder 2"/>
          <p:cNvSpPr>
            <a:spLocks noGrp="1"/>
          </p:cNvSpPr>
          <p:nvPr>
            <p:ph idx="1"/>
          </p:nvPr>
        </p:nvSpPr>
        <p:spPr/>
        <p:txBody>
          <a:bodyPr/>
          <a:lstStyle/>
          <a:p>
            <a:pPr lvl="0"/>
            <a:r>
              <a:t>Prevention</a:t>
            </a:r>
          </a:p>
          <a:p>
            <a:pPr lvl="0"/>
            <a:r>
              <a:t>Screening</a:t>
            </a:r>
          </a:p>
          <a:p>
            <a:pPr lvl="0"/>
            <a:r>
              <a:t>Diagnosis</a:t>
            </a:r>
          </a:p>
          <a:p>
            <a:pPr lvl="0"/>
            <a:r>
              <a:t>Prognosis</a:t>
            </a:r>
          </a:p>
          <a:p>
            <a:pPr lvl="0"/>
            <a:r>
              <a:t>Incidence</a:t>
            </a:r>
          </a:p>
          <a:p>
            <a:pPr lvl="0"/>
            <a:r>
              <a:t>Prevalence</a:t>
            </a:r>
          </a:p>
          <a:p>
            <a:pPr lvl="0"/>
            <a:r>
              <a:t>Etiology / Treatment</a:t>
            </a:r>
          </a:p>
          <a:p>
            <a:pPr lvl="0"/>
            <a:r>
              <a:t>Harm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 vs Foreground questions</a:t>
            </a:r>
          </a:p>
        </p:txBody>
      </p:sp>
      <p:pic>
        <p:nvPicPr>
          <p:cNvPr id="3" name="Picture 1" descr="images/s1_02_image7.png"/>
          <p:cNvPicPr>
            <a:picLocks noGrp="1" noChangeAspect="1"/>
          </p:cNvPicPr>
          <p:nvPr/>
        </p:nvPicPr>
        <p:blipFill>
          <a:blip r:embed="rId2"/>
          <a:stretch>
            <a:fillRect/>
          </a:stretch>
        </p:blipFill>
        <p:spPr bwMode="auto">
          <a:xfrm>
            <a:off x="2400300" y="1193800"/>
            <a:ext cx="4330700" cy="3390900"/>
          </a:xfrm>
          <a:prstGeom prst="rect">
            <a:avLst/>
          </a:prstGeom>
          <a:noFill/>
          <a:ln w="9525">
            <a:noFill/>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 vs Foreground — components</a:t>
            </a:r>
          </a:p>
        </p:txBody>
      </p:sp>
      <p:sp>
        <p:nvSpPr>
          <p:cNvPr id="3" name="Content Placeholder 2"/>
          <p:cNvSpPr>
            <a:spLocks noGrp="1"/>
          </p:cNvSpPr>
          <p:nvPr>
            <p:ph idx="1"/>
          </p:nvPr>
        </p:nvSpPr>
        <p:spPr/>
        <p:txBody>
          <a:bodyPr/>
          <a:lstStyle/>
          <a:p>
            <a:pPr marL="0" lvl="0" indent="0">
              <a:buNone/>
            </a:pPr>
            <a:r>
              <a:rPr b="1"/>
              <a:t>Background</a:t>
            </a:r>
            <a:r>
              <a:t> — general knowledge</a:t>
            </a:r>
          </a:p>
          <a:p>
            <a:pPr lvl="0"/>
            <a:r>
              <a:t>General questions like who, what, when, where…</a:t>
            </a:r>
          </a:p>
          <a:p>
            <a:pPr lvl="0"/>
            <a:r>
              <a:t>Range reduction</a:t>
            </a:r>
          </a:p>
          <a:p>
            <a:pPr lvl="0"/>
            <a:r>
              <a:t>PO components</a:t>
            </a:r>
          </a:p>
          <a:p>
            <a:pPr marL="0" lvl="0" indent="0">
              <a:buNone/>
            </a:pPr>
            <a:r>
              <a:rPr b="1"/>
              <a:t>Foreground</a:t>
            </a:r>
            <a:r>
              <a:t> — more specific, PICO(t)</a:t>
            </a:r>
          </a:p>
          <a:p>
            <a:pPr lvl="0"/>
            <a:r>
              <a:t>Structured to facilitate its use and/or search</a:t>
            </a:r>
          </a:p>
          <a:p>
            <a:pPr lvl="0"/>
            <a:r>
              <a:t>P - Population / Problem, I - Intervention / Exposure, C - Comparison / Control, O - Outcome, (t) - timeframe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Background vs Foreground — examples</a:t>
            </a:r>
          </a:p>
        </p:txBody>
      </p:sp>
      <p:sp>
        <p:nvSpPr>
          <p:cNvPr id="3" name="Content Placeholder 2"/>
          <p:cNvSpPr>
            <a:spLocks noGrp="1"/>
          </p:cNvSpPr>
          <p:nvPr>
            <p:ph idx="1"/>
          </p:nvPr>
        </p:nvSpPr>
        <p:spPr/>
        <p:txBody>
          <a:bodyPr/>
          <a:lstStyle/>
          <a:p>
            <a:pPr lvl="0"/>
            <a:r>
              <a:t>What is the incidence of postoperative nausea and vomiting after abdominal surgery? </a:t>
            </a:r>
            <a:r>
              <a:rPr i="1"/>
              <a:t>(Background)</a:t>
            </a:r>
          </a:p>
          <a:p>
            <a:pPr lvl="0"/>
            <a:r>
              <a:t>Who has the most postoperative pain experience after surgery? </a:t>
            </a:r>
            <a:r>
              <a:rPr i="1"/>
              <a:t>(Background)</a:t>
            </a:r>
          </a:p>
          <a:p>
            <a:pPr lvl="0"/>
            <a:r>
              <a:t>What is the incidence of early postoperative cognitive decline in patients older than 60 years under general anesthesia compared to regional anesthesia? </a:t>
            </a:r>
            <a:r>
              <a:rPr i="1"/>
              <a:t>(Foreground / PICOt)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Question and study design</a:t>
            </a:r>
          </a:p>
        </p:txBody>
      </p:sp>
      <p:sp>
        <p:nvSpPr>
          <p:cNvPr id="3" name="Content Placeholder 2"/>
          <p:cNvSpPr>
            <a:spLocks noGrp="1"/>
          </p:cNvSpPr>
          <p:nvPr>
            <p:ph idx="1"/>
          </p:nvPr>
        </p:nvSpPr>
        <p:spPr/>
        <p:txBody>
          <a:bodyPr/>
          <a:lstStyle/>
          <a:p>
            <a:pPr marL="0" lvl="0" indent="0">
              <a:buNone/>
            </a:pPr>
            <a:r>
              <a:rPr b="1"/>
              <a:t>Research question</a:t>
            </a:r>
            <a:r>
              <a:t> → </a:t>
            </a:r>
            <a:r>
              <a:rPr b="1"/>
              <a:t>Study design</a:t>
            </a:r>
          </a:p>
          <a:p>
            <a:pPr marL="0" lvl="0" indent="0">
              <a:buNone/>
            </a:pPr>
            <a:r>
              <a:t>The research question determines the appropriate study design — not the other way around.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Types of clinical questions</a:t>
            </a:r>
          </a:p>
        </p:txBody>
      </p:sp>
      <p:pic>
        <p:nvPicPr>
          <p:cNvPr id="3" name="Picture 1" descr="images/s1_02_slide09_question-classification.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Methodological design</a:t>
            </a:r>
          </a:p>
        </p:txBody>
      </p:sp>
      <p:sp>
        <p:nvSpPr>
          <p:cNvPr id="4" name="Text Placeholder 3"/>
          <p:cNvSpPr>
            <a:spLocks noGrp="1"/>
          </p:cNvSpPr>
          <p:nvPr>
            <p:ph type="body" sz="half" idx="2"/>
          </p:nvPr>
        </p:nvSpPr>
        <p:spPr/>
        <p:txBody>
          <a:bodyPr/>
          <a:lstStyle/>
          <a:p>
            <a:pPr marL="0" lvl="0" indent="0">
              <a:buNone/>
            </a:pPr>
            <a:r>
              <a:t>If there are unclear questions the design cannot be adapted appropriately and the horizon is lost, including the analytical and interpretive.</a:t>
            </a:r>
          </a:p>
        </p:txBody>
      </p:sp>
      <p:pic>
        <p:nvPicPr>
          <p:cNvPr id="3" name="Picture 1" descr="images/s1_02_slide10_methodological-design.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Diagnosis and Prognosis</a:t>
            </a:r>
          </a:p>
        </p:txBody>
      </p:sp>
      <p:pic>
        <p:nvPicPr>
          <p:cNvPr id="3" name="Picture 1" descr="images/s1_02_slide11_diagnosis-prognosis.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Etiology and Treatment</a:t>
            </a:r>
          </a:p>
        </p:txBody>
      </p:sp>
      <p:pic>
        <p:nvPicPr>
          <p:cNvPr id="3" name="Picture 1" descr="images/s1_02_slide12_etiology-treatment.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Matching the question type to study designs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Question type</a:t>
                      </a:r>
                    </a:p>
                  </a:txBody>
                  <a:tcPr/>
                </a:tc>
                <a:tc>
                  <a:txBody>
                    <a:bodyPr/>
                    <a:lstStyle/>
                    <a:p>
                      <a:pPr marL="0" lvl="0" indent="0">
                        <a:buNone/>
                      </a:pPr>
                      <a:r>
                        <a:t>Research designs</a:t>
                      </a:r>
                    </a:p>
                  </a:txBody>
                  <a:tcPr/>
                </a:tc>
                <a:extLst>
                  <a:ext uri="{0D108BD9-81ED-4DB2-BD59-A6C34878D82A}">
                    <a16:rowId xmlns:a16="http://schemas.microsoft.com/office/drawing/2014/main" val="10000"/>
                  </a:ext>
                </a:extLst>
              </a:tr>
              <a:tr h="0">
                <a:tc>
                  <a:txBody>
                    <a:bodyPr/>
                    <a:lstStyle/>
                    <a:p>
                      <a:pPr marL="0" lvl="0" indent="0">
                        <a:buNone/>
                      </a:pPr>
                      <a:r>
                        <a:t>Effectiveness of an intervention</a:t>
                      </a:r>
                    </a:p>
                  </a:txBody>
                  <a:tcPr/>
                </a:tc>
                <a:tc>
                  <a:txBody>
                    <a:bodyPr/>
                    <a:lstStyle/>
                    <a:p>
                      <a:pPr marL="0" lvl="0" indent="0">
                        <a:buNone/>
                      </a:pPr>
                      <a:r>
                        <a:t>RCT &gt; Experimental &gt; RDD &gt; CE</a:t>
                      </a:r>
                    </a:p>
                  </a:txBody>
                  <a:tcPr/>
                </a:tc>
                <a:extLst>
                  <a:ext uri="{0D108BD9-81ED-4DB2-BD59-A6C34878D82A}">
                    <a16:rowId xmlns:a16="http://schemas.microsoft.com/office/drawing/2014/main" val="10001"/>
                  </a:ext>
                </a:extLst>
              </a:tr>
              <a:tr h="0">
                <a:tc>
                  <a:txBody>
                    <a:bodyPr/>
                    <a:lstStyle/>
                    <a:p>
                      <a:pPr marL="0" lvl="0" indent="0">
                        <a:buNone/>
                      </a:pPr>
                      <a:r>
                        <a:t>Diagnosis</a:t>
                      </a:r>
                    </a:p>
                  </a:txBody>
                  <a:tcPr/>
                </a:tc>
                <a:tc>
                  <a:txBody>
                    <a:bodyPr/>
                    <a:lstStyle/>
                    <a:p>
                      <a:pPr marL="0" lvl="0" indent="0">
                        <a:buNone/>
                      </a:pPr>
                      <a:r>
                        <a:t>Diagnostic test (Cross sectional*) &gt; Cohort &gt; RCT</a:t>
                      </a:r>
                    </a:p>
                  </a:txBody>
                  <a:tcPr/>
                </a:tc>
                <a:extLst>
                  <a:ext uri="{0D108BD9-81ED-4DB2-BD59-A6C34878D82A}">
                    <a16:rowId xmlns:a16="http://schemas.microsoft.com/office/drawing/2014/main" val="10002"/>
                  </a:ext>
                </a:extLst>
              </a:tr>
              <a:tr h="0">
                <a:tc>
                  <a:txBody>
                    <a:bodyPr/>
                    <a:lstStyle/>
                    <a:p>
                      <a:pPr marL="0" lvl="0" indent="0">
                        <a:buNone/>
                      </a:pPr>
                      <a:r>
                        <a:t>Etiology / Cause</a:t>
                      </a:r>
                    </a:p>
                  </a:txBody>
                  <a:tcPr/>
                </a:tc>
                <a:tc>
                  <a:txBody>
                    <a:bodyPr/>
                    <a:lstStyle/>
                    <a:p>
                      <a:pPr marL="0" lvl="0" indent="0">
                        <a:buNone/>
                      </a:pPr>
                      <a:r>
                        <a:t>Cohort &gt; Case-control &gt; Cross sectional</a:t>
                      </a:r>
                    </a:p>
                  </a:txBody>
                  <a:tcPr/>
                </a:tc>
                <a:extLst>
                  <a:ext uri="{0D108BD9-81ED-4DB2-BD59-A6C34878D82A}">
                    <a16:rowId xmlns:a16="http://schemas.microsoft.com/office/drawing/2014/main" val="10003"/>
                  </a:ext>
                </a:extLst>
              </a:tr>
              <a:tr h="0">
                <a:tc>
                  <a:txBody>
                    <a:bodyPr/>
                    <a:lstStyle/>
                    <a:p>
                      <a:pPr marL="0" lvl="0" indent="0">
                        <a:buNone/>
                      </a:pPr>
                      <a:r>
                        <a:t>Prognosis</a:t>
                      </a:r>
                    </a:p>
                  </a:txBody>
                  <a:tcPr/>
                </a:tc>
                <a:tc>
                  <a:txBody>
                    <a:bodyPr/>
                    <a:lstStyle/>
                    <a:p>
                      <a:pPr marL="0" lvl="0" indent="0">
                        <a:buNone/>
                      </a:pPr>
                      <a:r>
                        <a:t>Cohort &gt; RCT</a:t>
                      </a:r>
                    </a:p>
                  </a:txBody>
                  <a:tcPr/>
                </a:tc>
                <a:extLst>
                  <a:ext uri="{0D108BD9-81ED-4DB2-BD59-A6C34878D82A}">
                    <a16:rowId xmlns:a16="http://schemas.microsoft.com/office/drawing/2014/main" val="10004"/>
                  </a:ext>
                </a:extLst>
              </a:tr>
              <a:tr h="0">
                <a:tc>
                  <a:txBody>
                    <a:bodyPr/>
                    <a:lstStyle/>
                    <a:p>
                      <a:pPr marL="0" lvl="0" indent="0">
                        <a:buNone/>
                      </a:pPr>
                      <a:r>
                        <a:t>Safety / Harm</a:t>
                      </a:r>
                    </a:p>
                  </a:txBody>
                  <a:tcPr/>
                </a:tc>
                <a:tc>
                  <a:txBody>
                    <a:bodyPr/>
                    <a:lstStyle/>
                    <a:p>
                      <a:pPr marL="0" lvl="0" indent="0">
                        <a:buNone/>
                      </a:pPr>
                      <a:r>
                        <a:t>RCT &gt; Case-control &gt; Cohort &gt; Case Series &gt; Case Report</a:t>
                      </a:r>
                    </a:p>
                  </a:txBody>
                  <a:tcPr/>
                </a:tc>
                <a:extLst>
                  <a:ext uri="{0D108BD9-81ED-4DB2-BD59-A6C34878D82A}">
                    <a16:rowId xmlns:a16="http://schemas.microsoft.com/office/drawing/2014/main" val="10005"/>
                  </a:ext>
                </a:extLst>
              </a:tr>
              <a:tr h="0">
                <a:tc>
                  <a:txBody>
                    <a:bodyPr/>
                    <a:lstStyle/>
                    <a:p>
                      <a:pPr marL="0" lvl="0" indent="0">
                        <a:buNone/>
                      </a:pPr>
                      <a:r>
                        <a:t>Values and preferences</a:t>
                      </a:r>
                    </a:p>
                  </a:txBody>
                  <a:tcPr/>
                </a:tc>
                <a:tc>
                  <a:txBody>
                    <a:bodyPr/>
                    <a:lstStyle/>
                    <a:p>
                      <a:pPr marL="0" lvl="0" indent="0">
                        <a:buNone/>
                      </a:pPr>
                      <a:r>
                        <a:t>Qualitative research &gt; Surveys (Cross sectional*)</a:t>
                      </a:r>
                    </a:p>
                  </a:txBody>
                  <a:tcPr/>
                </a:tc>
                <a:extLst>
                  <a:ext uri="{0D108BD9-81ED-4DB2-BD59-A6C34878D82A}">
                    <a16:rowId xmlns:a16="http://schemas.microsoft.com/office/drawing/2014/main" val="10006"/>
                  </a:ext>
                </a:extLst>
              </a:tr>
              <a:tr h="0">
                <a:tc>
                  <a:txBody>
                    <a:bodyPr/>
                    <a:lstStyle/>
                    <a:p>
                      <a:pPr marL="0" lvl="0" indent="0">
                        <a:buNone/>
                      </a:pPr>
                      <a:r>
                        <a:t>Prevalence</a:t>
                      </a:r>
                    </a:p>
                  </a:txBody>
                  <a:tcPr/>
                </a:tc>
                <a:tc>
                  <a:txBody>
                    <a:bodyPr/>
                    <a:lstStyle/>
                    <a:p>
                      <a:pPr marL="0" lvl="0" indent="0">
                        <a:buNone/>
                      </a:pPr>
                      <a:r>
                        <a:t>Cross sectional &gt; Cohort</a:t>
                      </a:r>
                    </a:p>
                  </a:txBody>
                  <a:tcPr/>
                </a:tc>
                <a:extLst>
                  <a:ext uri="{0D108BD9-81ED-4DB2-BD59-A6C34878D82A}">
                    <a16:rowId xmlns:a16="http://schemas.microsoft.com/office/drawing/2014/main" val="10007"/>
                  </a:ext>
                </a:extLst>
              </a:tr>
              <a:tr h="0">
                <a:tc>
                  <a:txBody>
                    <a:bodyPr/>
                    <a:lstStyle/>
                    <a:p>
                      <a:pPr marL="0" lvl="0" indent="0">
                        <a:buNone/>
                      </a:pPr>
                      <a:r>
                        <a:t>Incidence</a:t>
                      </a:r>
                    </a:p>
                  </a:txBody>
                  <a:tcPr/>
                </a:tc>
                <a:tc>
                  <a:txBody>
                    <a:bodyPr/>
                    <a:lstStyle/>
                    <a:p>
                      <a:pPr marL="0" lvl="0" indent="0">
                        <a:buNone/>
                      </a:pPr>
                      <a:r>
                        <a:t>Cohort &gt; RCT</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research process — elements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Element</a:t>
                      </a:r>
                    </a:p>
                  </a:txBody>
                  <a:tcPr/>
                </a:tc>
                <a:tc>
                  <a:txBody>
                    <a:bodyPr/>
                    <a:lstStyle/>
                    <a:p>
                      <a:pPr marL="0" lvl="0" indent="0">
                        <a:buNone/>
                      </a:pPr>
                      <a:r>
                        <a:t>Purpose</a:t>
                      </a:r>
                    </a:p>
                  </a:txBody>
                  <a:tcPr/>
                </a:tc>
                <a:extLst>
                  <a:ext uri="{0D108BD9-81ED-4DB2-BD59-A6C34878D82A}">
                    <a16:rowId xmlns:a16="http://schemas.microsoft.com/office/drawing/2014/main" val="10000"/>
                  </a:ext>
                </a:extLst>
              </a:tr>
              <a:tr h="0">
                <a:tc>
                  <a:txBody>
                    <a:bodyPr/>
                    <a:lstStyle/>
                    <a:p>
                      <a:pPr marL="0" lvl="0" indent="0">
                        <a:buNone/>
                      </a:pPr>
                      <a:r>
                        <a:t>Research question(s)</a:t>
                      </a:r>
                    </a:p>
                  </a:txBody>
                  <a:tcPr/>
                </a:tc>
                <a:tc>
                  <a:txBody>
                    <a:bodyPr/>
                    <a:lstStyle/>
                    <a:p>
                      <a:pPr marL="0" lvl="0" indent="0">
                        <a:buNone/>
                      </a:pPr>
                      <a:r>
                        <a:t>Direct research — the main objective of the process; PICOt structured or unstructured</a:t>
                      </a:r>
                    </a:p>
                  </a:txBody>
                  <a:tcPr/>
                </a:tc>
                <a:extLst>
                  <a:ext uri="{0D108BD9-81ED-4DB2-BD59-A6C34878D82A}">
                    <a16:rowId xmlns:a16="http://schemas.microsoft.com/office/drawing/2014/main" val="10001"/>
                  </a:ext>
                </a:extLst>
              </a:tr>
              <a:tr h="0">
                <a:tc>
                  <a:txBody>
                    <a:bodyPr/>
                    <a:lstStyle/>
                    <a:p>
                      <a:pPr marL="0" lvl="0" indent="0">
                        <a:buNone/>
                      </a:pPr>
                      <a:r>
                        <a:t>Background</a:t>
                      </a:r>
                    </a:p>
                  </a:txBody>
                  <a:tcPr/>
                </a:tc>
                <a:tc>
                  <a:txBody>
                    <a:bodyPr/>
                    <a:lstStyle/>
                    <a:p>
                      <a:pPr marL="0" lvl="0" indent="0">
                        <a:buNone/>
                      </a:pPr>
                      <a:r>
                        <a:t>Importance of the topic under study; existing knowledge and justification</a:t>
                      </a:r>
                    </a:p>
                  </a:txBody>
                  <a:tcPr/>
                </a:tc>
                <a:extLst>
                  <a:ext uri="{0D108BD9-81ED-4DB2-BD59-A6C34878D82A}">
                    <a16:rowId xmlns:a16="http://schemas.microsoft.com/office/drawing/2014/main" val="10002"/>
                  </a:ext>
                </a:extLst>
              </a:tr>
              <a:tr h="0">
                <a:tc>
                  <a:txBody>
                    <a:bodyPr/>
                    <a:lstStyle/>
                    <a:p>
                      <a:pPr marL="0" lvl="0" indent="0">
                        <a:buNone/>
                      </a:pPr>
                      <a:r>
                        <a:t>Design</a:t>
                      </a:r>
                    </a:p>
                  </a:txBody>
                  <a:tcPr/>
                </a:tc>
                <a:tc>
                  <a:txBody>
                    <a:bodyPr/>
                    <a:lstStyle/>
                    <a:p>
                      <a:pPr marL="0" lvl="0" indent="0">
                        <a:buNone/>
                      </a:pPr>
                      <a:r>
                        <a:t>Strategy to find the answer; epidemiological methodology</a:t>
                      </a:r>
                    </a:p>
                  </a:txBody>
                  <a:tcPr/>
                </a:tc>
                <a:extLst>
                  <a:ext uri="{0D108BD9-81ED-4DB2-BD59-A6C34878D82A}">
                    <a16:rowId xmlns:a16="http://schemas.microsoft.com/office/drawing/2014/main" val="10003"/>
                  </a:ext>
                </a:extLst>
              </a:tr>
              <a:tr h="0">
                <a:tc>
                  <a:txBody>
                    <a:bodyPr/>
                    <a:lstStyle/>
                    <a:p>
                      <a:pPr marL="0" lvl="0" indent="0">
                        <a:buNone/>
                      </a:pPr>
                      <a:r>
                        <a:t>Subjects under study</a:t>
                      </a:r>
                    </a:p>
                  </a:txBody>
                  <a:tcPr/>
                </a:tc>
                <a:tc>
                  <a:txBody>
                    <a:bodyPr/>
                    <a:lstStyle/>
                    <a:p>
                      <a:pPr marL="0" lvl="0" indent="0">
                        <a:buNone/>
                      </a:pPr>
                      <a:r>
                        <a:t>Selection of study participants — who they are and how they will be selected</a:t>
                      </a:r>
                    </a:p>
                  </a:txBody>
                  <a:tcPr/>
                </a:tc>
                <a:extLst>
                  <a:ext uri="{0D108BD9-81ED-4DB2-BD59-A6C34878D82A}">
                    <a16:rowId xmlns:a16="http://schemas.microsoft.com/office/drawing/2014/main" val="10004"/>
                  </a:ext>
                </a:extLst>
              </a:tr>
              <a:tr h="0">
                <a:tc>
                  <a:txBody>
                    <a:bodyPr/>
                    <a:lstStyle/>
                    <a:p>
                      <a:pPr marL="0" lvl="0" indent="0">
                        <a:buNone/>
                      </a:pPr>
                      <a:r>
                        <a:t>Variables</a:t>
                      </a:r>
                    </a:p>
                  </a:txBody>
                  <a:tcPr/>
                </a:tc>
                <a:tc>
                  <a:txBody>
                    <a:bodyPr/>
                    <a:lstStyle/>
                    <a:p>
                      <a:pPr marL="0" lvl="0" indent="0">
                        <a:buNone/>
                      </a:pPr>
                      <a:r>
                        <a:t>What information will be collected — predictors, confounders, outcome(s)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Study designs</a:t>
            </a:r>
          </a:p>
        </p:txBody>
      </p:sp>
      <p:pic>
        <p:nvPicPr>
          <p:cNvPr id="3" name="Picture 1" descr="images/s1_02_image11.png"/>
          <p:cNvPicPr>
            <a:picLocks noGrp="1" noChangeAspect="1"/>
          </p:cNvPicPr>
          <p:nvPr/>
        </p:nvPicPr>
        <p:blipFill>
          <a:blip r:embed="rId2"/>
          <a:stretch>
            <a:fillRect/>
          </a:stretch>
        </p:blipFill>
        <p:spPr bwMode="auto">
          <a:xfrm>
            <a:off x="2882900" y="1193800"/>
            <a:ext cx="33655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Koepsell &amp; Weiss. Epidemiologic Methods. Oxford University Press, 2003</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Study designs — overview</a:t>
            </a:r>
          </a:p>
        </p:txBody>
      </p:sp>
      <p:pic>
        <p:nvPicPr>
          <p:cNvPr id="3" name="Picture 1" descr="images/s1_02_image13.png"/>
          <p:cNvPicPr>
            <a:picLocks noGrp="1" noChangeAspect="1"/>
          </p:cNvPicPr>
          <p:nvPr/>
        </p:nvPicPr>
        <p:blipFill>
          <a:blip r:embed="rId2"/>
          <a:stretch>
            <a:fillRect/>
          </a:stretch>
        </p:blipFill>
        <p:spPr bwMode="auto">
          <a:xfrm>
            <a:off x="2463800" y="1193800"/>
            <a:ext cx="42037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Grimes et al. Lancet 2002;359:57-61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Study designs — illustrated</a:t>
            </a:r>
          </a:p>
        </p:txBody>
      </p:sp>
      <p:pic>
        <p:nvPicPr>
          <p:cNvPr id="3" name="Picture 1" descr="images/s1_02_image14.png"/>
          <p:cNvPicPr>
            <a:picLocks noGrp="1" noChangeAspect="1"/>
          </p:cNvPicPr>
          <p:nvPr/>
        </p:nvPicPr>
        <p:blipFill>
          <a:blip r:embed="rId2"/>
          <a:stretch>
            <a:fillRect/>
          </a:stretch>
        </p:blipFill>
        <p:spPr bwMode="auto">
          <a:xfrm>
            <a:off x="1155700" y="1193800"/>
            <a:ext cx="6819900" cy="3390900"/>
          </a:xfrm>
          <a:prstGeom prst="rect">
            <a:avLst/>
          </a:prstGeom>
          <a:noFill/>
          <a:ln w="9525">
            <a:noFill/>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Prospective vs retrospective studies</a:t>
            </a:r>
          </a:p>
        </p:txBody>
      </p:sp>
      <p:sp>
        <p:nvSpPr>
          <p:cNvPr id="3" name="Content Placeholder 2"/>
          <p:cNvSpPr>
            <a:spLocks noGrp="1"/>
          </p:cNvSpPr>
          <p:nvPr>
            <p:ph idx="1"/>
          </p:nvPr>
        </p:nvSpPr>
        <p:spPr/>
        <p:txBody>
          <a:bodyPr/>
          <a:lstStyle/>
          <a:p>
            <a:pPr lvl="0"/>
            <a:r>
              <a:t>It is not a good classification — we must separate the direction of exposure/outcome versus how the subjects were recruited</a:t>
            </a:r>
          </a:p>
          <a:p>
            <a:pPr marL="0" lvl="0" indent="0">
              <a:buNone/>
            </a:pPr>
            <a:r>
              <a:rPr b="1"/>
              <a:t>Longitudinal or follow-up</a:t>
            </a:r>
          </a:p>
          <a:p>
            <a:pPr lvl="0"/>
            <a:r>
              <a:t>It’s also not very informative</a:t>
            </a:r>
          </a:p>
          <a:p>
            <a:pPr lvl="0"/>
            <a:r>
              <a:t>RCTs and Cohort studies are longitudinal</a:t>
            </a:r>
          </a:p>
          <a:p>
            <a:pPr lvl="0"/>
            <a:r>
              <a:t>Two designs without follow-up: CS, DTA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Key questions for choosing a design</a:t>
            </a:r>
          </a:p>
        </p:txBody>
      </p:sp>
      <p:sp>
        <p:nvSpPr>
          <p:cNvPr id="3" name="Content Placeholder 2"/>
          <p:cNvSpPr>
            <a:spLocks noGrp="1"/>
          </p:cNvSpPr>
          <p:nvPr>
            <p:ph idx="1"/>
          </p:nvPr>
        </p:nvSpPr>
        <p:spPr/>
        <p:txBody>
          <a:bodyPr/>
          <a:lstStyle/>
          <a:p>
            <a:pPr lvl="0"/>
            <a:r>
              <a:t>Is there follow-up of participants from exposure(s) to outcome(s)?</a:t>
            </a:r>
          </a:p>
          <a:p>
            <a:pPr lvl="0"/>
            <a:r>
              <a:t>Was there follow-up (in the past)?</a:t>
            </a:r>
          </a:p>
          <a:p>
            <a:pPr lvl="0"/>
            <a:r>
              <a:t>Is there an active intervention of the researcher, or does it only observe what is happening?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Pyramids? Not very accurate!</a:t>
            </a:r>
          </a:p>
        </p:txBody>
      </p:sp>
      <p:pic>
        <p:nvPicPr>
          <p:cNvPr id="3" name="Picture 1" descr="images/s1_02_image17.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Pyramids — the takeaway</a:t>
            </a:r>
          </a:p>
        </p:txBody>
      </p:sp>
      <p:sp>
        <p:nvSpPr>
          <p:cNvPr id="3" name="Content Placeholder 2"/>
          <p:cNvSpPr>
            <a:spLocks noGrp="1"/>
          </p:cNvSpPr>
          <p:nvPr>
            <p:ph idx="1"/>
          </p:nvPr>
        </p:nvSpPr>
        <p:spPr/>
        <p:txBody>
          <a:bodyPr/>
          <a:lstStyle/>
          <a:p>
            <a:pPr marL="0" lvl="0" indent="0">
              <a:buNone/>
            </a:pPr>
            <a:r>
              <a:t>Traditional “evidence pyramids” oversimplify how study designs relate to each other and to evidence quality.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studies</a:t>
            </a:r>
          </a:p>
        </p:txBody>
      </p:sp>
      <p:sp>
        <p:nvSpPr>
          <p:cNvPr id="3" name="Content Placeholder 2"/>
          <p:cNvSpPr>
            <a:spLocks noGrp="1"/>
          </p:cNvSpPr>
          <p:nvPr>
            <p:ph idx="1"/>
          </p:nvPr>
        </p:nvSpPr>
        <p:spPr/>
        <p:txBody>
          <a:bodyPr/>
          <a:lstStyle/>
          <a:p>
            <a:pPr marL="0" lvl="0" indent="0">
              <a:buNone/>
            </a:pPr>
            <a:r>
              <a:t>Population is an aggregate of subjects (share a condition).</a:t>
            </a:r>
          </a:p>
          <a:p>
            <a:pPr marL="0" lvl="0" indent="0">
              <a:buNone/>
            </a:pPr>
            <a:r>
              <a:rPr b="1"/>
              <a:t>Closed cohorts</a:t>
            </a:r>
          </a:p>
          <a:p>
            <a:pPr lvl="0"/>
            <a:r>
              <a:t>Group of subjects that are followed from a defined starting point to the occurrence of an outcome of interest</a:t>
            </a:r>
          </a:p>
          <a:p>
            <a:pPr lvl="0"/>
            <a:r>
              <a:t>Cohort members do not change over time (except for mortality or loss of follow-up)</a:t>
            </a:r>
          </a:p>
          <a:p>
            <a:pPr lvl="0"/>
            <a:r>
              <a:t>Individuals do not switch between exposure categories</a:t>
            </a:r>
          </a:p>
          <a:p>
            <a:pPr lvl="0"/>
            <a:r>
              <a:t>Useful for short-term studies with high frequency of outcome</a:t>
            </a:r>
          </a:p>
          <a:p>
            <a:pPr marL="0" lvl="0" indent="0">
              <a:buNone/>
            </a:pPr>
            <a:r>
              <a:rPr b="1"/>
              <a:t>Open cohorts or Dynamic Population Study (DPS)</a:t>
            </a:r>
          </a:p>
          <a:p>
            <a:pPr lvl="0"/>
            <a:r>
              <a:t>Simulate real populations</a:t>
            </a:r>
          </a:p>
          <a:p>
            <a:pPr lvl="0"/>
            <a:r>
              <a:t>Participants can enter or leave the study without compromising study integrity</a:t>
            </a:r>
          </a:p>
          <a:p>
            <a:pPr lvl="0"/>
            <a:r>
              <a:t>Subjects under study contribute with person-time of exposure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 the word’s origin</a:t>
            </a:r>
          </a:p>
        </p:txBody>
      </p:sp>
      <p:pic>
        <p:nvPicPr>
          <p:cNvPr id="3" name="Picture 1" descr="images/s1_02_image19.png"/>
          <p:cNvPicPr>
            <a:picLocks noGrp="1" noChangeAspect="1"/>
          </p:cNvPicPr>
          <p:nvPr/>
        </p:nvPicPr>
        <p:blipFill>
          <a:blip r:embed="rId2"/>
          <a:stretch>
            <a:fillRect/>
          </a:stretch>
        </p:blipFill>
        <p:spPr bwMode="auto">
          <a:xfrm>
            <a:off x="2235200" y="1193800"/>
            <a:ext cx="4686300" cy="3390900"/>
          </a:xfrm>
          <a:prstGeom prst="rect">
            <a:avLst/>
          </a:prstGeom>
          <a:noFill/>
          <a:ln w="9525">
            <a:noFill/>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 what it means today</a:t>
            </a:r>
          </a:p>
        </p:txBody>
      </p:sp>
      <p:sp>
        <p:nvSpPr>
          <p:cNvPr id="3" name="Content Placeholder 2"/>
          <p:cNvSpPr>
            <a:spLocks noGrp="1"/>
          </p:cNvSpPr>
          <p:nvPr>
            <p:ph idx="1"/>
          </p:nvPr>
        </p:nvSpPr>
        <p:spPr/>
        <p:txBody>
          <a:bodyPr/>
          <a:lstStyle/>
          <a:p>
            <a:pPr marL="0" lvl="0" indent="0">
              <a:buNone/>
            </a:pPr>
            <a:r>
              <a:t>A Roman “cohort” (</a:t>
            </a:r>
            <a:r>
              <a:rPr i="1"/>
              <a:t>cohors</a:t>
            </a:r>
            <a:r>
              <a:t>) was one of ten divisions of a legion — the origin of the epidemiological term for a defined group followed over time.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studies — basic analytical approach</a:t>
            </a:r>
          </a:p>
        </p:txBody>
      </p:sp>
      <p:pic>
        <p:nvPicPr>
          <p:cNvPr id="3" name="Picture 1" descr="images/s1_02_image21.png"/>
          <p:cNvPicPr>
            <a:picLocks noGrp="1" noChangeAspect="1"/>
          </p:cNvPicPr>
          <p:nvPr/>
        </p:nvPicPr>
        <p:blipFill>
          <a:blip r:embed="rId2"/>
          <a:stretch>
            <a:fillRect/>
          </a:stretch>
        </p:blipFill>
        <p:spPr bwMode="auto">
          <a:xfrm>
            <a:off x="1041400" y="1193800"/>
            <a:ext cx="7061200" cy="3390900"/>
          </a:xfrm>
          <a:prstGeom prst="rect">
            <a:avLst/>
          </a:prstGeom>
          <a:noFill/>
          <a:ln w="9525">
            <a:noFill/>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studies — closed cohort example</a:t>
            </a:r>
          </a:p>
        </p:txBody>
      </p:sp>
      <p:pic>
        <p:nvPicPr>
          <p:cNvPr id="3" name="Picture 1" descr="images/s1_02_image22.png"/>
          <p:cNvPicPr>
            <a:picLocks noGrp="1" noChangeAspect="1"/>
          </p:cNvPicPr>
          <p:nvPr/>
        </p:nvPicPr>
        <p:blipFill>
          <a:blip r:embed="rId2"/>
          <a:stretch>
            <a:fillRect/>
          </a:stretch>
        </p:blipFill>
        <p:spPr bwMode="auto">
          <a:xfrm>
            <a:off x="1917700" y="1193800"/>
            <a:ext cx="5308600" cy="3390900"/>
          </a:xfrm>
          <a:prstGeom prst="rect">
            <a:avLst/>
          </a:prstGeom>
          <a:noFill/>
          <a:ln w="9525">
            <a:noFill/>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Variations of cohort studies</a:t>
            </a:r>
          </a:p>
        </p:txBody>
      </p:sp>
      <p:pic>
        <p:nvPicPr>
          <p:cNvPr id="3" name="Picture 1" descr="images/s1_02_image23.png"/>
          <p:cNvPicPr>
            <a:picLocks noGrp="1" noChangeAspect="1"/>
          </p:cNvPicPr>
          <p:nvPr/>
        </p:nvPicPr>
        <p:blipFill>
          <a:blip r:embed="rId2"/>
          <a:stretch>
            <a:fillRect/>
          </a:stretch>
        </p:blipFill>
        <p:spPr bwMode="auto">
          <a:xfrm>
            <a:off x="2794000" y="1193800"/>
            <a:ext cx="35433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Concurrent, retrospective, and ambidirectional cohorts differ in when exposure and outcome are measured relative to “now”.</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studies — characteristics</a:t>
            </a:r>
          </a:p>
        </p:txBody>
      </p:sp>
      <p:sp>
        <p:nvSpPr>
          <p:cNvPr id="3" name="Content Placeholder 2"/>
          <p:cNvSpPr>
            <a:spLocks noGrp="1"/>
          </p:cNvSpPr>
          <p:nvPr>
            <p:ph idx="1"/>
          </p:nvPr>
        </p:nvSpPr>
        <p:spPr/>
        <p:txBody>
          <a:bodyPr/>
          <a:lstStyle/>
          <a:p>
            <a:pPr marL="0" lvl="0" indent="0">
              <a:buNone/>
            </a:pPr>
            <a:r>
              <a:rPr b="1"/>
              <a:t>Advantages</a:t>
            </a:r>
          </a:p>
          <a:p>
            <a:pPr lvl="0"/>
            <a:r>
              <a:t>Allow to quantify absolute risk and RR</a:t>
            </a:r>
          </a:p>
          <a:p>
            <a:pPr lvl="0"/>
            <a:r>
              <a:t>They follow the logic of the clinical question</a:t>
            </a:r>
          </a:p>
          <a:p>
            <a:pPr lvl="0"/>
            <a:r>
              <a:t>Assess exposure effects on several outcomes</a:t>
            </a:r>
          </a:p>
          <a:p>
            <a:pPr lvl="0"/>
            <a:r>
              <a:t>Useful in frequent outcomes</a:t>
            </a:r>
          </a:p>
          <a:p>
            <a:pPr marL="0" lvl="0" indent="0">
              <a:buNone/>
            </a:pPr>
            <a:r>
              <a:rPr b="1"/>
              <a:t>Disadvantages</a:t>
            </a:r>
          </a:p>
          <a:p>
            <a:pPr lvl="0"/>
            <a:r>
              <a:t>Economic costs</a:t>
            </a:r>
          </a:p>
          <a:p>
            <a:pPr lvl="0"/>
            <a:r>
              <a:t>Logistics costs</a:t>
            </a:r>
          </a:p>
          <a:p>
            <a:pPr lvl="0"/>
            <a:r>
              <a:t>Extended time</a:t>
            </a:r>
          </a:p>
          <a:p>
            <a:pPr lvl="0"/>
            <a:r>
              <a:t>May require large numbers of patients</a:t>
            </a:r>
          </a:p>
          <a:p>
            <a:pPr lvl="0"/>
            <a:r>
              <a:t>Losses during follow-up</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Rotterdam Study</a:t>
            </a:r>
          </a:p>
        </p:txBody>
      </p:sp>
      <p:sp>
        <p:nvSpPr>
          <p:cNvPr id="3" name="Content Placeholder 2"/>
          <p:cNvSpPr>
            <a:spLocks noGrp="1"/>
          </p:cNvSpPr>
          <p:nvPr>
            <p:ph idx="1"/>
          </p:nvPr>
        </p:nvSpPr>
        <p:spPr/>
        <p:txBody>
          <a:bodyPr/>
          <a:lstStyle/>
          <a:p>
            <a:pPr marL="0" lvl="0" indent="0">
              <a:buNone/>
            </a:pPr>
            <a:r>
              <a:t>The Rotterdam Study is a prospective, population-based cohort study. The aim of the Rotterdam Study is to investigate factors that determine the occurrence of cardiovascular, neurological, ophthalmological, endocrinological, and psychiatric diseases in elderly people.</a:t>
            </a:r>
          </a:p>
          <a:p>
            <a:pPr lvl="0"/>
            <a:r>
              <a:t>The study was established in 1990 by Prof. Albert Hofman of the department of Epidemiology &amp; Biostatistics at the Erasmus Medical Center in Rotterdam, the Netherlands</a:t>
            </a:r>
          </a:p>
          <a:p>
            <a:pPr lvl="0"/>
            <a:r>
              <a:t>Inhabitants of Ommoord, a suburb of Rotterdam, were invited to participate on a regular basis</a:t>
            </a:r>
          </a:p>
          <a:p>
            <a:pPr lvl="0"/>
            <a:r>
              <a:t>The findings of the Rotterdam Study have been presented in close to 1,000 research articles and reports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Rotterdam Study — examination cycles</a:t>
            </a:r>
          </a:p>
        </p:txBody>
      </p:sp>
      <p:pic>
        <p:nvPicPr>
          <p:cNvPr id="3" name="Picture 1" descr="images/s1_02_image24.png"/>
          <p:cNvPicPr>
            <a:picLocks noGrp="1" noChangeAspect="1"/>
          </p:cNvPicPr>
          <p:nvPr/>
        </p:nvPicPr>
        <p:blipFill>
          <a:blip r:embed="rId2"/>
          <a:stretch>
            <a:fillRect/>
          </a:stretch>
        </p:blipFill>
        <p:spPr bwMode="auto">
          <a:xfrm>
            <a:off x="2273300" y="1193800"/>
            <a:ext cx="45847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Diagram of examination cycles of the Rotterdam Study</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Rotterdam Study — research questions</a:t>
            </a:r>
          </a:p>
        </p:txBody>
      </p:sp>
      <p:sp>
        <p:nvSpPr>
          <p:cNvPr id="3" name="Content Placeholder 2"/>
          <p:cNvSpPr>
            <a:spLocks noGrp="1"/>
          </p:cNvSpPr>
          <p:nvPr>
            <p:ph idx="1"/>
          </p:nvPr>
        </p:nvSpPr>
        <p:spPr/>
        <p:txBody>
          <a:bodyPr/>
          <a:lstStyle/>
          <a:p>
            <a:pPr marL="0" lvl="0" indent="0">
              <a:buNone/>
            </a:pPr>
            <a:r>
              <a:t>The initial cohort (RS-I) started out in 1990 with 7,983 men and women aged 55 years and over. Follow-up visits were held in 1994-1995, 1997-1999, 2002-2004, and 2009-2011.</a:t>
            </a:r>
          </a:p>
          <a:p>
            <a:pPr lvl="0"/>
            <a:r>
              <a:rPr b="1"/>
              <a:t>Cardiovascular diseases:</a:t>
            </a:r>
            <a:r>
              <a:t> What are the determinants of presence and progression of atherosclerotic vessel wall abnormalities and of occurrence of cardiovascular disease, and what is the role of disturbances in hemostatic function?</a:t>
            </a:r>
          </a:p>
          <a:p>
            <a:pPr lvl="0"/>
            <a:r>
              <a:rPr b="1"/>
              <a:t>Neurologic diseases:</a:t>
            </a:r>
            <a:r>
              <a:t> What is the prevalence and incidence of various types of dementia and of Parkinson’s disease, and which are the determinants?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Rotterdam Study — research questions (cont.)</a:t>
            </a:r>
          </a:p>
        </p:txBody>
      </p:sp>
      <p:sp>
        <p:nvSpPr>
          <p:cNvPr id="3" name="Content Placeholder 2"/>
          <p:cNvSpPr>
            <a:spLocks noGrp="1"/>
          </p:cNvSpPr>
          <p:nvPr>
            <p:ph idx="1"/>
          </p:nvPr>
        </p:nvSpPr>
        <p:spPr/>
        <p:txBody>
          <a:bodyPr/>
          <a:lstStyle/>
          <a:p>
            <a:pPr lvl="0"/>
            <a:r>
              <a:rPr b="1"/>
              <a:t>Locomotor diseases:</a:t>
            </a:r>
            <a:r>
              <a:t> What is the prevalence and incidence of vertebral and hip fractures and its determinants? What are the determinants of bone mineral density?</a:t>
            </a:r>
          </a:p>
          <a:p>
            <a:pPr lvl="0"/>
            <a:r>
              <a:rPr b="1"/>
              <a:t>Ophthalmic diseases:</a:t>
            </a:r>
            <a:r>
              <a:t> What is the prevalence and incidence of age-related macular degeneration and of glaucoma, and which are the determinants?</a:t>
            </a:r>
          </a:p>
          <a:p>
            <a:pPr marL="0" lvl="0" indent="0">
              <a:buNone/>
            </a:pPr>
            <a:r>
              <a:rPr i="1"/>
              <a:t>http://www.erasmus-epidemiology.nl/research/ergo.htm</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Case-control study</a:t>
            </a:r>
          </a:p>
        </p:txBody>
      </p:sp>
      <p:pic>
        <p:nvPicPr>
          <p:cNvPr id="3" name="Picture 1" descr="images/s1_02_image25.png"/>
          <p:cNvPicPr>
            <a:picLocks noGrp="1" noChangeAspect="1"/>
          </p:cNvPicPr>
          <p:nvPr/>
        </p:nvPicPr>
        <p:blipFill>
          <a:blip r:embed="rId2"/>
          <a:stretch>
            <a:fillRect/>
          </a:stretch>
        </p:blipFill>
        <p:spPr bwMode="auto">
          <a:xfrm>
            <a:off x="2552700" y="1193800"/>
            <a:ext cx="4025900" cy="3390900"/>
          </a:xfrm>
          <a:prstGeom prst="rect">
            <a:avLst/>
          </a:prstGeom>
          <a:noFill/>
          <a:ln w="9525">
            <a:noFill/>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Case-control study — schematic design</a:t>
            </a:r>
          </a:p>
        </p:txBody>
      </p:sp>
      <p:pic>
        <p:nvPicPr>
          <p:cNvPr id="3" name="Picture 1" descr="images/s1_02_image26.png"/>
          <p:cNvPicPr>
            <a:picLocks noGrp="1" noChangeAspect="1"/>
          </p:cNvPicPr>
          <p:nvPr/>
        </p:nvPicPr>
        <p:blipFill>
          <a:blip r:embed="rId2"/>
          <a:stretch>
            <a:fillRect/>
          </a:stretch>
        </p:blipFill>
        <p:spPr bwMode="auto">
          <a:xfrm>
            <a:off x="1701800" y="1193800"/>
            <a:ext cx="5740400" cy="3390900"/>
          </a:xfrm>
          <a:prstGeom prst="rect">
            <a:avLst/>
          </a:prstGeom>
          <a:noFill/>
          <a:ln w="9525">
            <a:noFill/>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Case-control study — hypothetical cohort view</a:t>
            </a:r>
          </a:p>
        </p:txBody>
      </p:sp>
      <p:pic>
        <p:nvPicPr>
          <p:cNvPr id="3" name="Picture 1" descr="images/s1_02_image27.png"/>
          <p:cNvPicPr>
            <a:picLocks noGrp="1" noChangeAspect="1"/>
          </p:cNvPicPr>
          <p:nvPr/>
        </p:nvPicPr>
        <p:blipFill>
          <a:blip r:embed="rId2"/>
          <a:stretch>
            <a:fillRect/>
          </a:stretch>
        </p:blipFill>
        <p:spPr bwMode="auto">
          <a:xfrm>
            <a:off x="2019300" y="1193800"/>
            <a:ext cx="5118100" cy="3390900"/>
          </a:xfrm>
          <a:prstGeom prst="rect">
            <a:avLst/>
          </a:prstGeom>
          <a:noFill/>
          <a:ln w="9525">
            <a:noFill/>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Cohort vs Case-control — comparison</a:t>
            </a:r>
          </a:p>
        </p:txBody>
      </p:sp>
      <p:pic>
        <p:nvPicPr>
          <p:cNvPr id="3" name="Picture 1" descr="images/s1_02_image28.png"/>
          <p:cNvPicPr>
            <a:picLocks noGrp="1" noChangeAspect="1"/>
          </p:cNvPicPr>
          <p:nvPr/>
        </p:nvPicPr>
        <p:blipFill>
          <a:blip r:embed="rId2"/>
          <a:stretch>
            <a:fillRect/>
          </a:stretch>
        </p:blipFill>
        <p:spPr bwMode="auto">
          <a:xfrm>
            <a:off x="889000" y="1193800"/>
            <a:ext cx="7366000" cy="3390900"/>
          </a:xfrm>
          <a:prstGeom prst="rect">
            <a:avLst/>
          </a:prstGeom>
          <a:noFill/>
          <a:ln w="9525">
            <a:noFill/>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Sampling strategies</a:t>
            </a:r>
          </a:p>
        </p:txBody>
      </p:sp>
      <p:sp>
        <p:nvSpPr>
          <p:cNvPr id="3" name="Content Placeholder 2"/>
          <p:cNvSpPr>
            <a:spLocks noGrp="1"/>
          </p:cNvSpPr>
          <p:nvPr>
            <p:ph idx="1"/>
          </p:nvPr>
        </p:nvSpPr>
        <p:spPr/>
        <p:txBody>
          <a:bodyPr/>
          <a:lstStyle/>
          <a:p>
            <a:pPr lvl="0"/>
            <a:r>
              <a:t>Controls should represent the distribution of exposure in the study</a:t>
            </a:r>
          </a:p>
          <a:p>
            <a:pPr lvl="0"/>
            <a:r>
              <a:t>Must be selected regardless of exposure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Case-control — example: tobacco and lung cancer</a:t>
            </a:r>
          </a:p>
        </p:txBody>
      </p:sp>
      <p:pic>
        <p:nvPicPr>
          <p:cNvPr id="3" name="Picture 1" descr="images/s1_02_image29.png"/>
          <p:cNvPicPr>
            <a:picLocks noGrp="1" noChangeAspect="1"/>
          </p:cNvPicPr>
          <p:nvPr/>
        </p:nvPicPr>
        <p:blipFill>
          <a:blip r:embed="rId2"/>
          <a:stretch>
            <a:fillRect/>
          </a:stretch>
        </p:blipFill>
        <p:spPr bwMode="auto">
          <a:xfrm>
            <a:off x="1841500" y="1193800"/>
            <a:ext cx="5448300" cy="3390900"/>
          </a:xfrm>
          <a:prstGeom prst="rect">
            <a:avLst/>
          </a:prstGeom>
          <a:noFill/>
          <a:ln w="9525">
            <a:noFill/>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Case-control — characteristics</a:t>
            </a:r>
          </a:p>
        </p:txBody>
      </p:sp>
      <p:sp>
        <p:nvSpPr>
          <p:cNvPr id="3" name="Content Placeholder 2"/>
          <p:cNvSpPr>
            <a:spLocks noGrp="1"/>
          </p:cNvSpPr>
          <p:nvPr>
            <p:ph idx="1"/>
          </p:nvPr>
        </p:nvSpPr>
        <p:spPr/>
        <p:txBody>
          <a:bodyPr/>
          <a:lstStyle/>
          <a:p>
            <a:pPr marL="0" lvl="0" indent="0">
              <a:buNone/>
            </a:pPr>
            <a:r>
              <a:rPr b="1"/>
              <a:t>Advantages</a:t>
            </a:r>
          </a:p>
          <a:p>
            <a:pPr lvl="0"/>
            <a:r>
              <a:t>Efficiency in studying diseases (outcomes) or rare events</a:t>
            </a:r>
          </a:p>
          <a:p>
            <a:pPr lvl="0"/>
            <a:r>
              <a:t>Short time</a:t>
            </a:r>
          </a:p>
          <a:p>
            <a:pPr lvl="0"/>
            <a:r>
              <a:t>They have no follow-up</a:t>
            </a:r>
          </a:p>
          <a:p>
            <a:pPr lvl="0"/>
            <a:r>
              <a:t>Economic</a:t>
            </a:r>
          </a:p>
          <a:p>
            <a:pPr lvl="0"/>
            <a:r>
              <a:t>Relatively easy case identification</a:t>
            </a:r>
          </a:p>
          <a:p>
            <a:pPr marL="0" lvl="0" indent="0">
              <a:buNone/>
            </a:pPr>
            <a:r>
              <a:rPr b="1"/>
              <a:t>Disadvantages</a:t>
            </a:r>
          </a:p>
          <a:p>
            <a:pPr lvl="0"/>
            <a:r>
              <a:t>Biases in exposure measurement (misclassification)</a:t>
            </a:r>
          </a:p>
          <a:p>
            <a:pPr lvl="0"/>
            <a:r>
              <a:t>Difficulties in establishing controls</a:t>
            </a:r>
          </a:p>
          <a:p>
            <a:pPr lvl="0"/>
            <a:r>
              <a:t>They do not determine absolute risk, incidence, or prevalence — they make an indirect estimate through odds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Cross sectional studies</a:t>
            </a:r>
          </a:p>
        </p:txBody>
      </p:sp>
      <p:sp>
        <p:nvSpPr>
          <p:cNvPr id="3" name="Content Placeholder 2"/>
          <p:cNvSpPr>
            <a:spLocks noGrp="1"/>
          </p:cNvSpPr>
          <p:nvPr>
            <p:ph idx="1"/>
          </p:nvPr>
        </p:nvSpPr>
        <p:spPr/>
        <p:txBody>
          <a:bodyPr/>
          <a:lstStyle/>
          <a:p>
            <a:pPr marL="0" lvl="0" indent="0">
              <a:buNone/>
            </a:pPr>
            <a:r>
              <a:rPr b="1"/>
              <a:t>Prevalence studies</a:t>
            </a:r>
          </a:p>
          <a:p>
            <a:pPr marL="0" lvl="0" indent="0">
              <a:buNone/>
            </a:pPr>
            <a:r>
              <a:t>A study that examines the relationship between a state of health-disease (exposure), other variables of interest that already exist, and one or more outcomes, in a population in a given time.</a:t>
            </a:r>
          </a:p>
          <a:p>
            <a:pPr lvl="0"/>
            <a:r>
              <a:t>The exposure-outcome relationship is measured in terms of prevalence</a:t>
            </a:r>
          </a:p>
          <a:p>
            <a:pPr lvl="0"/>
            <a:r>
              <a:t>Or according to the presence or absence of exposure in those who have or do not have the outcome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Cross sectional studies — schematic representation</a:t>
            </a:r>
          </a:p>
        </p:txBody>
      </p:sp>
      <p:pic>
        <p:nvPicPr>
          <p:cNvPr id="3" name="Picture 1" descr="images/s1_02_image30.png"/>
          <p:cNvPicPr>
            <a:picLocks noGrp="1" noChangeAspect="1"/>
          </p:cNvPicPr>
          <p:nvPr/>
        </p:nvPicPr>
        <p:blipFill>
          <a:blip r:embed="rId2"/>
          <a:stretch>
            <a:fillRect/>
          </a:stretch>
        </p:blipFill>
        <p:spPr bwMode="auto">
          <a:xfrm>
            <a:off x="2819400" y="1193800"/>
            <a:ext cx="3517900" cy="3390900"/>
          </a:xfrm>
          <a:prstGeom prst="rect">
            <a:avLst/>
          </a:prstGeom>
          <a:noFill/>
          <a:ln w="9525">
            <a:noFill/>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Cross sectional studies — characteristics</a:t>
            </a:r>
          </a:p>
        </p:txBody>
      </p:sp>
      <p:sp>
        <p:nvSpPr>
          <p:cNvPr id="3" name="Content Placeholder 2"/>
          <p:cNvSpPr>
            <a:spLocks noGrp="1"/>
          </p:cNvSpPr>
          <p:nvPr>
            <p:ph idx="1"/>
          </p:nvPr>
        </p:nvSpPr>
        <p:spPr/>
        <p:txBody>
          <a:bodyPr/>
          <a:lstStyle/>
          <a:p>
            <a:pPr marL="0" lvl="0" indent="0">
              <a:buNone/>
            </a:pPr>
            <a:r>
              <a:rPr b="1"/>
              <a:t>Advantages</a:t>
            </a:r>
          </a:p>
          <a:p>
            <a:pPr lvl="0"/>
            <a:r>
              <a:t>High control in subjects’ selection and measurements</a:t>
            </a:r>
          </a:p>
          <a:p>
            <a:pPr lvl="0"/>
            <a:r>
              <a:t>There are no losses to follow-up</a:t>
            </a:r>
          </a:p>
          <a:p>
            <a:pPr lvl="0"/>
            <a:r>
              <a:t>Absence of waiting time</a:t>
            </a:r>
          </a:p>
          <a:p>
            <a:pPr lvl="0"/>
            <a:r>
              <a:t>Economic, fast studies</a:t>
            </a:r>
          </a:p>
          <a:p>
            <a:pPr lvl="0"/>
            <a:r>
              <a:t>First step for further studies</a:t>
            </a:r>
          </a:p>
          <a:p>
            <a:pPr marL="0" lvl="0" indent="0">
              <a:buNone/>
            </a:pPr>
            <a:r>
              <a:rPr b="1"/>
              <a:t>Disadvantages</a:t>
            </a:r>
          </a:p>
          <a:p>
            <a:pPr lvl="0"/>
            <a:r>
              <a:t>There is not a sequence of causality</a:t>
            </a:r>
          </a:p>
          <a:p>
            <a:pPr lvl="0"/>
            <a:r>
              <a:t>Not useful in rare diseases</a:t>
            </a:r>
          </a:p>
          <a:p>
            <a:pPr lvl="0"/>
            <a:r>
              <a:t>They do not determine incidence or absolute risk</a:t>
            </a:r>
          </a:p>
          <a:p>
            <a:pPr lvl="0"/>
            <a:r>
              <a:t>Potential bias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Cross sectional — example</a:t>
            </a:r>
          </a:p>
        </p:txBody>
      </p:sp>
      <p:sp>
        <p:nvSpPr>
          <p:cNvPr id="3" name="Content Placeholder 2"/>
          <p:cNvSpPr>
            <a:spLocks noGrp="1"/>
          </p:cNvSpPr>
          <p:nvPr>
            <p:ph idx="1"/>
          </p:nvPr>
        </p:nvSpPr>
        <p:spPr/>
        <p:txBody>
          <a:bodyPr/>
          <a:lstStyle/>
          <a:p>
            <a:pPr marL="0" lvl="0" indent="0">
              <a:buNone/>
            </a:pPr>
            <a:r>
              <a:t>As part of a population-based screening program, researchers evaluated the prevalence of microalbuminuria in relatives of patients with chronic kidney disease (CKD) compared with the general population. The prevalence of microalbuminuria was significantly greater in those with a family history of CKD than in the age- and sex-matched control group.</a:t>
            </a:r>
          </a:p>
          <a:p>
            <a:pPr lvl="0"/>
            <a:r>
              <a:t>Prevalence was 9.5% in those with a family history of CKD, versus 1.4% in the age- and sex-matched control group with no family history of CKD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Cross sectional — example (reference)</a:t>
            </a:r>
          </a:p>
        </p:txBody>
      </p:sp>
      <p:sp>
        <p:nvSpPr>
          <p:cNvPr id="3" name="Content Placeholder 2"/>
          <p:cNvSpPr>
            <a:spLocks noGrp="1"/>
          </p:cNvSpPr>
          <p:nvPr>
            <p:ph idx="1"/>
          </p:nvPr>
        </p:nvSpPr>
        <p:spPr/>
        <p:txBody>
          <a:bodyPr/>
          <a:lstStyle/>
          <a:p>
            <a:pPr marL="0" lvl="0" indent="0">
              <a:buNone/>
            </a:pPr>
            <a:r>
              <a:rPr i="1"/>
              <a:t>Bello AK, Peters J, Wight J, de Zeeuw D, El Nahas M; European Kidney Institute. A population-based screening for microalbuminuria among relatives of CKD patients: the Kidney Evaluation and Awareness Program in Sheffield (KEAPS). Am J Kidney Dis. 2008 Sep;52(3):434-43.</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Observational designs — measures summary</a:t>
            </a:r>
          </a:p>
        </p:txBody>
      </p:sp>
      <p:pic>
        <p:nvPicPr>
          <p:cNvPr id="3" name="Picture 1" descr="images/s1_02_image31.png"/>
          <p:cNvPicPr>
            <a:picLocks noGrp="1" noChangeAspect="1"/>
          </p:cNvPicPr>
          <p:nvPr/>
        </p:nvPicPr>
        <p:blipFill>
          <a:blip r:embed="rId2"/>
          <a:stretch>
            <a:fillRect/>
          </a:stretch>
        </p:blipFill>
        <p:spPr bwMode="auto">
          <a:xfrm>
            <a:off x="584200" y="1193800"/>
            <a:ext cx="79629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Observational study design measures of disease, measures of risk, and temporality.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Activity</a:t>
            </a:r>
          </a:p>
        </p:txBody>
      </p:sp>
      <p:sp>
        <p:nvSpPr>
          <p:cNvPr id="3" name="Content Placeholder 2"/>
          <p:cNvSpPr>
            <a:spLocks noGrp="1"/>
          </p:cNvSpPr>
          <p:nvPr>
            <p:ph idx="1"/>
          </p:nvPr>
        </p:nvSpPr>
        <p:spPr/>
        <p:txBody>
          <a:bodyPr/>
          <a:lstStyle/>
          <a:p>
            <a:pPr marL="0" lvl="0" indent="0">
              <a:buNone/>
            </a:pPr>
            <a:r>
              <a:t>Researchers investigated whether pioglitazone was associated with an increased risk of bladder cancer in people with type 2 diabetes. Use of pioglitazone, an oral antidiabetic agent in the thiazolidinedione class, is controversial.</a:t>
            </a:r>
          </a:p>
          <a:p>
            <a:pPr marL="0" lvl="0" indent="0">
              <a:buNone/>
            </a:pPr>
            <a:r>
              <a:t>A cohort of 115,727 patients with type 2 diabetes was established, with patients entering the cohort if they had been newly treated with oral hypoglycaemic agents. Patients were considered exposed to pioglitazone if they had ever taken it, with duration and cumulative dosage recorded.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Activity — results</a:t>
            </a:r>
          </a:p>
        </p:txBody>
      </p:sp>
      <p:sp>
        <p:nvSpPr>
          <p:cNvPr id="3" name="Content Placeholder 2"/>
          <p:cNvSpPr>
            <a:spLocks noGrp="1"/>
          </p:cNvSpPr>
          <p:nvPr>
            <p:ph idx="1"/>
          </p:nvPr>
        </p:nvSpPr>
        <p:spPr/>
        <p:txBody>
          <a:bodyPr/>
          <a:lstStyle/>
          <a:p>
            <a:pPr marL="0" lvl="0" indent="0">
              <a:buNone/>
            </a:pPr>
            <a:r>
              <a:t>In the cohort, 376 cases of bladder cancer were diagnosed (at least one year after cohort entry, to account for latency). Each case was matched to as many as 20 controls on year of birth, year of cohort entry, sex, and duration of follow-up. A total of 6,699 controls were identified.</a:t>
            </a:r>
          </a:p>
          <a:p>
            <a:pPr marL="0" lvl="0" indent="0">
              <a:buNone/>
            </a:pPr>
            <a:r>
              <a:t>The researchers reported that the use of pioglitazone was associated with an increased risk of bladder cancer among people with type 2 diabetes.</a:t>
            </a:r>
          </a:p>
          <a:p>
            <a:pPr marL="0" lvl="0" indent="0">
              <a:buNone/>
            </a:pPr>
            <a:r>
              <a:rPr b="1"/>
              <a:t>Which one of the following study designs best describes that used above?</a:t>
            </a:r>
          </a:p>
          <a:p>
            <a:pPr marL="342900" lvl="0" indent="-342900">
              <a:buAutoNum type="alphaLcParenR"/>
            </a:pPr>
            <a:r>
              <a:t>Case-control study</a:t>
            </a:r>
          </a:p>
          <a:p>
            <a:pPr marL="342900" lvl="0" indent="-342900">
              <a:buAutoNum type="alphaLcParenR"/>
            </a:pPr>
            <a:r>
              <a:t>Cohort study</a:t>
            </a:r>
          </a:p>
          <a:p>
            <a:pPr marL="342900" lvl="0" indent="-342900">
              <a:buAutoNum type="alphaLcParenR"/>
            </a:pPr>
            <a:r>
              <a:t>Cross sectional study</a:t>
            </a:r>
          </a:p>
          <a:p>
            <a:pPr marL="342900" lvl="0" indent="-342900">
              <a:buAutoNum type="alphaLcParenR"/>
            </a:pPr>
            <a:r>
              <a:t>Nested case-control study</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Diagnostic test assessment (DTA)</a:t>
            </a:r>
          </a:p>
        </p:txBody>
      </p:sp>
      <p:sp>
        <p:nvSpPr>
          <p:cNvPr id="3" name="Content Placeholder 2"/>
          <p:cNvSpPr>
            <a:spLocks noGrp="1"/>
          </p:cNvSpPr>
          <p:nvPr>
            <p:ph idx="1"/>
          </p:nvPr>
        </p:nvSpPr>
        <p:spPr/>
        <p:txBody>
          <a:bodyPr/>
          <a:lstStyle/>
          <a:p>
            <a:pPr lvl="0"/>
            <a:r>
              <a:t>Useful to know the value of a new diagnostic method</a:t>
            </a:r>
          </a:p>
          <a:p>
            <a:pPr lvl="0"/>
            <a:r>
              <a:t>Value is measured in sensitivity and specificity</a:t>
            </a:r>
          </a:p>
          <a:p>
            <a:pPr lvl="0"/>
            <a:r>
              <a:t>The value of the test in the patient is measured in positive and negative predictive values</a:t>
            </a:r>
          </a:p>
          <a:p>
            <a:pPr lvl="0"/>
            <a:r>
              <a:t>A “gold standard” is indispensable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DTA — basic design</a:t>
            </a:r>
          </a:p>
        </p:txBody>
      </p:sp>
      <p:pic>
        <p:nvPicPr>
          <p:cNvPr id="3" name="Picture 1" descr="images/s1_02_image33.png"/>
          <p:cNvPicPr>
            <a:picLocks noGrp="1" noChangeAspect="1"/>
          </p:cNvPicPr>
          <p:nvPr/>
        </p:nvPicPr>
        <p:blipFill>
          <a:blip r:embed="rId2"/>
          <a:stretch>
            <a:fillRect/>
          </a:stretch>
        </p:blipFill>
        <p:spPr bwMode="auto">
          <a:xfrm>
            <a:off x="2603500" y="1193800"/>
            <a:ext cx="3937000" cy="3390900"/>
          </a:xfrm>
          <a:prstGeom prst="rect">
            <a:avLst/>
          </a:prstGeom>
          <a:noFill/>
          <a:ln w="9525">
            <a:noFill/>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Diagnostic performance — ROC curve</a:t>
            </a:r>
          </a:p>
        </p:txBody>
      </p:sp>
      <p:pic>
        <p:nvPicPr>
          <p:cNvPr id="3" name="Picture 1" descr="images/s1_02_image35.png"/>
          <p:cNvPicPr>
            <a:picLocks noGrp="1" noChangeAspect="1"/>
          </p:cNvPicPr>
          <p:nvPr/>
        </p:nvPicPr>
        <p:blipFill>
          <a:blip r:embed="rId2"/>
          <a:stretch>
            <a:fillRect/>
          </a:stretch>
        </p:blipFill>
        <p:spPr bwMode="auto">
          <a:xfrm>
            <a:off x="2857500" y="1193800"/>
            <a:ext cx="3429000" cy="3390900"/>
          </a:xfrm>
          <a:prstGeom prst="rect">
            <a:avLst/>
          </a:prstGeom>
          <a:noFill/>
          <a:ln w="9525">
            <a:noFill/>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report / Case series</a:t>
            </a:r>
          </a:p>
        </p:txBody>
      </p:sp>
      <p:sp>
        <p:nvSpPr>
          <p:cNvPr id="3" name="Content Placeholder 2"/>
          <p:cNvSpPr>
            <a:spLocks noGrp="1"/>
          </p:cNvSpPr>
          <p:nvPr>
            <p:ph idx="1"/>
          </p:nvPr>
        </p:nvSpPr>
        <p:spPr/>
        <p:txBody>
          <a:bodyPr/>
          <a:lstStyle/>
          <a:p>
            <a:pPr lvl="0"/>
            <a:r>
              <a:t>Describes the characteristics of a patient or a group of patients with similar characteristics</a:t>
            </a:r>
          </a:p>
          <a:p>
            <a:pPr lvl="0"/>
            <a:r>
              <a:t>Generally describe a new finding</a:t>
            </a:r>
          </a:p>
          <a:p>
            <a:pPr lvl="0"/>
            <a:r>
              <a:t>Represent nearly a third of publications</a:t>
            </a:r>
          </a:p>
          <a:p>
            <a:pPr lvl="0"/>
            <a:r>
              <a:t>Allow the generation of hypotheses</a:t>
            </a:r>
          </a:p>
          <a:p>
            <a:pPr lvl="0"/>
            <a:r>
              <a:t>Are the interface between clinical practice and epidemiology</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series or cohort study?</a:t>
            </a:r>
          </a:p>
        </p:txBody>
      </p:sp>
      <p:sp>
        <p:nvSpPr>
          <p:cNvPr id="3" name="Content Placeholder 2"/>
          <p:cNvSpPr>
            <a:spLocks noGrp="1"/>
          </p:cNvSpPr>
          <p:nvPr>
            <p:ph idx="1"/>
          </p:nvPr>
        </p:nvSpPr>
        <p:spPr/>
        <p:txBody>
          <a:bodyPr/>
          <a:lstStyle/>
          <a:p>
            <a:pPr marL="0" lvl="0" indent="0">
              <a:buNone/>
            </a:pPr>
            <a:r>
              <a:t>Understanding outcome as “occurrence of a disease or a state associated with disease” (e.g. death, metastasis in breast cancer).</a:t>
            </a:r>
          </a:p>
          <a:p>
            <a:pPr marL="0" lvl="0" indent="0">
              <a:buNone/>
            </a:pPr>
            <a:r>
              <a:rPr b="1"/>
              <a:t>What is the inception point of the study?</a:t>
            </a:r>
          </a:p>
          <a:p>
            <a:pPr lvl="0"/>
            <a:r>
              <a:rPr b="1"/>
              <a:t>Exposure:</a:t>
            </a:r>
            <a:r>
              <a:t> patients “free” or “without” the outcome and followed over time. Exposure(s) are varied characteristics, fixed or not. Exposure may be binary (smoke/non-smoking) or continuous (blood pressure)</a:t>
            </a:r>
          </a:p>
          <a:p>
            <a:pPr lvl="0"/>
            <a:r>
              <a:rPr b="1"/>
              <a:t>Outcome:</a:t>
            </a:r>
            <a:r>
              <a:t> sampling people with a certain condition or disease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Case series or cohort study? — the cohort view</a:t>
            </a:r>
          </a:p>
        </p:txBody>
      </p:sp>
      <p:sp>
        <p:nvSpPr>
          <p:cNvPr id="4" name="Text Placeholder 3"/>
          <p:cNvSpPr>
            <a:spLocks noGrp="1"/>
          </p:cNvSpPr>
          <p:nvPr>
            <p:ph type="body" sz="half" idx="2"/>
          </p:nvPr>
        </p:nvSpPr>
        <p:spPr/>
        <p:txBody>
          <a:bodyPr/>
          <a:lstStyle/>
          <a:p>
            <a:pPr marL="0" lvl="0" indent="0">
              <a:buNone/>
            </a:pPr>
            <a:r>
              <a:t>The cohort study allows to directly estimate the absolute risk of occurrence of the outcome. The absolute risk ratio is the relative risk (RR).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0">
                <a:tc>
                  <a:txBody>
                    <a:bodyPr/>
                    <a:lstStyle/>
                    <a:p>
                      <a:endParaRPr/>
                    </a:p>
                  </a:txBody>
                  <a:tcPr/>
                </a:tc>
                <a:tc>
                  <a:txBody>
                    <a:bodyPr/>
                    <a:lstStyle/>
                    <a:p>
                      <a:pPr marL="0" lvl="0" indent="0" algn="r">
                        <a:buNone/>
                      </a:pPr>
                      <a:r>
                        <a:t>Yes</a:t>
                      </a:r>
                    </a:p>
                  </a:txBody>
                  <a:tcPr/>
                </a:tc>
                <a:tc>
                  <a:txBody>
                    <a:bodyPr/>
                    <a:lstStyle/>
                    <a:p>
                      <a:pPr marL="0" lvl="0" indent="0" algn="r">
                        <a:buNone/>
                      </a:pPr>
                      <a:r>
                        <a:t>No</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t>Exposed</a:t>
                      </a:r>
                    </a:p>
                  </a:txBody>
                  <a:tcPr/>
                </a:tc>
                <a:tc>
                  <a:txBody>
                    <a:bodyPr/>
                    <a:lstStyle/>
                    <a:p>
                      <a:pPr marL="0" lvl="0" indent="0" algn="r">
                        <a:buNone/>
                      </a:pPr>
                      <a:r>
                        <a:t>a</a:t>
                      </a:r>
                    </a:p>
                  </a:txBody>
                  <a:tcPr/>
                </a:tc>
                <a:tc>
                  <a:txBody>
                    <a:bodyPr/>
                    <a:lstStyle/>
                    <a:p>
                      <a:pPr marL="0" lvl="0" indent="0" algn="r">
                        <a:buNone/>
                      </a:pPr>
                      <a:r>
                        <a:t>b</a:t>
                      </a:r>
                    </a:p>
                  </a:txBody>
                  <a:tcPr/>
                </a:tc>
                <a:tc>
                  <a:txBody>
                    <a:bodyPr/>
                    <a:lstStyle/>
                    <a:p>
                      <a:pPr marL="0" lvl="0" indent="0" algn="r">
                        <a:buNone/>
                      </a:pPr>
                      <a:r>
                        <a:t>a+b</a:t>
                      </a:r>
                    </a:p>
                  </a:txBody>
                  <a:tcPr/>
                </a:tc>
                <a:extLst>
                  <a:ext uri="{0D108BD9-81ED-4DB2-BD59-A6C34878D82A}">
                    <a16:rowId xmlns:a16="http://schemas.microsoft.com/office/drawing/2014/main" val="10001"/>
                  </a:ext>
                </a:extLst>
              </a:tr>
              <a:tr h="0">
                <a:tc>
                  <a:txBody>
                    <a:bodyPr/>
                    <a:lstStyle/>
                    <a:p>
                      <a:pPr marL="0" lvl="0" indent="0">
                        <a:buNone/>
                      </a:pPr>
                      <a:r>
                        <a:t>Non exposed</a:t>
                      </a:r>
                    </a:p>
                  </a:txBody>
                  <a:tcPr/>
                </a:tc>
                <a:tc>
                  <a:txBody>
                    <a:bodyPr/>
                    <a:lstStyle/>
                    <a:p>
                      <a:pPr marL="0" lvl="0" indent="0" algn="r">
                        <a:buNone/>
                      </a:pPr>
                      <a:r>
                        <a:t>c</a:t>
                      </a:r>
                    </a:p>
                  </a:txBody>
                  <a:tcPr/>
                </a:tc>
                <a:tc>
                  <a:txBody>
                    <a:bodyPr/>
                    <a:lstStyle/>
                    <a:p>
                      <a:pPr marL="0" lvl="0" indent="0" algn="r">
                        <a:buNone/>
                      </a:pPr>
                      <a:r>
                        <a:t>d</a:t>
                      </a:r>
                    </a:p>
                  </a:txBody>
                  <a:tcPr/>
                </a:tc>
                <a:tc>
                  <a:txBody>
                    <a:bodyPr/>
                    <a:lstStyle/>
                    <a:p>
                      <a:pPr marL="0" lvl="0" indent="0" algn="r">
                        <a:buNone/>
                      </a:pPr>
                      <a:r>
                        <a:t>c+d</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t>a+c</a:t>
                      </a:r>
                    </a:p>
                  </a:txBody>
                  <a:tcPr/>
                </a:tc>
                <a:tc>
                  <a:txBody>
                    <a:bodyPr/>
                    <a:lstStyle/>
                    <a:p>
                      <a:pPr marL="0" lvl="0" indent="0" algn="r">
                        <a:buNone/>
                      </a:pPr>
                      <a:r>
                        <a:t>b+d</a:t>
                      </a:r>
                    </a:p>
                  </a:txBody>
                  <a:tcPr/>
                </a:tc>
                <a:tc>
                  <a:txBody>
                    <a:bodyPr/>
                    <a:lstStyle/>
                    <a:p>
                      <a:pPr marL="0" lvl="0" indent="0" algn="r">
                        <a:buNone/>
                      </a:pPr>
                      <a:r>
                        <a:t>a+b+c+d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series or cohort study? — relative risk formula</a:t>
            </a:r>
          </a:p>
        </p:txBody>
      </p:sp>
      <p:sp>
        <p:nvSpPr>
          <p:cNvPr id="3" name="Content Placeholder 2"/>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m:r>
                    <m:rPr>
                      <m:nor/>
                    </m:rPr>
                    <a:rPr i="0"/>
                    <m:t>Relative risk (RR)</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𝑒𝑥𝑝</m:t>
                          </m:r>
                        </m:sub>
                      </m:sSub>
                    </m:num>
                    <m:den>
                      <m:r>
                        <a:rPr>
                          <a:latin typeface="Cambria Math" panose="02040503050406030204" pitchFamily="18" charset="0"/>
                        </a:rPr>
                        <m:t>𝐶</m:t>
                      </m:r>
                      <m:sSub>
                        <m:sSubPr>
                          <m:ctrlPr>
                            <a:rPr>
                              <a:latin typeface="Cambria Math" panose="02040503050406030204" pitchFamily="18" charset="0"/>
                            </a:rPr>
                          </m:ctrlPr>
                        </m:sSubPr>
                        <m:e>
                          <m:r>
                            <a:rPr>
                              <a:latin typeface="Cambria Math" panose="02040503050406030204" pitchFamily="18" charset="0"/>
                            </a:rPr>
                            <m:t>𝐼</m:t>
                          </m:r>
                        </m:e>
                        <m:sub>
                          <m:r>
                            <a:rPr>
                              <a:latin typeface="Cambria Math" panose="02040503050406030204" pitchFamily="18" charset="0"/>
                            </a:rPr>
                            <m:t>𝑛𝑜𝑛</m:t>
                          </m:r>
                          <m:r>
                            <a:rPr>
                              <a:latin typeface="Cambria Math" panose="02040503050406030204" pitchFamily="18" charset="0"/>
                            </a:rPr>
                            <m:t> </m:t>
                          </m:r>
                          <m:r>
                            <a:rPr>
                              <a:latin typeface="Cambria Math" panose="02040503050406030204" pitchFamily="18" charset="0"/>
                            </a:rPr>
                            <m:t>𝑒𝑥𝑝</m:t>
                          </m:r>
                        </m:sub>
                      </m:sSub>
                    </m:den>
                  </m:f>
                  <m:r>
                    <a:rPr>
                      <a:latin typeface="Cambria Math" panose="02040503050406030204" pitchFamily="18" charset="0"/>
                    </a:rPr>
                    <m:t>=</m:t>
                  </m:r>
                  <m:f>
                    <m:fPr>
                      <m:ctrlPr>
                        <a:rPr i="1">
                          <a:latin typeface="Cambria Math" panose="02040503050406030204" pitchFamily="18" charset="0"/>
                        </a:rPr>
                      </m:ctrlPr>
                    </m:fPr>
                    <m:num>
                      <m:f>
                        <m:fPr>
                          <m:ctrlPr>
                            <a:rPr>
                              <a:latin typeface="Cambria Math" panose="02040503050406030204" pitchFamily="18" charset="0"/>
                            </a:rPr>
                          </m:ctrlPr>
                        </m:fPr>
                        <m:num>
                          <m:r>
                            <a:rPr>
                              <a:latin typeface="Cambria Math" panose="02040503050406030204" pitchFamily="18" charset="0"/>
                            </a:rPr>
                            <m:t>𝑎</m:t>
                          </m:r>
                        </m:num>
                        <m:den>
                          <m:r>
                            <a:rPr>
                              <a:latin typeface="Cambria Math" panose="02040503050406030204" pitchFamily="18" charset="0"/>
                            </a:rPr>
                            <m:t>𝑎</m:t>
                          </m:r>
                          <m:r>
                            <a:rPr>
                              <a:latin typeface="Cambria Math" panose="02040503050406030204" pitchFamily="18" charset="0"/>
                            </a:rPr>
                            <m:t>+</m:t>
                          </m:r>
                          <m:r>
                            <a:rPr>
                              <a:latin typeface="Cambria Math" panose="02040503050406030204" pitchFamily="18" charset="0"/>
                            </a:rPr>
                            <m:t>𝑏</m:t>
                          </m:r>
                        </m:den>
                      </m:f>
                    </m:num>
                    <m:den>
                      <m:f>
                        <m:fPr>
                          <m:ctrlPr>
                            <a:rPr>
                              <a:latin typeface="Cambria Math" panose="02040503050406030204" pitchFamily="18" charset="0"/>
                            </a:rPr>
                          </m:ctrlPr>
                        </m:fPr>
                        <m:num>
                          <m:r>
                            <a:rPr>
                              <a:latin typeface="Cambria Math" panose="02040503050406030204" pitchFamily="18" charset="0"/>
                            </a:rPr>
                            <m:t>𝑐</m:t>
                          </m:r>
                        </m:num>
                        <m:den>
                          <m:r>
                            <a:rPr>
                              <a:latin typeface="Cambria Math" panose="02040503050406030204" pitchFamily="18" charset="0"/>
                            </a:rPr>
                            <m:t>𝑐</m:t>
                          </m:r>
                          <m:r>
                            <a:rPr>
                              <a:latin typeface="Cambria Math" panose="02040503050406030204" pitchFamily="18" charset="0"/>
                            </a:rPr>
                            <m:t>+</m:t>
                          </m:r>
                          <m:r>
                            <a:rPr>
                              <a:latin typeface="Cambria Math" panose="02040503050406030204" pitchFamily="18" charset="0"/>
                            </a:rPr>
                            <m:t>𝑑</m:t>
                          </m:r>
                        </m:den>
                      </m:f>
                    </m:den>
                  </m:f>
                </m:oMath>
              </m:oMathPara>
            </a14:m>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series or cohort study? — case series structure</a:t>
            </a:r>
          </a:p>
        </p:txBody>
      </p:sp>
      <p:sp>
        <p:nvSpPr>
          <p:cNvPr id="3" name="Content Placeholder 2"/>
          <p:cNvSpPr>
            <a:spLocks noGrp="1"/>
          </p:cNvSpPr>
          <p:nvPr>
            <p:ph idx="1"/>
          </p:nvPr>
        </p:nvSpPr>
        <p:spPr/>
        <p:txBody>
          <a:bodyPr/>
          <a:lstStyle/>
          <a:p>
            <a:pPr marL="0" lvl="0" indent="0">
              <a:buNone/>
            </a:pPr>
            <a:r>
              <a:t>Having a control group is not a requirement of cohort design since its objective may be:</a:t>
            </a:r>
          </a:p>
          <a:p>
            <a:pPr lvl="0"/>
            <a:r>
              <a:t>Describe the course of the disease or the “prognosis”</a:t>
            </a:r>
          </a:p>
          <a:p>
            <a:pPr lvl="0"/>
            <a:r>
              <a:t>It is important to clarify whether it pursues etiology (causality) or prognosis</a:t>
            </a:r>
          </a:p>
          <a:p>
            <a:pPr lvl="0"/>
            <a:r>
              <a:t>The comparison group can be internal (Male/Female)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Case series structure</a:t>
            </a:r>
          </a:p>
        </p:txBody>
      </p:sp>
      <p:sp>
        <p:nvSpPr>
          <p:cNvPr id="3" name="Content Placeholder 2"/>
          <p:cNvSpPr>
            <a:spLocks noGrp="1"/>
          </p:cNvSpPr>
          <p:nvPr>
            <p:ph idx="1"/>
          </p:nvPr>
        </p:nvSpPr>
        <p:spPr/>
        <p:txBody>
          <a:bodyPr/>
          <a:lstStyle/>
          <a:p>
            <a:pPr lvl="0"/>
            <a:r>
              <a:t>By definition, it should sample subjects based on outcome or disease-associated status</a:t>
            </a:r>
          </a:p>
          <a:p>
            <a:pPr lvl="0"/>
            <a:r>
              <a:t>Patients with specific exposure and specific outcome, or patients with exposure-independent outcome (case-control)</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Case series — the sampling view</a:t>
            </a:r>
          </a:p>
        </p:txBody>
      </p:sp>
      <p:sp>
        <p:nvSpPr>
          <p:cNvPr id="4" name="Text Placeholder 3"/>
          <p:cNvSpPr>
            <a:spLocks noGrp="1"/>
          </p:cNvSpPr>
          <p:nvPr>
            <p:ph type="body" sz="half" idx="2"/>
          </p:nvPr>
        </p:nvSpPr>
        <p:spPr/>
        <p:txBody>
          <a:bodyPr/>
          <a:lstStyle/>
          <a:p>
            <a:pPr marL="0" lvl="0" indent="0">
              <a:buNone/>
            </a:pPr>
            <a:r>
              <a:t>In none of the cases can the absolute risk of occurrence of the outcome be calculated directly.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0">
                <a:tc>
                  <a:txBody>
                    <a:bodyPr/>
                    <a:lstStyle/>
                    <a:p>
                      <a:endParaRPr/>
                    </a:p>
                  </a:txBody>
                  <a:tcPr/>
                </a:tc>
                <a:tc>
                  <a:txBody>
                    <a:bodyPr/>
                    <a:lstStyle/>
                    <a:p>
                      <a:pPr marL="0" lvl="0" indent="0" algn="r">
                        <a:buNone/>
                      </a:pPr>
                      <a:r>
                        <a:t>Yes</a:t>
                      </a:r>
                    </a:p>
                  </a:txBody>
                  <a:tcPr/>
                </a:tc>
                <a:tc>
                  <a:txBody>
                    <a:bodyPr/>
                    <a:lstStyle/>
                    <a:p>
                      <a:pPr marL="0" lvl="0" indent="0" algn="r">
                        <a:buNone/>
                      </a:pPr>
                      <a:r>
                        <a:t>No</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t>Exposed</a:t>
                      </a:r>
                    </a:p>
                  </a:txBody>
                  <a:tcPr/>
                </a:tc>
                <a:tc>
                  <a:txBody>
                    <a:bodyPr/>
                    <a:lstStyle/>
                    <a:p>
                      <a:pPr marL="0" lvl="0" indent="0" algn="r">
                        <a:buNone/>
                      </a:pPr>
                      <a:r>
                        <a:t>a</a:t>
                      </a:r>
                    </a:p>
                  </a:txBody>
                  <a:tcPr/>
                </a:tc>
                <a:tc>
                  <a:txBody>
                    <a:bodyPr/>
                    <a:lstStyle/>
                    <a:p>
                      <a:pPr marL="0" lvl="0" indent="0" algn="r">
                        <a:buNone/>
                      </a:pPr>
                      <a:r>
                        <a:t>b</a:t>
                      </a:r>
                    </a:p>
                  </a:txBody>
                  <a:tcPr/>
                </a:tc>
                <a:tc>
                  <a:txBody>
                    <a:bodyPr/>
                    <a:lstStyle/>
                    <a:p>
                      <a:pPr marL="0" lvl="0" indent="0" algn="r">
                        <a:buNone/>
                      </a:pPr>
                      <a:r>
                        <a:t>a+b</a:t>
                      </a:r>
                    </a:p>
                  </a:txBody>
                  <a:tcPr/>
                </a:tc>
                <a:extLst>
                  <a:ext uri="{0D108BD9-81ED-4DB2-BD59-A6C34878D82A}">
                    <a16:rowId xmlns:a16="http://schemas.microsoft.com/office/drawing/2014/main" val="10001"/>
                  </a:ext>
                </a:extLst>
              </a:tr>
              <a:tr h="0">
                <a:tc>
                  <a:txBody>
                    <a:bodyPr/>
                    <a:lstStyle/>
                    <a:p>
                      <a:pPr marL="0" lvl="0" indent="0">
                        <a:buNone/>
                      </a:pPr>
                      <a:r>
                        <a:t>Non exposed</a:t>
                      </a:r>
                    </a:p>
                  </a:txBody>
                  <a:tcPr/>
                </a:tc>
                <a:tc>
                  <a:txBody>
                    <a:bodyPr/>
                    <a:lstStyle/>
                    <a:p>
                      <a:pPr marL="0" lvl="0" indent="0" algn="r">
                        <a:buNone/>
                      </a:pPr>
                      <a:r>
                        <a:t>c</a:t>
                      </a:r>
                    </a:p>
                  </a:txBody>
                  <a:tcPr/>
                </a:tc>
                <a:tc>
                  <a:txBody>
                    <a:bodyPr/>
                    <a:lstStyle/>
                    <a:p>
                      <a:pPr marL="0" lvl="0" indent="0" algn="r">
                        <a:buNone/>
                      </a:pPr>
                      <a:r>
                        <a:t>d</a:t>
                      </a:r>
                    </a:p>
                  </a:txBody>
                  <a:tcPr/>
                </a:tc>
                <a:tc>
                  <a:txBody>
                    <a:bodyPr/>
                    <a:lstStyle/>
                    <a:p>
                      <a:pPr marL="0" lvl="0" indent="0" algn="r">
                        <a:buNone/>
                      </a:pPr>
                      <a:r>
                        <a:t>c+d</a:t>
                      </a:r>
                    </a:p>
                  </a:txBody>
                  <a:tcPr/>
                </a:tc>
                <a:extLst>
                  <a:ext uri="{0D108BD9-81ED-4DB2-BD59-A6C34878D82A}">
                    <a16:rowId xmlns:a16="http://schemas.microsoft.com/office/drawing/2014/main" val="10002"/>
                  </a:ext>
                </a:extLst>
              </a:tr>
              <a:tr h="0">
                <a:tc>
                  <a:txBody>
                    <a:bodyPr/>
                    <a:lstStyle/>
                    <a:p>
                      <a:pPr marL="0" lvl="0" indent="0">
                        <a:buNone/>
                      </a:pPr>
                      <a:r>
                        <a:rPr b="1"/>
                        <a:t>Total</a:t>
                      </a:r>
                    </a:p>
                  </a:txBody>
                  <a:tcPr/>
                </a:tc>
                <a:tc>
                  <a:txBody>
                    <a:bodyPr/>
                    <a:lstStyle/>
                    <a:p>
                      <a:pPr marL="0" lvl="0" indent="0" algn="r">
                        <a:buNone/>
                      </a:pPr>
                      <a:r>
                        <a:t>a+c</a:t>
                      </a:r>
                    </a:p>
                  </a:txBody>
                  <a:tcPr/>
                </a:tc>
                <a:tc>
                  <a:txBody>
                    <a:bodyPr/>
                    <a:lstStyle/>
                    <a:p>
                      <a:pPr marL="0" lvl="0" indent="0" algn="r">
                        <a:buNone/>
                      </a:pPr>
                      <a:r>
                        <a:t>b+d</a:t>
                      </a:r>
                    </a:p>
                  </a:txBody>
                  <a:tcPr/>
                </a:tc>
                <a:tc>
                  <a:txBody>
                    <a:bodyPr/>
                    <a:lstStyle/>
                    <a:p>
                      <a:pPr marL="0" lvl="0" indent="0" algn="r">
                        <a:buNone/>
                      </a:pPr>
                      <a:r>
                        <a:t>a+b+c+d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Difference between the two designs</a:t>
            </a:r>
          </a:p>
        </p:txBody>
      </p:sp>
      <p:sp>
        <p:nvSpPr>
          <p:cNvPr id="3" name="Content Placeholder 2"/>
          <p:cNvSpPr>
            <a:spLocks noGrp="1"/>
          </p:cNvSpPr>
          <p:nvPr>
            <p:ph idx="1"/>
          </p:nvPr>
        </p:nvSpPr>
        <p:spPr/>
        <p:txBody>
          <a:bodyPr/>
          <a:lstStyle/>
          <a:p>
            <a:pPr lvl="0"/>
            <a:r>
              <a:rPr b="1"/>
              <a:t>Cohort study:</a:t>
            </a:r>
            <a:r>
              <a:t> sampling is exposure-based, has a follow-up period, and the absolute risk of outcome can be directly calculated</a:t>
            </a:r>
          </a:p>
          <a:p>
            <a:pPr lvl="0"/>
            <a:r>
              <a:rPr b="1"/>
              <a:t>Case series:</a:t>
            </a:r>
            <a:r>
              <a:t> only patients with the outcome are selected and do not allow the calculation of absolute risk — these may have an exposure, or this may not be taken into account</a:t>
            </a:r>
          </a:p>
          <a:p>
            <a:pPr marL="0" lvl="0" indent="0">
              <a:buNone/>
            </a:pPr>
            <a:r>
              <a:rPr i="1"/>
              <a:t>Dekkers O, Egger M, Altman DG, Vandenbroucke JP. Distinguishing Case Series From Cohort Studies. Ann Intern Med. 2012;156:37-40.</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Key points</a:t>
            </a:r>
          </a:p>
        </p:txBody>
      </p:sp>
      <p:sp>
        <p:nvSpPr>
          <p:cNvPr id="3" name="Content Placeholder 2"/>
          <p:cNvSpPr>
            <a:spLocks noGrp="1"/>
          </p:cNvSpPr>
          <p:nvPr>
            <p:ph idx="1"/>
          </p:nvPr>
        </p:nvSpPr>
        <p:spPr/>
        <p:txBody>
          <a:bodyPr/>
          <a:lstStyle/>
          <a:p>
            <a:pPr lvl="0"/>
            <a:r>
              <a:t>The number under study loses importance</a:t>
            </a:r>
          </a:p>
          <a:p>
            <a:pPr lvl="1"/>
            <a:r>
              <a:t>A study of 5 patients with prosthetic reconstruction of the radial head is followed for 5 years and all remain with full functionality</a:t>
            </a:r>
          </a:p>
          <a:p>
            <a:pPr lvl="1"/>
            <a:r>
              <a:t>Functionality estimation? Is it accurate? What confidence?</a:t>
            </a:r>
          </a:p>
          <a:p>
            <a:pPr lvl="0"/>
            <a:r>
              <a:t>Selection biases or loss to follow-up may affect risk estimation</a:t>
            </a:r>
          </a:p>
          <a:p>
            <a:pPr lvl="0"/>
            <a:r>
              <a:t>To investigate causality (etiology) or therapy almost always requires a control group (counterfactual thinking)</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Randomized clinical trial</a:t>
            </a:r>
          </a:p>
        </p:txBody>
      </p:sp>
      <p:sp>
        <p:nvSpPr>
          <p:cNvPr id="3" name="Content Placeholder 2"/>
          <p:cNvSpPr>
            <a:spLocks noGrp="1"/>
          </p:cNvSpPr>
          <p:nvPr>
            <p:ph idx="1"/>
          </p:nvPr>
        </p:nvSpPr>
        <p:spPr/>
        <p:txBody>
          <a:bodyPr/>
          <a:lstStyle/>
          <a:p>
            <a:pPr marL="0" lvl="0" indent="0">
              <a:buNone/>
            </a:pPr>
            <a:r>
              <a:t>The clinical trial is a prospective human study that compares the effect of an intervention in a group with a control, in a disease or in a given condition.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Characteristics of clinical trials</a:t>
            </a:r>
          </a:p>
        </p:txBody>
      </p:sp>
      <p:sp>
        <p:nvSpPr>
          <p:cNvPr id="3" name="Content Placeholder 2"/>
          <p:cNvSpPr>
            <a:spLocks noGrp="1"/>
          </p:cNvSpPr>
          <p:nvPr>
            <p:ph idx="1"/>
          </p:nvPr>
        </p:nvSpPr>
        <p:spPr/>
        <p:txBody>
          <a:bodyPr/>
          <a:lstStyle/>
          <a:p>
            <a:pPr lvl="0"/>
            <a:r>
              <a:t>They are experiments in humans</a:t>
            </a:r>
          </a:p>
          <a:p>
            <a:pPr lvl="0"/>
            <a:r>
              <a:t>Studies in which the researcher establishes the population, assigns the intervention, and decides who and how to evaluate the outcomes</a:t>
            </a:r>
          </a:p>
          <a:p>
            <a:pPr lvl="0"/>
            <a:r>
              <a:t>If well conducted, they provide high-quality causal evidence, making them the substrate of systematic reviews of the literature and Evidence-Based Medicine</a:t>
            </a:r>
          </a:p>
          <a:p>
            <a:pPr lvl="0"/>
            <a:r>
              <a:t>They are not the only source of causal evidence, as they are not always feasible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Basic scheme</a:t>
            </a:r>
          </a:p>
        </p:txBody>
      </p:sp>
      <p:pic>
        <p:nvPicPr>
          <p:cNvPr id="3" name="Picture 1" descr="images/s1_02_slide59_rct-basic-scheme.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A bit of history</a:t>
            </a:r>
          </a:p>
        </p:txBody>
      </p:sp>
      <p:sp>
        <p:nvSpPr>
          <p:cNvPr id="4" name="Text Placeholder 3"/>
          <p:cNvSpPr>
            <a:spLocks noGrp="1"/>
          </p:cNvSpPr>
          <p:nvPr>
            <p:ph type="body" sz="half" idx="2"/>
          </p:nvPr>
        </p:nvSpPr>
        <p:spPr/>
        <p:txBody>
          <a:bodyPr/>
          <a:lstStyle/>
          <a:p>
            <a:pPr marL="0" lvl="0" indent="0">
              <a:buNone/>
            </a:pPr>
            <a:r>
              <a:t>In 1948, Sir Austin Bradford Hill published the first RCT with strict concealed randomization of patients to treatment or control, and blinding of researchers to avoid bias.</a:t>
            </a:r>
          </a:p>
        </p:txBody>
      </p:sp>
      <p:pic>
        <p:nvPicPr>
          <p:cNvPr id="3" name="Picture 1" descr="images/s1_02_image38.png"/>
          <p:cNvPicPr>
            <a:picLocks noGrp="1" noChangeAspect="1"/>
          </p:cNvPicPr>
          <p:nvPr/>
        </p:nvPicPr>
        <p:blipFill>
          <a:blip r:embed="rId2"/>
          <a:stretch>
            <a:fillRect/>
          </a:stretch>
        </p:blipFill>
        <p:spPr bwMode="auto">
          <a:xfrm>
            <a:off x="3568700" y="1346200"/>
            <a:ext cx="5105400" cy="2095500"/>
          </a:xfrm>
          <a:prstGeom prst="rect">
            <a:avLst/>
          </a:prstGeom>
          <a:noFill/>
          <a:ln w="9525">
            <a:noFill/>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bit of history — reference</a:t>
            </a:r>
          </a:p>
        </p:txBody>
      </p:sp>
      <p:sp>
        <p:nvSpPr>
          <p:cNvPr id="3" name="Content Placeholder 2"/>
          <p:cNvSpPr>
            <a:spLocks noGrp="1"/>
          </p:cNvSpPr>
          <p:nvPr>
            <p:ph idx="1"/>
          </p:nvPr>
        </p:nvSpPr>
        <p:spPr/>
        <p:txBody>
          <a:bodyPr/>
          <a:lstStyle/>
          <a:p>
            <a:pPr marL="0" lvl="0" indent="0">
              <a:buNone/>
            </a:pPr>
            <a:r>
              <a:rPr i="1"/>
              <a:t>Medical Research Council (1948b). Streptomycin treatment of pulmonary tuberculosis: a Medical Research Council investigation. BMJ 2:769-782.</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streptomycin trial — results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endParaRPr/>
                    </a:p>
                  </a:txBody>
                  <a:tcPr/>
                </a:tc>
                <a:tc>
                  <a:txBody>
                    <a:bodyPr/>
                    <a:lstStyle/>
                    <a:p>
                      <a:pPr marL="0" lvl="0" indent="0" algn="r">
                        <a:buNone/>
                      </a:pPr>
                      <a:r>
                        <a:t>Alive</a:t>
                      </a:r>
                    </a:p>
                  </a:txBody>
                  <a:tcPr/>
                </a:tc>
                <a:tc>
                  <a:txBody>
                    <a:bodyPr/>
                    <a:lstStyle/>
                    <a:p>
                      <a:pPr marL="0" lvl="0" indent="0" algn="r">
                        <a:buNone/>
                      </a:pPr>
                      <a:r>
                        <a:t>Dead</a:t>
                      </a:r>
                    </a:p>
                  </a:txBody>
                  <a:tcPr/>
                </a:tc>
                <a:tc>
                  <a:txBody>
                    <a:bodyPr/>
                    <a:lstStyle/>
                    <a:p>
                      <a:pPr marL="0" lvl="0" indent="0" algn="r">
                        <a:buNone/>
                      </a:pPr>
                      <a:r>
                        <a:t>Total</a:t>
                      </a:r>
                    </a:p>
                  </a:txBody>
                  <a:tcPr/>
                </a:tc>
                <a:extLst>
                  <a:ext uri="{0D108BD9-81ED-4DB2-BD59-A6C34878D82A}">
                    <a16:rowId xmlns:a16="http://schemas.microsoft.com/office/drawing/2014/main" val="10000"/>
                  </a:ext>
                </a:extLst>
              </a:tr>
              <a:tr h="0">
                <a:tc>
                  <a:txBody>
                    <a:bodyPr/>
                    <a:lstStyle/>
                    <a:p>
                      <a:pPr marL="0" lvl="0" indent="0">
                        <a:buNone/>
                      </a:pPr>
                      <a:r>
                        <a:t>Streptomycin</a:t>
                      </a:r>
                    </a:p>
                  </a:txBody>
                  <a:tcPr/>
                </a:tc>
                <a:tc>
                  <a:txBody>
                    <a:bodyPr/>
                    <a:lstStyle/>
                    <a:p>
                      <a:pPr marL="0" lvl="0" indent="0" algn="r">
                        <a:buNone/>
                      </a:pPr>
                      <a:r>
                        <a:t>51</a:t>
                      </a:r>
                    </a:p>
                  </a:txBody>
                  <a:tcPr/>
                </a:tc>
                <a:tc>
                  <a:txBody>
                    <a:bodyPr/>
                    <a:lstStyle/>
                    <a:p>
                      <a:pPr marL="0" lvl="0" indent="0" algn="r">
                        <a:buNone/>
                      </a:pPr>
                      <a:r>
                        <a:t>4</a:t>
                      </a:r>
                    </a:p>
                  </a:txBody>
                  <a:tcPr/>
                </a:tc>
                <a:tc>
                  <a:txBody>
                    <a:bodyPr/>
                    <a:lstStyle/>
                    <a:p>
                      <a:pPr marL="0" lvl="0" indent="0" algn="r">
                        <a:buNone/>
                      </a:pPr>
                      <a:r>
                        <a:t>55</a:t>
                      </a:r>
                    </a:p>
                  </a:txBody>
                  <a:tcPr/>
                </a:tc>
                <a:extLst>
                  <a:ext uri="{0D108BD9-81ED-4DB2-BD59-A6C34878D82A}">
                    <a16:rowId xmlns:a16="http://schemas.microsoft.com/office/drawing/2014/main" val="10001"/>
                  </a:ext>
                </a:extLst>
              </a:tr>
              <a:tr h="0">
                <a:tc>
                  <a:txBody>
                    <a:bodyPr/>
                    <a:lstStyle/>
                    <a:p>
                      <a:pPr marL="0" lvl="0" indent="0">
                        <a:buNone/>
                      </a:pPr>
                      <a:r>
                        <a:t>Placebo</a:t>
                      </a:r>
                    </a:p>
                  </a:txBody>
                  <a:tcPr/>
                </a:tc>
                <a:tc>
                  <a:txBody>
                    <a:bodyPr/>
                    <a:lstStyle/>
                    <a:p>
                      <a:pPr marL="0" lvl="0" indent="0" algn="r">
                        <a:buNone/>
                      </a:pPr>
                      <a:r>
                        <a:t>38</a:t>
                      </a:r>
                    </a:p>
                  </a:txBody>
                  <a:tcPr/>
                </a:tc>
                <a:tc>
                  <a:txBody>
                    <a:bodyPr/>
                    <a:lstStyle/>
                    <a:p>
                      <a:pPr marL="0" lvl="0" indent="0" algn="r">
                        <a:buNone/>
                      </a:pPr>
                      <a:r>
                        <a:t>14</a:t>
                      </a:r>
                    </a:p>
                  </a:txBody>
                  <a:tcPr/>
                </a:tc>
                <a:tc>
                  <a:txBody>
                    <a:bodyPr/>
                    <a:lstStyle/>
                    <a:p>
                      <a:pPr marL="0" lvl="0" indent="0" algn="r">
                        <a:buNone/>
                      </a:pPr>
                      <a:r>
                        <a:t>52</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streptomycin trial — mortality</a:t>
            </a:r>
          </a:p>
        </p:txBody>
      </p:sp>
      <p:sp>
        <p:nvSpPr>
          <p:cNvPr id="3" name="Content Placeholder 2"/>
          <p:cNvSpPr>
            <a:spLocks noGrp="1"/>
          </p:cNvSpPr>
          <p:nvPr>
            <p:ph idx="1"/>
          </p:nvPr>
        </p:nvSpPr>
        <p:spPr/>
        <p:txBody>
          <a:bodyPr/>
          <a:lstStyle/>
          <a:p>
            <a:pPr marL="0" lvl="0" indent="0">
              <a:buNone/>
            </a:pPr>
            <a:r>
              <a:t>Mortality: 7% with streptomycin vs 27% with placebo.</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streptomycin trial — radiological assessment</a:t>
            </a:r>
          </a:p>
        </p:txBody>
      </p:sp>
      <p:pic>
        <p:nvPicPr>
          <p:cNvPr id="3" name="Picture 1" descr="images/s1_02_image40.png"/>
          <p:cNvPicPr>
            <a:picLocks noGrp="1" noChangeAspect="1"/>
          </p:cNvPicPr>
          <p:nvPr/>
        </p:nvPicPr>
        <p:blipFill>
          <a:blip r:embed="rId2"/>
          <a:stretch>
            <a:fillRect/>
          </a:stretch>
        </p:blipFill>
        <p:spPr bwMode="auto">
          <a:xfrm>
            <a:off x="457200" y="1244600"/>
            <a:ext cx="8229600" cy="3302000"/>
          </a:xfrm>
          <a:prstGeom prst="rect">
            <a:avLst/>
          </a:prstGeom>
          <a:noFill/>
          <a:ln w="9525">
            <a:noFill/>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Systematic reviews</a:t>
            </a:r>
          </a:p>
        </p:txBody>
      </p:sp>
      <p:pic>
        <p:nvPicPr>
          <p:cNvPr id="3" name="Picture 1" descr="images/s1_02_image41.png"/>
          <p:cNvPicPr>
            <a:picLocks noGrp="1" noChangeAspect="1"/>
          </p:cNvPicPr>
          <p:nvPr/>
        </p:nvPicPr>
        <p:blipFill>
          <a:blip r:embed="rId2"/>
          <a:stretch>
            <a:fillRect/>
          </a:stretch>
        </p:blipFill>
        <p:spPr bwMode="auto">
          <a:xfrm>
            <a:off x="2374900" y="1193800"/>
            <a:ext cx="43942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Balmoral Castle in Scotland</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Systematic reviews — built brick by brick</a:t>
            </a:r>
          </a:p>
        </p:txBody>
      </p:sp>
      <p:pic>
        <p:nvPicPr>
          <p:cNvPr id="3" name="Picture 1" descr="images/s1_02_image42.png"/>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A systematic review is built from many individual studies, the same way a castle is built from many bricks.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do we need systematic reviews</a:t>
            </a:r>
          </a:p>
        </p:txBody>
      </p:sp>
      <p:sp>
        <p:nvSpPr>
          <p:cNvPr id="3" name="Content Placeholder 2"/>
          <p:cNvSpPr>
            <a:spLocks noGrp="1"/>
          </p:cNvSpPr>
          <p:nvPr>
            <p:ph idx="1"/>
          </p:nvPr>
        </p:nvSpPr>
        <p:spPr/>
        <p:txBody>
          <a:bodyPr/>
          <a:lstStyle/>
          <a:p>
            <a:pPr lvl="0"/>
            <a:r>
              <a:t>Efficient way to access the body of research</a:t>
            </a:r>
          </a:p>
          <a:p>
            <a:pPr lvl="1"/>
            <a:r>
              <a:t>Saves time required for search, critical appraisal, and interpretation of results</a:t>
            </a:r>
          </a:p>
          <a:p>
            <a:pPr lvl="0"/>
            <a:r>
              <a:t>They explore differences across studies and assess their validity (risk of bias)</a:t>
            </a:r>
          </a:p>
          <a:p>
            <a:pPr lvl="0"/>
            <a:r>
              <a:t>Reliable source for decision making, if well conducted</a:t>
            </a:r>
          </a:p>
          <a:p>
            <a:pPr lvl="1"/>
            <a:r>
              <a:t>Unbiased selection of relevant information</a:t>
            </a:r>
          </a:p>
          <a:p>
            <a:pPr lvl="1"/>
            <a:r>
              <a:t>Useful for decision-making in health care, policy development, and future research</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exponential growth of the literature</a:t>
            </a:r>
          </a:p>
        </p:txBody>
      </p:sp>
      <p:pic>
        <p:nvPicPr>
          <p:cNvPr id="3" name="Picture 1" descr="images/s1_02_image43.png"/>
          <p:cNvPicPr>
            <a:picLocks noGrp="1" noChangeAspect="1"/>
          </p:cNvPicPr>
          <p:nvPr/>
        </p:nvPicPr>
        <p:blipFill>
          <a:blip r:embed="rId2"/>
          <a:stretch>
            <a:fillRect/>
          </a:stretch>
        </p:blipFill>
        <p:spPr bwMode="auto">
          <a:xfrm>
            <a:off x="1714500" y="1193800"/>
            <a:ext cx="5702300" cy="3390900"/>
          </a:xfrm>
          <a:prstGeom prst="rect">
            <a:avLst/>
          </a:prstGeom>
          <a:noFill/>
          <a:ln w="9525">
            <a:noFill/>
            <a:headEnd/>
            <a:tailEnd/>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Systematic reviews — the process</a:t>
            </a:r>
          </a:p>
        </p:txBody>
      </p:sp>
      <p:sp>
        <p:nvSpPr>
          <p:cNvPr id="3" name="Content Placeholder 2"/>
          <p:cNvSpPr>
            <a:spLocks noGrp="1"/>
          </p:cNvSpPr>
          <p:nvPr>
            <p:ph idx="1"/>
          </p:nvPr>
        </p:nvSpPr>
        <p:spPr/>
        <p:txBody>
          <a:bodyPr/>
          <a:lstStyle/>
          <a:p>
            <a:pPr lvl="0"/>
            <a:r>
              <a:t>Defining the review question(s) and developing criteria for including studies</a:t>
            </a:r>
          </a:p>
          <a:p>
            <a:pPr lvl="0"/>
            <a:r>
              <a:t>Searching for studies</a:t>
            </a:r>
          </a:p>
          <a:p>
            <a:pPr lvl="0"/>
            <a:r>
              <a:t>Selecting studies and collecting data</a:t>
            </a:r>
          </a:p>
          <a:p>
            <a:pPr lvl="0"/>
            <a:r>
              <a:t>Assessing risk of bias in included studies</a:t>
            </a:r>
          </a:p>
          <a:p>
            <a:pPr lvl="0"/>
            <a:r>
              <a:t>Analyzing data and undertaking meta-analyses</a:t>
            </a:r>
          </a:p>
          <a:p>
            <a:pPr lvl="0"/>
            <a:r>
              <a:t>Addressing reporting biases</a:t>
            </a:r>
          </a:p>
          <a:p>
            <a:pPr lvl="0"/>
            <a:r>
              <a:t>Presenting results and “summary of findings” tables</a:t>
            </a:r>
          </a:p>
          <a:p>
            <a:pPr lvl="0"/>
            <a:r>
              <a:t>Interpreting results and drawing conclusions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Forest plots — reading the summary of evidence</a:t>
            </a:r>
          </a:p>
        </p:txBody>
      </p:sp>
      <p:pic>
        <p:nvPicPr>
          <p:cNvPr id="3" name="Picture 1" descr="images/s1_02_image44.png"/>
          <p:cNvPicPr>
            <a:picLocks noGrp="1" noChangeAspect="1"/>
          </p:cNvPicPr>
          <p:nvPr/>
        </p:nvPicPr>
        <p:blipFill>
          <a:blip r:embed="rId2"/>
          <a:stretch>
            <a:fillRect/>
          </a:stretch>
        </p:blipFill>
        <p:spPr bwMode="auto">
          <a:xfrm>
            <a:off x="1397000" y="1193800"/>
            <a:ext cx="6350000" cy="3390900"/>
          </a:xfrm>
          <a:prstGeom prst="rect">
            <a:avLst/>
          </a:prstGeom>
          <a:noFill/>
          <a:ln w="9525">
            <a:noFill/>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Forest plot — worked example</a:t>
            </a:r>
          </a:p>
        </p:txBody>
      </p:sp>
      <p:pic>
        <p:nvPicPr>
          <p:cNvPr id="3" name="Picture 1" descr="images/s1_02_image45.png"/>
          <p:cNvPicPr>
            <a:picLocks noGrp="1" noChangeAspect="1"/>
          </p:cNvPicPr>
          <p:nvPr/>
        </p:nvPicPr>
        <p:blipFill>
          <a:blip r:embed="rId2"/>
          <a:stretch>
            <a:fillRect/>
          </a:stretch>
        </p:blipFill>
        <p:spPr bwMode="auto">
          <a:xfrm>
            <a:off x="812800" y="1193800"/>
            <a:ext cx="7505700" cy="3390900"/>
          </a:xfrm>
          <a:prstGeom prst="rect">
            <a:avLst/>
          </a:prstGeom>
          <a:noFill/>
          <a:ln w="9525">
            <a:noFill/>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Forrest plot</a:t>
            </a:r>
          </a:p>
        </p:txBody>
      </p:sp>
      <p:pic>
        <p:nvPicPr>
          <p:cNvPr id="3" name="Picture 1" descr="images/s1_02_image46.png"/>
          <p:cNvPicPr>
            <a:picLocks noGrp="1" noChangeAspect="1"/>
          </p:cNvPicPr>
          <p:nvPr/>
        </p:nvPicPr>
        <p:blipFill>
          <a:blip r:embed="rId2"/>
          <a:stretch>
            <a:fillRect/>
          </a:stretch>
        </p:blipFill>
        <p:spPr bwMode="auto">
          <a:xfrm>
            <a:off x="3263900" y="1193800"/>
            <a:ext cx="2628900" cy="3390900"/>
          </a:xfrm>
          <a:prstGeom prst="rect">
            <a:avLst/>
          </a:prstGeom>
          <a:noFill/>
          <a:ln w="9525">
            <a:noFill/>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Forrest plot — the connection</a:t>
            </a:r>
          </a:p>
        </p:txBody>
      </p:sp>
      <p:sp>
        <p:nvSpPr>
          <p:cNvPr id="3" name="Content Placeholder 2"/>
          <p:cNvSpPr>
            <a:spLocks noGrp="1"/>
          </p:cNvSpPr>
          <p:nvPr>
            <p:ph idx="1"/>
          </p:nvPr>
        </p:nvSpPr>
        <p:spPr/>
        <p:txBody>
          <a:bodyPr/>
          <a:lstStyle/>
          <a:p>
            <a:pPr marL="0" lvl="0" indent="0">
              <a:buNone/>
            </a:pPr>
            <a:r>
              <a:t>The Cochrane Collaboration logo is itself a forest plot — summarizing the evidence for corticosteroids given to women expected to deliver prematurely, showing a reduction in the odds of death among premature babies.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General Aims of Data Analysis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Steps in the research process</a:t>
            </a:r>
          </a:p>
        </p:txBody>
      </p:sp>
      <p:pic>
        <p:nvPicPr>
          <p:cNvPr id="3" name="Picture 1" descr="images/s1_03_image4.png"/>
          <p:cNvPicPr>
            <a:picLocks noGrp="1" noChangeAspect="1"/>
          </p:cNvPicPr>
          <p:nvPr/>
        </p:nvPicPr>
        <p:blipFill>
          <a:blip r:embed="rId2"/>
          <a:stretch>
            <a:fillRect/>
          </a:stretch>
        </p:blipFill>
        <p:spPr bwMode="auto">
          <a:xfrm>
            <a:off x="3200400" y="1193800"/>
            <a:ext cx="27432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Figure 1.1 Steps in the Research Process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scientific tasks of data science</a:t>
            </a:r>
          </a:p>
        </p:txBody>
      </p:sp>
      <p:pic>
        <p:nvPicPr>
          <p:cNvPr id="3" name="Picture 1" descr="images/s1_03_image5.png"/>
          <p:cNvPicPr>
            <a:picLocks noGrp="1" noChangeAspect="1"/>
          </p:cNvPicPr>
          <p:nvPr/>
        </p:nvPicPr>
        <p:blipFill>
          <a:blip r:embed="rId2"/>
          <a:stretch>
            <a:fillRect/>
          </a:stretch>
        </p:blipFill>
        <p:spPr bwMode="auto">
          <a:xfrm>
            <a:off x="457200" y="1231900"/>
            <a:ext cx="8229600" cy="28194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Hernán et al. A Second Chance to Get Causal Inference Right. CHANCE 2019;32(1):42-49. Credits to @PWGTennant</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Description</a:t>
            </a:r>
          </a:p>
        </p:txBody>
      </p:sp>
      <p:pic>
        <p:nvPicPr>
          <p:cNvPr id="3" name="Picture 1" descr="images/s1_03_image6.png"/>
          <p:cNvPicPr>
            <a:picLocks noGrp="1" noChangeAspect="1"/>
          </p:cNvPicPr>
          <p:nvPr/>
        </p:nvPicPr>
        <p:blipFill>
          <a:blip r:embed="rId2"/>
          <a:stretch>
            <a:fillRect/>
          </a:stretch>
        </p:blipFill>
        <p:spPr bwMode="auto">
          <a:xfrm>
            <a:off x="2311400" y="1193800"/>
            <a:ext cx="45212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Credits to @PWGTennant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Prediction</a:t>
            </a:r>
          </a:p>
        </p:txBody>
      </p:sp>
      <p:pic>
        <p:nvPicPr>
          <p:cNvPr id="3" name="Picture 1" descr="images/s1_03_image7.png"/>
          <p:cNvPicPr>
            <a:picLocks noGrp="1" noChangeAspect="1"/>
          </p:cNvPicPr>
          <p:nvPr/>
        </p:nvPicPr>
        <p:blipFill>
          <a:blip r:embed="rId2"/>
          <a:stretch>
            <a:fillRect/>
          </a:stretch>
        </p:blipFill>
        <p:spPr bwMode="auto">
          <a:xfrm>
            <a:off x="1968500" y="1193800"/>
            <a:ext cx="51943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Credits to @PWGTennant</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Causal inference</a:t>
            </a:r>
          </a:p>
        </p:txBody>
      </p:sp>
      <p:pic>
        <p:nvPicPr>
          <p:cNvPr id="3" name="Picture 1" descr="images/s1_03_image8.png"/>
          <p:cNvPicPr>
            <a:picLocks noGrp="1" noChangeAspect="1"/>
          </p:cNvPicPr>
          <p:nvPr/>
        </p:nvPicPr>
        <p:blipFill>
          <a:blip r:embed="rId2"/>
          <a:stretch>
            <a:fillRect/>
          </a:stretch>
        </p:blipFill>
        <p:spPr bwMode="auto">
          <a:xfrm>
            <a:off x="1905000" y="1193800"/>
            <a:ext cx="53340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Credits to @PWGTennant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research objectives</a:t>
            </a:r>
          </a:p>
        </p:txBody>
      </p:sp>
      <p:sp>
        <p:nvSpPr>
          <p:cNvPr id="3" name="Content Placeholder 2"/>
          <p:cNvSpPr>
            <a:spLocks noGrp="1"/>
          </p:cNvSpPr>
          <p:nvPr>
            <p:ph idx="1"/>
          </p:nvPr>
        </p:nvSpPr>
        <p:spPr/>
        <p:txBody>
          <a:bodyPr/>
          <a:lstStyle/>
          <a:p>
            <a:pPr lvl="0"/>
            <a:r>
              <a:t>Be focused on basic elements of the problem and research question</a:t>
            </a:r>
          </a:p>
          <a:p>
            <a:pPr lvl="0"/>
            <a:r>
              <a:t>Be measurable, achievable, observable</a:t>
            </a:r>
          </a:p>
          <a:p>
            <a:pPr lvl="0"/>
            <a:r>
              <a:t>Be clear and precise</a:t>
            </a:r>
          </a:p>
          <a:p>
            <a:pPr lvl="0"/>
            <a:r>
              <a:t>Follow a logical order (if they are more than one)</a:t>
            </a:r>
          </a:p>
          <a:p>
            <a:pPr lvl="0"/>
            <a:r>
              <a:t>Use infinitive verbs (English)</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Objectives as a route map</a:t>
            </a:r>
          </a:p>
        </p:txBody>
      </p:sp>
      <p:pic>
        <p:nvPicPr>
          <p:cNvPr id="3" name="Picture 1" descr="images/s1_03_image9.png"/>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Appropriate objectives are the route map of statistical analysis.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On invention and method</a:t>
            </a:r>
          </a:p>
        </p:txBody>
      </p:sp>
      <p:sp>
        <p:nvSpPr>
          <p:cNvPr id="3" name="Content Placeholder 2"/>
          <p:cNvSpPr>
            <a:spLocks noGrp="1"/>
          </p:cNvSpPr>
          <p:nvPr>
            <p:ph idx="1"/>
          </p:nvPr>
        </p:nvSpPr>
        <p:spPr/>
        <p:txBody>
          <a:bodyPr/>
          <a:lstStyle/>
          <a:p>
            <a:pPr marL="1270000" lvl="0" indent="0">
              <a:buNone/>
            </a:pPr>
            <a:r>
              <a:rPr sz="2000"/>
              <a:t>“The greatest invention of the nineteenth century was the invention of the method of invention.”</a:t>
            </a:r>
          </a:p>
          <a:p>
            <a:pPr marL="1270000" lvl="0" indent="0">
              <a:buNone/>
            </a:pPr>
            <a:r>
              <a:rPr sz="2000"/>
              <a:t>— A. N. Whitehead</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 Explain or to Predict? — Shmueli 2010</a:t>
            </a:r>
          </a:p>
        </p:txBody>
      </p:sp>
      <p:pic>
        <p:nvPicPr>
          <p:cNvPr id="3" name="Picture 1" descr="images/s1_03_image24.png"/>
          <p:cNvPicPr>
            <a:picLocks noGrp="1" noChangeAspect="1"/>
          </p:cNvPicPr>
          <p:nvPr/>
        </p:nvPicPr>
        <p:blipFill>
          <a:blip r:embed="rId2"/>
          <a:stretch>
            <a:fillRect/>
          </a:stretch>
        </p:blipFill>
        <p:spPr bwMode="auto">
          <a:xfrm>
            <a:off x="457200" y="1600200"/>
            <a:ext cx="8229600" cy="20828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Galit Shmueli. “To Explain or to Predict?” Statistical Science, 2010, Vol. 25, No. 3, 289-310. DOI: 10.1214/10-STS330</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modeling frameworks matter</a:t>
            </a:r>
          </a:p>
        </p:txBody>
      </p:sp>
      <p:sp>
        <p:nvSpPr>
          <p:cNvPr id="3" name="Content Placeholder 2"/>
          <p:cNvSpPr>
            <a:spLocks noGrp="1"/>
          </p:cNvSpPr>
          <p:nvPr>
            <p:ph idx="1"/>
          </p:nvPr>
        </p:nvSpPr>
        <p:spPr/>
        <p:txBody>
          <a:bodyPr/>
          <a:lstStyle/>
          <a:p>
            <a:pPr lvl="0"/>
            <a:r>
              <a:t>Statistical modeling is a powerful tool for developing and testing theories by way of causal explanation, prediction, and description</a:t>
            </a:r>
          </a:p>
          <a:p>
            <a:pPr lvl="0"/>
            <a:r>
              <a:t>In many disciplines there is near-exclusive use of statistical modeling for causal explanation and the assumption that models with high explanatory power are inherently of high predictive power</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 Explain or to Predict?</a:t>
            </a:r>
          </a:p>
        </p:txBody>
      </p:sp>
      <p:sp>
        <p:nvSpPr>
          <p:cNvPr id="3" name="Content Placeholder 2"/>
          <p:cNvSpPr>
            <a:spLocks noGrp="1"/>
          </p:cNvSpPr>
          <p:nvPr>
            <p:ph idx="1"/>
          </p:nvPr>
        </p:nvSpPr>
        <p:spPr/>
        <p:txBody>
          <a:bodyPr/>
          <a:lstStyle/>
          <a:p>
            <a:pPr lvl="0"/>
            <a:r>
              <a:rPr b="1"/>
              <a:t>Prediction</a:t>
            </a:r>
          </a:p>
          <a:p>
            <a:pPr lvl="1"/>
            <a:r>
              <a:t>What will happen next?</a:t>
            </a:r>
          </a:p>
          <a:p>
            <a:pPr lvl="0"/>
            <a:r>
              <a:rPr b="1"/>
              <a:t>Explanation</a:t>
            </a:r>
          </a:p>
          <a:p>
            <a:pPr lvl="1"/>
            <a:r>
              <a:t>Why did it happen?</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Explanatory modeling</a:t>
            </a:r>
          </a:p>
        </p:txBody>
      </p:sp>
      <p:sp>
        <p:nvSpPr>
          <p:cNvPr id="3" name="Content Placeholder 2"/>
          <p:cNvSpPr>
            <a:spLocks noGrp="1"/>
          </p:cNvSpPr>
          <p:nvPr>
            <p:ph idx="1"/>
          </p:nvPr>
        </p:nvSpPr>
        <p:spPr/>
        <p:txBody>
          <a:bodyPr/>
          <a:lstStyle/>
          <a:p>
            <a:pPr lvl="0"/>
            <a:r>
              <a:t>A set of underlying (causal) factors measured by variables X are hypothesised to cause an underlying effect measured by variable Y</a:t>
            </a:r>
          </a:p>
          <a:p>
            <a:pPr lvl="0"/>
            <a:r>
              <a:t>Focus: statistically testing the causal hypotheses</a:t>
            </a:r>
          </a:p>
          <a:p>
            <a:pPr lvl="0"/>
            <a:r>
              <a:t>Data come from well designed experiments or observational studies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Predictive modeling</a:t>
            </a:r>
          </a:p>
        </p:txBody>
      </p:sp>
      <p:sp>
        <p:nvSpPr>
          <p:cNvPr id="3" name="Content Placeholder 2"/>
          <p:cNvSpPr>
            <a:spLocks noGrp="1"/>
          </p:cNvSpPr>
          <p:nvPr>
            <p:ph idx="1"/>
          </p:nvPr>
        </p:nvSpPr>
        <p:spPr/>
        <p:txBody>
          <a:bodyPr/>
          <a:lstStyle/>
          <a:p>
            <a:pPr lvl="0"/>
            <a:r>
              <a:t>Goal: predict Y from new observations of given input variables X</a:t>
            </a:r>
          </a:p>
          <a:p>
            <a:pPr lvl="0"/>
            <a:r>
              <a:t>This includes temporal forecasting: observations until time </a:t>
            </a:r>
            <a:r>
              <a:rPr i="1"/>
              <a:t>t</a:t>
            </a:r>
            <a:r>
              <a:t> (the input) are used to forecast future values at time </a:t>
            </a:r>
            <a:r>
              <a:rPr i="1"/>
              <a:t>t+k</a:t>
            </a:r>
            <a:r>
              <a:t>, </a:t>
            </a:r>
            <a:r>
              <a:rPr i="1"/>
              <a:t>k</a:t>
            </a:r>
            <a:r>
              <a:t>&gt;0 (the output)</a:t>
            </a:r>
          </a:p>
          <a:p>
            <a:pPr lvl="0"/>
            <a:r>
              <a:t>A predictive model is any model that produces predictions, regardless of its underlying modelling approach: Bayesian or Frequentist, Parametric or Non-Parametric, Data Mining Algorithm or Statistical Model, etc.</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Two modeling paths</a:t>
            </a:r>
          </a:p>
        </p:txBody>
      </p:sp>
      <p:sp>
        <p:nvSpPr>
          <p:cNvPr id="3" name="Content Placeholder 2"/>
          <p:cNvSpPr>
            <a:spLocks noGrp="1"/>
          </p:cNvSpPr>
          <p:nvPr>
            <p:ph idx="1"/>
          </p:nvPr>
        </p:nvSpPr>
        <p:spPr/>
        <p:txBody>
          <a:bodyPr/>
          <a:lstStyle/>
          <a:p>
            <a:pPr lvl="0"/>
            <a:r>
              <a:t>In each step, there are differences in the choice of methods, criteria, data, and information to consider when the goal is predictive vs explanatory</a:t>
            </a:r>
          </a:p>
          <a:p>
            <a:pPr lvl="0"/>
            <a:r>
              <a:t>Conceptual / practical differences invariably lead to a difference between a final explanatory model and a predictive model</a:t>
            </a:r>
          </a:p>
          <a:p>
            <a:pPr lvl="0"/>
            <a:r>
              <a:t>A priori determination of the </a:t>
            </a:r>
            <a:r>
              <a:rPr b="1"/>
              <a:t>main study goal is essential</a:t>
            </a:r>
            <a:r>
              <a:t> to conduct adequate modelling</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Modeling</a:t>
            </a:r>
          </a:p>
        </p:txBody>
      </p:sp>
      <p:sp>
        <p:nvSpPr>
          <p:cNvPr id="3" name="Content Placeholder 2"/>
          <p:cNvSpPr>
            <a:spLocks noGrp="1"/>
          </p:cNvSpPr>
          <p:nvPr>
            <p:ph idx="1"/>
          </p:nvPr>
        </p:nvSpPr>
        <p:spPr/>
        <p:txBody>
          <a:bodyPr/>
          <a:lstStyle/>
          <a:p>
            <a:pPr lvl="0"/>
            <a:r>
              <a:t>Aimed at summarizing or representing the data structure in a compact manner</a:t>
            </a:r>
          </a:p>
          <a:p>
            <a:pPr lvl="0"/>
            <a:r>
              <a:t>Unlike explanatory modeling, in descriptive modeling the reliance on an underlying causal theory is absent or incorporated in a less formal way</a:t>
            </a:r>
          </a:p>
          <a:p>
            <a:pPr lvl="0"/>
            <a:r>
              <a:t>Unlike predictive modeling, descriptive modeling is not aimed at prediction</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Modeling (cont.)</a:t>
            </a:r>
          </a:p>
        </p:txBody>
      </p:sp>
      <p:sp>
        <p:nvSpPr>
          <p:cNvPr id="3" name="Content Placeholder 2"/>
          <p:cNvSpPr>
            <a:spLocks noGrp="1"/>
          </p:cNvSpPr>
          <p:nvPr>
            <p:ph idx="1"/>
          </p:nvPr>
        </p:nvSpPr>
        <p:spPr/>
        <p:txBody>
          <a:bodyPr/>
          <a:lstStyle/>
          <a:p>
            <a:pPr lvl="0"/>
            <a:r>
              <a:t>Fitting a regression model can be descriptive if it is used for capturing the </a:t>
            </a:r>
            <a:r>
              <a:rPr b="1"/>
              <a:t>association between the dependent and independent variables</a:t>
            </a:r>
            <a:r>
              <a:t> rather than for causal inference or for prediction</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Association versus Causation</a:t>
            </a:r>
          </a:p>
        </p:txBody>
      </p:sp>
      <p:pic>
        <p:nvPicPr>
          <p:cNvPr id="3" name="Picture 1" descr="images/s1_03_image25.png"/>
          <p:cNvPicPr>
            <a:picLocks noGrp="1" noChangeAspect="1"/>
          </p:cNvPicPr>
          <p:nvPr/>
        </p:nvPicPr>
        <p:blipFill>
          <a:blip r:embed="rId2"/>
          <a:stretch>
            <a:fillRect/>
          </a:stretch>
        </p:blipFill>
        <p:spPr bwMode="auto">
          <a:xfrm>
            <a:off x="2273300" y="1193800"/>
            <a:ext cx="4610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Hernán MA, Robins JM (2020). Causal Inference: What If. Boca Raton: Chapman &amp; Hall/CRC.</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Association versus Causation — types</a:t>
            </a:r>
          </a:p>
        </p:txBody>
      </p:sp>
      <p:sp>
        <p:nvSpPr>
          <p:cNvPr id="3" name="Content Placeholder 2"/>
          <p:cNvSpPr>
            <a:spLocks noGrp="1"/>
          </p:cNvSpPr>
          <p:nvPr>
            <p:ph idx="1"/>
          </p:nvPr>
        </p:nvSpPr>
        <p:spPr/>
        <p:txBody>
          <a:bodyPr/>
          <a:lstStyle/>
          <a:p>
            <a:pPr marL="0" lvl="0" indent="0">
              <a:buNone/>
            </a:pPr>
            <a:r>
              <a:rPr b="1"/>
              <a:t>Association</a:t>
            </a:r>
            <a:r>
              <a:t> — definition: the concurrence of two variables more often than would be expected by chance.</a:t>
            </a:r>
          </a:p>
          <a:p>
            <a:pPr marL="0" lvl="0" indent="0">
              <a:buNone/>
            </a:pPr>
            <a:r>
              <a:t>Types of association:</a:t>
            </a:r>
          </a:p>
          <a:p>
            <a:pPr lvl="0"/>
            <a:r>
              <a:t>Spurious association</a:t>
            </a:r>
          </a:p>
          <a:p>
            <a:pPr lvl="0"/>
            <a:r>
              <a:t>Indirect association</a:t>
            </a:r>
          </a:p>
          <a:p>
            <a:pPr lvl="0"/>
            <a:r>
              <a:t>Direct (causal) association</a:t>
            </a:r>
          </a:p>
          <a:p>
            <a:pPr lvl="1"/>
            <a:r>
              <a:t>One to one causal association</a:t>
            </a:r>
          </a:p>
          <a:p>
            <a:pPr lvl="1"/>
            <a:r>
              <a:t>Multi-factorial association</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Association — a clinical example</a:t>
            </a:r>
          </a:p>
        </p:txBody>
      </p:sp>
      <p:sp>
        <p:nvSpPr>
          <p:cNvPr id="3" name="Content Placeholder 2"/>
          <p:cNvSpPr>
            <a:spLocks noGrp="1"/>
          </p:cNvSpPr>
          <p:nvPr>
            <p:ph idx="1"/>
          </p:nvPr>
        </p:nvSpPr>
        <p:spPr/>
        <p:txBody>
          <a:bodyPr/>
          <a:lstStyle/>
          <a:p>
            <a:pPr lvl="0"/>
            <a:r>
              <a:t>A researcher in an observational study found that the average serum homocysteine among male patients with ischemic heart disease was 15 mcg/dl (normal = 10-12 mcg/dl)</a:t>
            </a:r>
          </a:p>
          <a:p>
            <a:pPr lvl="0"/>
            <a:r>
              <a:t>What can we say about that?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Association — advancing the reasoning</a:t>
            </a:r>
          </a:p>
        </p:txBody>
      </p:sp>
      <p:sp>
        <p:nvSpPr>
          <p:cNvPr id="3" name="Content Placeholder 2"/>
          <p:cNvSpPr>
            <a:spLocks noGrp="1"/>
          </p:cNvSpPr>
          <p:nvPr>
            <p:ph idx="1"/>
          </p:nvPr>
        </p:nvSpPr>
        <p:spPr/>
        <p:txBody>
          <a:bodyPr/>
          <a:lstStyle/>
          <a:p>
            <a:pPr lvl="0"/>
            <a:r>
              <a:t>Hyperhomocysteinemia causes IHD?</a:t>
            </a:r>
          </a:p>
          <a:p>
            <a:pPr lvl="0"/>
            <a:r>
              <a:t>Hypothesize that,</a:t>
            </a:r>
          </a:p>
          <a:p>
            <a:pPr lvl="1"/>
            <a:r>
              <a:t>Hyperhomocysteinemia may have a role in the etiology of IHD</a:t>
            </a:r>
          </a:p>
          <a:p>
            <a:pPr lvl="1"/>
            <a:r>
              <a:t>Hyperhomocysteinemia is associated with IHD</a:t>
            </a:r>
          </a:p>
          <a:p>
            <a:pPr lvl="0"/>
            <a:r>
              <a:t>For advancing in the understanding there has to be a “comparison”</a:t>
            </a:r>
          </a:p>
          <a:p>
            <a:pPr lvl="1"/>
            <a:r>
              <a:t>Comparison would generate another summary measure which shows </a:t>
            </a:r>
            <a:r>
              <a:rPr b="1"/>
              <a:t>the extent of</a:t>
            </a:r>
            <a:r>
              <a:t> this “Association” or “Effect” or “risk” (RR, OR, AR)</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From association to causation in epidemiology</a:t>
            </a:r>
          </a:p>
        </p:txBody>
      </p:sp>
      <p:pic>
        <p:nvPicPr>
          <p:cNvPr id="3" name="Picture 1" descr="images/s1_03_image26.png"/>
          <p:cNvPicPr>
            <a:picLocks noGrp="1" noChangeAspect="1"/>
          </p:cNvPicPr>
          <p:nvPr/>
        </p:nvPicPr>
        <p:blipFill>
          <a:blip r:embed="rId2"/>
          <a:stretch>
            <a:fillRect/>
          </a:stretch>
        </p:blipFill>
        <p:spPr bwMode="auto">
          <a:xfrm>
            <a:off x="2235200" y="1193800"/>
            <a:ext cx="46736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The long road to causal inference: from RR causal “truth” to RR association, through random error and multiple sources of bias.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Open your mind,</a:t>
            </a:r>
          </a:p>
        </p:txBody>
      </p:sp>
      <p:pic>
        <p:nvPicPr>
          <p:cNvPr id="3" name="Picture 1" descr="images/s1_03_image27.png"/>
          <p:cNvPicPr>
            <a:picLocks noGrp="1" noChangeAspect="1"/>
          </p:cNvPicPr>
          <p:nvPr/>
        </p:nvPicPr>
        <p:blipFill>
          <a:blip r:embed="rId2"/>
          <a:stretch>
            <a:fillRect/>
          </a:stretch>
        </p:blipFill>
        <p:spPr bwMode="auto">
          <a:xfrm>
            <a:off x="2959100" y="1193800"/>
            <a:ext cx="3213100" cy="3390900"/>
          </a:xfrm>
          <a:prstGeom prst="rect">
            <a:avLst/>
          </a:prstGeom>
          <a:noFill/>
          <a:ln w="9525">
            <a:noFill/>
            <a:headEnd/>
            <a:tailEnd/>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Open your mind, (cont.)</a:t>
            </a:r>
          </a:p>
        </p:txBody>
      </p:sp>
      <p:pic>
        <p:nvPicPr>
          <p:cNvPr id="3" name="Picture 1" descr="images/s1_03_image29.png"/>
          <p:cNvPicPr>
            <a:picLocks noGrp="1" noChangeAspect="1"/>
          </p:cNvPicPr>
          <p:nvPr/>
        </p:nvPicPr>
        <p:blipFill>
          <a:blip r:embed="rId2"/>
          <a:stretch>
            <a:fillRect/>
          </a:stretch>
        </p:blipFill>
        <p:spPr bwMode="auto">
          <a:xfrm>
            <a:off x="2451100" y="1193800"/>
            <a:ext cx="4254500" cy="3390900"/>
          </a:xfrm>
          <a:prstGeom prst="rect">
            <a:avLst/>
          </a:prstGeom>
          <a:noFill/>
          <a:ln w="9525">
            <a:noFill/>
            <a:headEnd/>
            <a:tailEnd/>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Open your mind — the question</a:t>
            </a:r>
          </a:p>
        </p:txBody>
      </p:sp>
      <p:sp>
        <p:nvSpPr>
          <p:cNvPr id="3" name="Content Placeholder 2"/>
          <p:cNvSpPr>
            <a:spLocks noGrp="1"/>
          </p:cNvSpPr>
          <p:nvPr>
            <p:ph idx="1"/>
          </p:nvPr>
        </p:nvSpPr>
        <p:spPr/>
        <p:txBody>
          <a:bodyPr/>
          <a:lstStyle/>
          <a:p>
            <a:pPr marL="0" lvl="0" indent="0">
              <a:buNone/>
            </a:pPr>
            <a:r>
              <a:t>What exactly does your mind need to consider something </a:t>
            </a:r>
            <a:r>
              <a:rPr b="1"/>
              <a:t>causal</a:t>
            </a:r>
            <a:r>
              <a:t>?</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Assumptions of causality (1/2)</a:t>
            </a:r>
          </a:p>
        </p:txBody>
      </p:sp>
      <p:sp>
        <p:nvSpPr>
          <p:cNvPr id="3" name="Content Placeholder 2"/>
          <p:cNvSpPr>
            <a:spLocks noGrp="1"/>
          </p:cNvSpPr>
          <p:nvPr>
            <p:ph idx="1"/>
          </p:nvPr>
        </p:nvSpPr>
        <p:spPr/>
        <p:txBody>
          <a:bodyPr/>
          <a:lstStyle/>
          <a:p>
            <a:pPr lvl="0"/>
            <a:r>
              <a:rPr b="1"/>
              <a:t>Exchangeability (No Unmeasured Confounding).</a:t>
            </a:r>
            <a:r>
              <a:t> Conditional on the measured baseline covariates, the potential outcomes are independent of exposure assignment. That is, there are no unmeasured common causes of the exposure and outcome that would induce confounding.</a:t>
            </a:r>
          </a:p>
          <a:p>
            <a:pPr lvl="0"/>
            <a:r>
              <a:rPr b="1"/>
              <a:t>Positivity.</a:t>
            </a:r>
            <a:r>
              <a:t> For every covariate pattern with positive probability in the target population, each exposure level has a non-zero probability of being observed. Thus, all relevant covariate strata contain individuals receiving each exposure level being compared.</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Assumptions of causality (2/2)</a:t>
            </a:r>
          </a:p>
        </p:txBody>
      </p:sp>
      <p:sp>
        <p:nvSpPr>
          <p:cNvPr id="3" name="Content Placeholder 2"/>
          <p:cNvSpPr>
            <a:spLocks noGrp="1"/>
          </p:cNvSpPr>
          <p:nvPr>
            <p:ph idx="1"/>
          </p:nvPr>
        </p:nvSpPr>
        <p:spPr/>
        <p:txBody>
          <a:bodyPr/>
          <a:lstStyle/>
          <a:p>
            <a:pPr lvl="0"/>
            <a:r>
              <a:rPr b="1"/>
              <a:t>Consistency.</a:t>
            </a:r>
            <a:r>
              <a:t> The exposure is sufficiently well defined such that the observed outcome under the exposure actually received corresponds to the corresponding potential outcome: this assumes that different versions of the same exposure do not produce different outcomes and that the exposure is measured without ambiguity.</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Association versus Causation (conceptually speaking)</a:t>
            </a:r>
          </a:p>
        </p:txBody>
      </p:sp>
      <p:sp>
        <p:nvSpPr>
          <p:cNvPr id="3" name="Content Placeholder 2"/>
          <p:cNvSpPr>
            <a:spLocks noGrp="1"/>
          </p:cNvSpPr>
          <p:nvPr>
            <p:ph sz="half" idx="1"/>
          </p:nvPr>
        </p:nvSpPr>
        <p:spPr/>
        <p:txBody>
          <a:bodyPr/>
          <a:lstStyle/>
          <a:p>
            <a:pPr marL="0" lvl="0" indent="0">
              <a:buNone/>
            </a:pPr>
            <a:r>
              <a:rPr b="1"/>
              <a:t>Association</a:t>
            </a:r>
          </a:p>
          <a:p>
            <a:pPr lvl="0"/>
            <a:r>
              <a:t>Correlation</a:t>
            </a:r>
          </a:p>
          <a:p>
            <a:pPr lvl="0"/>
            <a:r>
              <a:t>Regression</a:t>
            </a:r>
          </a:p>
          <a:p>
            <a:pPr lvl="0"/>
            <a:r>
              <a:t>Odds / relative risk</a:t>
            </a:r>
          </a:p>
          <a:p>
            <a:pPr lvl="0"/>
            <a:r>
              <a:t>Dependence</a:t>
            </a:r>
          </a:p>
          <a:p>
            <a:pPr lvl="0"/>
            <a:r>
              <a:t>Likelihood</a:t>
            </a:r>
          </a:p>
          <a:p>
            <a:pPr lvl="0"/>
            <a:r>
              <a:t>Conditional</a:t>
            </a:r>
          </a:p>
        </p:txBody>
      </p:sp>
      <p:sp>
        <p:nvSpPr>
          <p:cNvPr id="4" name="Content Placeholder 3"/>
          <p:cNvSpPr>
            <a:spLocks noGrp="1"/>
          </p:cNvSpPr>
          <p:nvPr>
            <p:ph sz="half" idx="2"/>
          </p:nvPr>
        </p:nvSpPr>
        <p:spPr/>
        <p:txBody>
          <a:bodyPr/>
          <a:lstStyle/>
          <a:p>
            <a:pPr marL="0" lvl="0" indent="0">
              <a:buNone/>
            </a:pPr>
            <a:r>
              <a:rPr b="1"/>
              <a:t>Causation</a:t>
            </a:r>
          </a:p>
          <a:p>
            <a:pPr lvl="0"/>
            <a:r>
              <a:t>Influence</a:t>
            </a:r>
          </a:p>
          <a:p>
            <a:pPr lvl="0"/>
            <a:r>
              <a:t>Effect</a:t>
            </a:r>
          </a:p>
          <a:p>
            <a:pPr lvl="0"/>
            <a:r>
              <a:t>Confounding</a:t>
            </a:r>
          </a:p>
          <a:p>
            <a:pPr lvl="0"/>
            <a:r>
              <a:t>Explanation</a:t>
            </a:r>
          </a:p>
          <a:p>
            <a:pPr lvl="0"/>
            <a:r>
              <a:t>Intervention</a:t>
            </a:r>
          </a:p>
          <a:p>
            <a:pPr lvl="0"/>
            <a:r>
              <a:t>Randomization</a:t>
            </a:r>
          </a:p>
          <a:p>
            <a:pPr lvl="0"/>
            <a:r>
              <a:t>Attribution</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Correlation is not causation</a:t>
            </a:r>
          </a:p>
        </p:txBody>
      </p:sp>
      <p:pic>
        <p:nvPicPr>
          <p:cNvPr id="3" name="Picture 1" descr="images/s1_03b_image16.png"/>
          <p:cNvPicPr>
            <a:picLocks noGrp="1" noChangeAspect="1"/>
          </p:cNvPicPr>
          <p:nvPr/>
        </p:nvPicPr>
        <p:blipFill>
          <a:blip r:embed="rId2"/>
          <a:stretch>
            <a:fillRect/>
          </a:stretch>
        </p:blipFill>
        <p:spPr bwMode="auto">
          <a:xfrm>
            <a:off x="2451100" y="1193800"/>
            <a:ext cx="42418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Associates degrees awarded in Science technologies correlates with Google searches for “avocado toast” (2011–2021).</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Dark Causal Inference (1/2)</a:t>
            </a:r>
          </a:p>
        </p:txBody>
      </p:sp>
      <p:sp>
        <p:nvSpPr>
          <p:cNvPr id="3" name="Content Placeholder 2"/>
          <p:cNvSpPr>
            <a:spLocks noGrp="1"/>
          </p:cNvSpPr>
          <p:nvPr>
            <p:ph idx="1"/>
          </p:nvPr>
        </p:nvSpPr>
        <p:spPr/>
        <p:txBody>
          <a:bodyPr/>
          <a:lstStyle/>
          <a:p>
            <a:pPr lvl="0"/>
            <a:r>
              <a:t>Causal reasoning is often </a:t>
            </a:r>
            <a:r>
              <a:rPr b="1"/>
              <a:t>implicit rather than explicitly stated</a:t>
            </a:r>
            <a:r>
              <a:t>, inferred from conclusions and recommendations rather than from clearly defined causal questions and assumptions.</a:t>
            </a:r>
          </a:p>
          <a:p>
            <a:pPr lvl="0"/>
            <a:r>
              <a:t>Researchers may use ambiguous terms such as </a:t>
            </a:r>
            <a:r>
              <a:rPr i="1"/>
              <a:t>association</a:t>
            </a:r>
            <a:r>
              <a:t>, </a:t>
            </a:r>
            <a:r>
              <a:rPr i="1"/>
              <a:t>linked to</a:t>
            </a:r>
            <a:r>
              <a:t>, or </a:t>
            </a:r>
            <a:r>
              <a:rPr i="1"/>
              <a:t>risk factor</a:t>
            </a:r>
            <a:r>
              <a:t> despite drawing causal interpretations.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Dark Causal Inference (2/2)</a:t>
            </a:r>
          </a:p>
        </p:txBody>
      </p:sp>
      <p:sp>
        <p:nvSpPr>
          <p:cNvPr id="3" name="Content Placeholder 2"/>
          <p:cNvSpPr>
            <a:spLocks noGrp="1"/>
          </p:cNvSpPr>
          <p:nvPr>
            <p:ph idx="1"/>
          </p:nvPr>
        </p:nvSpPr>
        <p:spPr/>
        <p:txBody>
          <a:bodyPr/>
          <a:lstStyle/>
          <a:p>
            <a:pPr lvl="0"/>
            <a:r>
              <a:t>This creates </a:t>
            </a:r>
            <a:r>
              <a:rPr b="1"/>
              <a:t>plausible deniability</a:t>
            </a:r>
            <a:r>
              <a:t> while retaining causal implications.</a:t>
            </a:r>
          </a:p>
          <a:p>
            <a:pPr lvl="0"/>
            <a:r>
              <a:t>Approximately </a:t>
            </a:r>
            <a:r>
              <a:rPr b="1"/>
              <a:t>two-thirds of studies</a:t>
            </a:r>
            <a:r>
              <a:t> in major epidemiological and psychological journals address </a:t>
            </a:r>
            <a:r>
              <a:rPr i="1"/>
              <a:t>seemingly causal</a:t>
            </a:r>
            <a:r>
              <a:t> questions without clearly specifying the causal target or required assumptions.</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“Effect” Without an Intervention — Electric Blankets and Childhood Cancer</a:t>
            </a:r>
          </a:p>
        </p:txBody>
      </p:sp>
      <p:sp>
        <p:nvSpPr>
          <p:cNvPr id="3" name="Content Placeholder 2"/>
          <p:cNvSpPr>
            <a:spLocks noGrp="1"/>
          </p:cNvSpPr>
          <p:nvPr>
            <p:ph idx="1"/>
          </p:nvPr>
        </p:nvSpPr>
        <p:spPr/>
        <p:txBody>
          <a:bodyPr/>
          <a:lstStyle/>
          <a:p>
            <a:pPr lvl="0"/>
            <a:r>
              <a:t>An observational study described its objective and findings using explicit causal language, including </a:t>
            </a:r>
            <a:r>
              <a:rPr i="1"/>
              <a:t>“effect”</a:t>
            </a:r>
            <a:r>
              <a:t> and </a:t>
            </a:r>
            <a:r>
              <a:rPr i="1"/>
              <a:t>“effect estimate.”</a:t>
            </a:r>
          </a:p>
          <a:p>
            <a:pPr lvl="0"/>
            <a:r>
              <a:t>However, no intervention was performed and the causal assumptions required for identification were not articulated.</a:t>
            </a:r>
          </a:p>
          <a:p>
            <a:pPr lvl="0"/>
            <a:r>
              <a:rPr b="1"/>
              <a:t>Key lesson:</a:t>
            </a:r>
            <a:r>
              <a:t> Repeated use of causal terminology can transform an observational association into an apparently causal finding, creating </a:t>
            </a:r>
            <a:r>
              <a:rPr b="1"/>
              <a:t>“dark” causal inference</a:t>
            </a:r>
            <a:r>
              <a:t>.</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“Risk Factor” Label — Perinatal Exposures and Maternal Morbidity</a:t>
            </a:r>
          </a:p>
        </p:txBody>
      </p:sp>
      <p:sp>
        <p:nvSpPr>
          <p:cNvPr id="3" name="Content Placeholder 2"/>
          <p:cNvSpPr>
            <a:spLocks noGrp="1"/>
          </p:cNvSpPr>
          <p:nvPr>
            <p:ph idx="1"/>
          </p:nvPr>
        </p:nvSpPr>
        <p:spPr/>
        <p:txBody>
          <a:bodyPr/>
          <a:lstStyle/>
          <a:p>
            <a:pPr lvl="0"/>
            <a:r>
              <a:t>Observational studies may describe exposures as </a:t>
            </a:r>
            <a:r>
              <a:rPr i="1"/>
              <a:t>“risk factors”</a:t>
            </a:r>
            <a:r>
              <a:t> or report </a:t>
            </a:r>
            <a:r>
              <a:rPr i="1"/>
              <a:t>“adjusted associations,”</a:t>
            </a:r>
            <a:r>
              <a:t> while drawing etiological or preventive implications.</a:t>
            </a:r>
          </a:p>
          <a:p>
            <a:pPr lvl="0"/>
            <a:r>
              <a:t>This terminology can obscure the underlying </a:t>
            </a:r>
            <a:r>
              <a:rPr b="1"/>
              <a:t>causal estimand and identification assumptions</a:t>
            </a:r>
            <a:r>
              <a:t>, including exchangeability, positivity, and consistency.</a:t>
            </a:r>
          </a:p>
          <a:p>
            <a:pPr lvl="0"/>
            <a:r>
              <a:rPr b="1"/>
              <a:t>Key lesson:</a:t>
            </a:r>
            <a:r>
              <a:t> A statistical predictor is not necessarily a causal determinant or an actionable intervention target.</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Convenience Disclaimer — Income and Happiness</a:t>
            </a:r>
          </a:p>
        </p:txBody>
      </p:sp>
      <p:sp>
        <p:nvSpPr>
          <p:cNvPr id="3" name="Content Placeholder 2"/>
          <p:cNvSpPr>
            <a:spLocks noGrp="1"/>
          </p:cNvSpPr>
          <p:nvPr>
            <p:ph idx="1"/>
          </p:nvPr>
        </p:nvSpPr>
        <p:spPr/>
        <p:txBody>
          <a:bodyPr/>
          <a:lstStyle/>
          <a:p>
            <a:pPr lvl="0"/>
            <a:r>
              <a:t>Studies may frame the research question and interpretation in explicitly causal terms, while describing the analysis formally as </a:t>
            </a:r>
            <a:r>
              <a:rPr b="1"/>
              <a:t>cross-sectional associations</a:t>
            </a:r>
            <a:r>
              <a:t>.</a:t>
            </a:r>
          </a:p>
          <a:p>
            <a:pPr lvl="0"/>
            <a:r>
              <a:t>A methodological disclaimer may state that causal-sounding terms are used merely for convenience, despite causal interpretations dominating the narrative.</a:t>
            </a:r>
          </a:p>
          <a:p>
            <a:pPr lvl="0"/>
            <a:r>
              <a:rPr b="1"/>
              <a:t>Key lesson:</a:t>
            </a:r>
            <a:r>
              <a:t> A disclaimer cannot substitute for a clearly defined causal estimand and explicit identification strategy.</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Hydroxychloroquine and COVID-19 mortality (1/2)</a:t>
            </a:r>
          </a:p>
        </p:txBody>
      </p:sp>
      <p:sp>
        <p:nvSpPr>
          <p:cNvPr id="3" name="Content Placeholder 2"/>
          <p:cNvSpPr>
            <a:spLocks noGrp="1"/>
          </p:cNvSpPr>
          <p:nvPr>
            <p:ph idx="1"/>
          </p:nvPr>
        </p:nvSpPr>
        <p:spPr/>
        <p:txBody>
          <a:bodyPr/>
          <a:lstStyle/>
          <a:p>
            <a:pPr lvl="0"/>
            <a:r>
              <a:t>Early observational studies of hydroxychloroquine were interpreted as evidence of a </a:t>
            </a:r>
            <a:r>
              <a:rPr b="1"/>
              <a:t>therapeutic effect</a:t>
            </a:r>
            <a:r>
              <a:t>, despite substantial potential for confounding by disease severity and treatment selection.</a:t>
            </a:r>
          </a:p>
          <a:p>
            <a:pPr lvl="1"/>
            <a:r>
              <a:t>In a large observational study, hydroxychloroquine use was associated with intubation or death (HR 1.04; 95% CI, 0.82–1.32), although the investigators appropriately emphasized the possibility of </a:t>
            </a:r>
            <a:r>
              <a:rPr b="1"/>
              <a:t>residual confounding</a:t>
            </a:r>
            <a:r>
              <a:t>.</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Hydroxychloroquine and COVID-19 mortality (2/2)</a:t>
            </a:r>
          </a:p>
        </p:txBody>
      </p:sp>
      <p:sp>
        <p:nvSpPr>
          <p:cNvPr id="3" name="Content Placeholder 2"/>
          <p:cNvSpPr>
            <a:spLocks noGrp="1"/>
          </p:cNvSpPr>
          <p:nvPr>
            <p:ph idx="1"/>
          </p:nvPr>
        </p:nvSpPr>
        <p:spPr/>
        <p:txBody>
          <a:bodyPr/>
          <a:lstStyle/>
          <a:p>
            <a:pPr lvl="0"/>
            <a:r>
              <a:t>Subsequent randomized evidence showed </a:t>
            </a:r>
            <a:r>
              <a:rPr b="1"/>
              <a:t>no mortality benefit</a:t>
            </a:r>
            <a:r>
              <a:t>, illustrating how an observational association can be misleading when interpreted as a causal effect.</a:t>
            </a:r>
          </a:p>
          <a:p>
            <a:pPr lvl="0"/>
            <a:r>
              <a:rPr b="1"/>
              <a:t>Key lesson:</a:t>
            </a:r>
            <a:r>
              <a:t> </a:t>
            </a:r>
            <a:r>
              <a:rPr i="1"/>
              <a:t>Adjustment and propensity scores do not transform an observational association into a causal effect without credible identification assumptions.</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COVID-19 severity: Smoking as a “Risk Factor” (1/2)</a:t>
            </a:r>
          </a:p>
        </p:txBody>
      </p:sp>
      <p:sp>
        <p:nvSpPr>
          <p:cNvPr id="3" name="Content Placeholder 2"/>
          <p:cNvSpPr>
            <a:spLocks noGrp="1"/>
          </p:cNvSpPr>
          <p:nvPr>
            <p:ph idx="1"/>
          </p:nvPr>
        </p:nvSpPr>
        <p:spPr/>
        <p:txBody>
          <a:bodyPr/>
          <a:lstStyle/>
          <a:p>
            <a:pPr lvl="0"/>
            <a:r>
              <a:t>Observational studies identified </a:t>
            </a:r>
            <a:r>
              <a:rPr b="1"/>
              <a:t>smoking as a risk factor for COVID-19 severity</a:t>
            </a:r>
            <a:r>
              <a:t>, reporting elevated adjusted risks after multivariable regression.</a:t>
            </a:r>
          </a:p>
          <a:p>
            <a:pPr lvl="1"/>
            <a:r>
              <a:t>The label </a:t>
            </a:r>
            <a:r>
              <a:rPr i="1"/>
              <a:t>risk factor</a:t>
            </a:r>
            <a:r>
              <a:t> can easily shift from describing a </a:t>
            </a:r>
            <a:r>
              <a:rPr b="1"/>
              <a:t>predictive association</a:t>
            </a:r>
            <a:r>
              <a:t> to implying that modifying the exposure would reduce disease risk.</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COVID-19 severity: Smoking as a “Risk Factor” (2/2)</a:t>
            </a:r>
          </a:p>
        </p:txBody>
      </p:sp>
      <p:sp>
        <p:nvSpPr>
          <p:cNvPr id="3" name="Content Placeholder 2"/>
          <p:cNvSpPr>
            <a:spLocks noGrp="1"/>
          </p:cNvSpPr>
          <p:nvPr>
            <p:ph idx="1"/>
          </p:nvPr>
        </p:nvSpPr>
        <p:spPr/>
        <p:txBody>
          <a:bodyPr/>
          <a:lstStyle/>
          <a:p>
            <a:pPr lvl="0"/>
            <a:r>
              <a:t>However, an adjusted association does not establish that smoking is a </a:t>
            </a:r>
            <a:r>
              <a:rPr b="1"/>
              <a:t>causal intervention target</a:t>
            </a:r>
            <a:r>
              <a:t>; this requires explicit causal assumptions and a well-defined intervention.</a:t>
            </a:r>
          </a:p>
          <a:p>
            <a:pPr lvl="0"/>
            <a:r>
              <a:t>It was described as a modifiable factor.</a:t>
            </a:r>
          </a:p>
          <a:p>
            <a:pPr lvl="0"/>
            <a:r>
              <a:rPr b="1"/>
              <a:t>Key lesson:</a:t>
            </a:r>
            <a:r>
              <a:t> </a:t>
            </a:r>
            <a:r>
              <a:rPr i="1"/>
              <a:t>A “risk factor” is not necessarily a causal factor—and statistical adjustment does not by itself establish intervention effects.</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Questions: The Fundamental Triad</a:t>
            </a:r>
          </a:p>
        </p:txBody>
      </p:sp>
      <p:sp>
        <p:nvSpPr>
          <p:cNvPr id="3" name="Content Placeholder 2"/>
          <p:cNvSpPr>
            <a:spLocks noGrp="1"/>
          </p:cNvSpPr>
          <p:nvPr>
            <p:ph idx="1"/>
          </p:nvPr>
        </p:nvSpPr>
        <p:spPr/>
        <p:txBody>
          <a:bodyPr/>
          <a:lstStyle/>
          <a:p>
            <a:pPr marL="0" lvl="0" indent="0">
              <a:buNone/>
            </a:pPr>
            <a:r>
              <a:t>Research questions should be explicitly classified as:</a:t>
            </a:r>
          </a:p>
          <a:p>
            <a:pPr lvl="0"/>
            <a:r>
              <a:rPr b="1"/>
              <a:t>Descriptive:</a:t>
            </a:r>
            <a:r>
              <a:t> Characterize distributions, patterns, or differences in health outcomes.</a:t>
            </a:r>
          </a:p>
          <a:p>
            <a:pPr lvl="0"/>
            <a:r>
              <a:rPr b="1"/>
              <a:t>Predictive:</a:t>
            </a:r>
            <a:r>
              <a:t> Predict or classify outcomes using observed covariates.</a:t>
            </a:r>
          </a:p>
          <a:p>
            <a:pPr lvl="0"/>
            <a:r>
              <a:rPr b="1"/>
              <a:t>Causal:</a:t>
            </a:r>
            <a:r>
              <a:t> Estimate how an exposure or intervention would change an outcome.</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Questions: The Fundamental Triad — key principle</a:t>
            </a:r>
          </a:p>
        </p:txBody>
      </p:sp>
      <p:sp>
        <p:nvSpPr>
          <p:cNvPr id="3" name="Content Placeholder 2"/>
          <p:cNvSpPr>
            <a:spLocks noGrp="1"/>
          </p:cNvSpPr>
          <p:nvPr>
            <p:ph idx="1"/>
          </p:nvPr>
        </p:nvSpPr>
        <p:spPr/>
        <p:txBody>
          <a:bodyPr/>
          <a:lstStyle/>
          <a:p>
            <a:pPr marL="0" lvl="0" indent="0">
              <a:buNone/>
            </a:pPr>
            <a:r>
              <a:rPr b="1"/>
              <a:t>Key principle:</a:t>
            </a:r>
            <a:r>
              <a:t> The research objective should determine the estimand, methods, and variable selection—not the other way around.</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Problem with “Association”</a:t>
            </a:r>
          </a:p>
        </p:txBody>
      </p:sp>
      <p:sp>
        <p:nvSpPr>
          <p:cNvPr id="3" name="Content Placeholder 2"/>
          <p:cNvSpPr>
            <a:spLocks noGrp="1"/>
          </p:cNvSpPr>
          <p:nvPr>
            <p:ph idx="1"/>
          </p:nvPr>
        </p:nvSpPr>
        <p:spPr/>
        <p:txBody>
          <a:bodyPr/>
          <a:lstStyle/>
          <a:p>
            <a:pPr lvl="0"/>
            <a:r>
              <a:rPr i="1"/>
              <a:t>Association</a:t>
            </a:r>
            <a:r>
              <a:t> is inherently ambiguous: different adjustment sets define different statistical associations.</a:t>
            </a:r>
          </a:p>
          <a:p>
            <a:pPr lvl="0"/>
            <a:r>
              <a:t>If the adjustment set is selected during analysis, the </a:t>
            </a:r>
            <a:r>
              <a:rPr b="1"/>
              <a:t>research question becomes analysis-driven</a:t>
            </a:r>
            <a:r>
              <a:t> rather than prespecified.</a:t>
            </a:r>
          </a:p>
          <a:p>
            <a:pPr lvl="0"/>
            <a:r>
              <a:t>Defining the target as an “association adjusted for X” does not allow meaningful assessment of </a:t>
            </a:r>
            <a:r>
              <a:rPr b="1"/>
              <a:t>unmeasured confounding</a:t>
            </a:r>
            <a:r>
              <a:t>.</a:t>
            </a:r>
          </a:p>
          <a:p>
            <a:pPr lvl="0"/>
            <a:r>
              <a:t>For causal questions, use </a:t>
            </a:r>
            <a:r>
              <a:rPr b="1"/>
              <a:t>explicit causal language</a:t>
            </a:r>
            <a:r>
              <a:t> and prespecify the causal estimand.</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Problem with “risk factors to…” (1/2)</a:t>
            </a:r>
          </a:p>
        </p:txBody>
      </p:sp>
      <p:sp>
        <p:nvSpPr>
          <p:cNvPr id="3" name="Content Placeholder 2"/>
          <p:cNvSpPr>
            <a:spLocks noGrp="1"/>
          </p:cNvSpPr>
          <p:nvPr>
            <p:ph idx="1"/>
          </p:nvPr>
        </p:nvSpPr>
        <p:spPr/>
        <p:txBody>
          <a:bodyPr/>
          <a:lstStyle/>
          <a:p>
            <a:pPr lvl="0"/>
            <a:r>
              <a:t>Terms such as </a:t>
            </a:r>
            <a:r>
              <a:rPr i="1"/>
              <a:t>risk factor</a:t>
            </a:r>
            <a:r>
              <a:t>, </a:t>
            </a:r>
            <a:r>
              <a:rPr i="1"/>
              <a:t>associated with</a:t>
            </a:r>
            <a:r>
              <a:t>, and </a:t>
            </a:r>
            <a:r>
              <a:rPr i="1"/>
              <a:t>linked to</a:t>
            </a:r>
            <a:r>
              <a:t> often conceal </a:t>
            </a:r>
            <a:r>
              <a:rPr b="1"/>
              <a:t>causal questions behind non-causal language</a:t>
            </a:r>
            <a:r>
              <a:t>, allowing causal interpretations without explicitly stating or defending the required assumptions.</a:t>
            </a:r>
          </a:p>
          <a:p>
            <a:pPr lvl="1"/>
            <a:r>
              <a:t>The label </a:t>
            </a:r>
            <a:r>
              <a:rPr i="1"/>
              <a:t>risk factor</a:t>
            </a:r>
            <a:r>
              <a:t> does not define a specific </a:t>
            </a:r>
            <a:r>
              <a:rPr b="1"/>
              <a:t>estimand</a:t>
            </a:r>
            <a:r>
              <a:t>: the reported relationship may be crude, adjusted, or conditioned on different sets of covariates.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Problem with “risk factors to…” (2/2)</a:t>
            </a:r>
          </a:p>
        </p:txBody>
      </p:sp>
      <p:sp>
        <p:nvSpPr>
          <p:cNvPr id="3" name="Content Placeholder 2"/>
          <p:cNvSpPr>
            <a:spLocks noGrp="1"/>
          </p:cNvSpPr>
          <p:nvPr>
            <p:ph idx="1"/>
          </p:nvPr>
        </p:nvSpPr>
        <p:spPr/>
        <p:txBody>
          <a:bodyPr/>
          <a:lstStyle/>
          <a:p>
            <a:pPr lvl="0"/>
            <a:r>
              <a:rPr b="1"/>
              <a:t>Association does not imply interventionability:</a:t>
            </a:r>
            <a:r>
              <a:t> e.g., caviar consumption may be associated with wealth through socioeconomic status, but making people eat caviar would not make them wealthy.</a:t>
            </a:r>
          </a:p>
          <a:p>
            <a:pPr lvl="0"/>
            <a:r>
              <a:rPr b="1"/>
              <a:t>Key message:</a:t>
            </a:r>
            <a:r>
              <a:t> A predictor or statistical “risk factor” should not automatically be interpreted as an appropriate </a:t>
            </a:r>
            <a:r>
              <a:rPr b="1"/>
              <a:t>target for intervention</a:t>
            </a:r>
            <a:r>
              <a:t>.</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“Plague” of Risk Factor Epidemiology &amp; False Positives (1/2)</a:t>
            </a:r>
          </a:p>
        </p:txBody>
      </p:sp>
      <p:sp>
        <p:nvSpPr>
          <p:cNvPr id="3" name="Content Placeholder 2"/>
          <p:cNvSpPr>
            <a:spLocks noGrp="1"/>
          </p:cNvSpPr>
          <p:nvPr>
            <p:ph idx="1"/>
          </p:nvPr>
        </p:nvSpPr>
        <p:spPr/>
        <p:txBody>
          <a:bodyPr/>
          <a:lstStyle/>
          <a:p>
            <a:pPr lvl="0"/>
            <a:r>
              <a:rPr b="1"/>
              <a:t>The Core Problem:</a:t>
            </a:r>
            <a:r>
              <a:t> Traditional risk factor epidemiology often focuses solely on estimating statistical associations without defining causal mechanisms, leading to a “plague” of false-positive research findings across nutrition, cancer, and environmental epidemiology.</a:t>
            </a:r>
          </a:p>
          <a:p>
            <a:pPr lvl="0"/>
            <a:r>
              <a:rPr b="1"/>
              <a:t>Overconfidence in Statistical Models:</a:t>
            </a:r>
            <a:r>
              <a:t> Researchers frequently treat any statistical correlation as a causal “effect,” blurring the critical distinction between well-defined exposures (e.g., smoking) and vague, unmanipulable states (e.g., “unhappiness” or general BMI).</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“Plague” of Risk Factor Epidemiology &amp; False Positives (2/2)</a:t>
            </a:r>
          </a:p>
        </p:txBody>
      </p:sp>
      <p:sp>
        <p:nvSpPr>
          <p:cNvPr id="3" name="Content Placeholder 2"/>
          <p:cNvSpPr>
            <a:spLocks noGrp="1"/>
          </p:cNvSpPr>
          <p:nvPr>
            <p:ph idx="1"/>
          </p:nvPr>
        </p:nvSpPr>
        <p:spPr/>
        <p:txBody>
          <a:bodyPr/>
          <a:lstStyle/>
          <a:p>
            <a:pPr lvl="0"/>
            <a:r>
              <a:rPr b="1"/>
              <a:t>Public Health Disconnect:</a:t>
            </a:r>
            <a:r>
              <a:t> Uncritical tolerance for vague causal effects generates misleading conclusions that confuse the public and fail to inform actionable public health policies.</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“Risk Factor” Trap: Methodological Pitfalls (1/2)</a:t>
            </a:r>
          </a:p>
        </p:txBody>
      </p:sp>
      <p:sp>
        <p:nvSpPr>
          <p:cNvPr id="3" name="Content Placeholder 2"/>
          <p:cNvSpPr>
            <a:spLocks noGrp="1"/>
          </p:cNvSpPr>
          <p:nvPr>
            <p:ph idx="1"/>
          </p:nvPr>
        </p:nvSpPr>
        <p:spPr/>
        <p:txBody>
          <a:bodyPr/>
          <a:lstStyle/>
          <a:p>
            <a:pPr lvl="0"/>
            <a:r>
              <a:rPr b="1"/>
              <a:t>Blind multivariable adjustment</a:t>
            </a:r>
            <a:r>
              <a:t> may lead researchers to interpret statistically significant coefficients as causal risk factors without a prespecified causal question.</a:t>
            </a:r>
          </a:p>
          <a:p>
            <a:pPr lvl="0"/>
            <a:r>
              <a:t>Without a </a:t>
            </a:r>
            <a:r>
              <a:rPr b="1"/>
              <a:t>causal diagram (DAG)</a:t>
            </a:r>
            <a:r>
              <a:t>, adjustment may:</a:t>
            </a:r>
          </a:p>
          <a:p>
            <a:pPr lvl="1"/>
            <a:r>
              <a:t>block causal pathways by conditioning on </a:t>
            </a:r>
            <a:r>
              <a:rPr b="1"/>
              <a:t>mediators</a:t>
            </a:r>
            <a:r>
              <a:t>;</a:t>
            </a:r>
          </a:p>
          <a:p>
            <a:pPr lvl="1"/>
            <a:r>
              <a:t>introduce spurious associations by conditioning on </a:t>
            </a:r>
            <a:r>
              <a:rPr b="1"/>
              <a:t>colliders</a:t>
            </a:r>
            <a:r>
              <a:t>.</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“Risk Factor” Trap: Methodological Pitfalls (2/2)</a:t>
            </a:r>
          </a:p>
        </p:txBody>
      </p:sp>
      <p:sp>
        <p:nvSpPr>
          <p:cNvPr id="3" name="Content Placeholder 2"/>
          <p:cNvSpPr>
            <a:spLocks noGrp="1"/>
          </p:cNvSpPr>
          <p:nvPr>
            <p:ph idx="1"/>
          </p:nvPr>
        </p:nvSpPr>
        <p:spPr/>
        <p:txBody>
          <a:bodyPr/>
          <a:lstStyle/>
          <a:p>
            <a:pPr lvl="0"/>
            <a:r>
              <a:t>A variable associated with an outcome is not necessarily a </a:t>
            </a:r>
            <a:r>
              <a:rPr b="1"/>
              <a:t>causal determinant</a:t>
            </a:r>
            <a:r>
              <a:t>; modifying it may have no effect on disease occurrence.</a:t>
            </a:r>
          </a:p>
          <a:p>
            <a:pPr lvl="0"/>
            <a:r>
              <a:rPr b="1"/>
              <a:t>Key message:</a:t>
            </a:r>
            <a:r>
              <a:t> Identifying actionable determinants requires a </a:t>
            </a:r>
            <a:r>
              <a:rPr b="1"/>
              <a:t>formal causal inference framework</a:t>
            </a:r>
            <a:r>
              <a:t>, not simply multivariable regression.</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Transparent Use of Scientific Language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20000"/>
                    </a:ext>
                  </a:extLst>
                </a:gridCol>
                <a:gridCol w="5918200">
                  <a:extLst>
                    <a:ext uri="{9D8B030D-6E8A-4147-A177-3AD203B41FA5}">
                      <a16:colId xmlns:a16="http://schemas.microsoft.com/office/drawing/2014/main" val="20001"/>
                    </a:ext>
                  </a:extLst>
                </a:gridCol>
              </a:tblGrid>
              <a:tr h="0">
                <a:tc>
                  <a:txBody>
                    <a:bodyPr/>
                    <a:lstStyle/>
                    <a:p>
                      <a:pPr marL="0" lvl="0" indent="0">
                        <a:buNone/>
                      </a:pPr>
                      <a:r>
                        <a:t>Section</a:t>
                      </a:r>
                    </a:p>
                  </a:txBody>
                  <a:tcPr/>
                </a:tc>
                <a:tc>
                  <a:txBody>
                    <a:bodyPr/>
                    <a:lstStyle/>
                    <a:p>
                      <a:pPr marL="0" lvl="0" indent="0">
                        <a:buNone/>
                      </a:pPr>
                      <a:r>
                        <a:t>Preferred terminology</a:t>
                      </a:r>
                    </a:p>
                  </a:txBody>
                  <a:tcPr/>
                </a:tc>
                <a:extLst>
                  <a:ext uri="{0D108BD9-81ED-4DB2-BD59-A6C34878D82A}">
                    <a16:rowId xmlns:a16="http://schemas.microsoft.com/office/drawing/2014/main" val="10000"/>
                  </a:ext>
                </a:extLst>
              </a:tr>
              <a:tr h="0">
                <a:tc>
                  <a:txBody>
                    <a:bodyPr/>
                    <a:lstStyle/>
                    <a:p>
                      <a:pPr marL="0" lvl="0" indent="0">
                        <a:buNone/>
                      </a:pPr>
                      <a:r>
                        <a:t>Introduction / Methods</a:t>
                      </a:r>
                    </a:p>
                  </a:txBody>
                  <a:tcPr/>
                </a:tc>
                <a:tc>
                  <a:txBody>
                    <a:bodyPr/>
                    <a:lstStyle/>
                    <a:p>
                      <a:pPr marL="0" lvl="0" indent="0">
                        <a:buNone/>
                      </a:pPr>
                      <a:r>
                        <a:t>Causal effect — define the causal question and target estimand</a:t>
                      </a:r>
                    </a:p>
                  </a:txBody>
                  <a:tcPr/>
                </a:tc>
                <a:extLst>
                  <a:ext uri="{0D108BD9-81ED-4DB2-BD59-A6C34878D82A}">
                    <a16:rowId xmlns:a16="http://schemas.microsoft.com/office/drawing/2014/main" val="10001"/>
                  </a:ext>
                </a:extLst>
              </a:tr>
              <a:tr h="0">
                <a:tc>
                  <a:txBody>
                    <a:bodyPr/>
                    <a:lstStyle/>
                    <a:p>
                      <a:pPr marL="0" lvl="0" indent="0">
                        <a:buNone/>
                      </a:pPr>
                      <a:r>
                        <a:t>Results</a:t>
                      </a:r>
                    </a:p>
                  </a:txBody>
                  <a:tcPr/>
                </a:tc>
                <a:tc>
                  <a:txBody>
                    <a:bodyPr/>
                    <a:lstStyle/>
                    <a:p>
                      <a:pPr marL="0" lvl="0" indent="0">
                        <a:buNone/>
                      </a:pPr>
                      <a:r>
                        <a:t>Association — describe the observed statistical relationship</a:t>
                      </a:r>
                    </a:p>
                  </a:txBody>
                  <a:tcPr/>
                </a:tc>
                <a:extLst>
                  <a:ext uri="{0D108BD9-81ED-4DB2-BD59-A6C34878D82A}">
                    <a16:rowId xmlns:a16="http://schemas.microsoft.com/office/drawing/2014/main" val="10002"/>
                  </a:ext>
                </a:extLst>
              </a:tr>
              <a:tr h="0">
                <a:tc>
                  <a:txBody>
                    <a:bodyPr/>
                    <a:lstStyle/>
                    <a:p>
                      <a:pPr marL="0" lvl="0" indent="0">
                        <a:buNone/>
                      </a:pPr>
                      <a:r>
                        <a:t>Discussion</a:t>
                      </a:r>
                    </a:p>
                  </a:txBody>
                  <a:tcPr/>
                </a:tc>
                <a:tc>
                  <a:txBody>
                    <a:bodyPr/>
                    <a:lstStyle/>
                    <a:p>
                      <a:pPr marL="0" lvl="0" indent="0">
                        <a:buNone/>
                      </a:pPr>
                      <a:r>
                        <a:t>Estimated causal effect — interpret the association under stated causal assumptions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Transparent Use of Scientific Language — assumptions</a:t>
            </a:r>
          </a:p>
        </p:txBody>
      </p:sp>
      <p:sp>
        <p:nvSpPr>
          <p:cNvPr id="3" name="Content Placeholder 2"/>
          <p:cNvSpPr>
            <a:spLocks noGrp="1"/>
          </p:cNvSpPr>
          <p:nvPr>
            <p:ph idx="1"/>
          </p:nvPr>
        </p:nvSpPr>
        <p:spPr/>
        <p:txBody>
          <a:bodyPr/>
          <a:lstStyle/>
          <a:p>
            <a:pPr marL="0" lvl="0" indent="0">
              <a:buNone/>
            </a:pPr>
            <a:r>
              <a:t>Causal inference requires explicit consideration of </a:t>
            </a:r>
            <a:r>
              <a:rPr b="1"/>
              <a:t>exchangeability, positivity, and consistency</a:t>
            </a:r>
            <a:r>
              <a:t>, supported where appropriate by </a:t>
            </a:r>
            <a:r>
              <a:rPr b="1"/>
              <a:t>DAGs, target trial emulation, and sensitivity analyses</a:t>
            </a:r>
            <a:r>
              <a:t>.</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Objectives and Interpretation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587500">
                  <a:extLst>
                    <a:ext uri="{9D8B030D-6E8A-4147-A177-3AD203B41FA5}">
                      <a16:colId xmlns:a16="http://schemas.microsoft.com/office/drawing/2014/main" val="20000"/>
                    </a:ext>
                  </a:extLst>
                </a:gridCol>
                <a:gridCol w="3175000">
                  <a:extLst>
                    <a:ext uri="{9D8B030D-6E8A-4147-A177-3AD203B41FA5}">
                      <a16:colId xmlns:a16="http://schemas.microsoft.com/office/drawing/2014/main" val="20001"/>
                    </a:ext>
                  </a:extLst>
                </a:gridCol>
                <a:gridCol w="3467100">
                  <a:extLst>
                    <a:ext uri="{9D8B030D-6E8A-4147-A177-3AD203B41FA5}">
                      <a16:colId xmlns:a16="http://schemas.microsoft.com/office/drawing/2014/main" val="20002"/>
                    </a:ext>
                  </a:extLst>
                </a:gridCol>
              </a:tblGrid>
              <a:tr h="0">
                <a:tc>
                  <a:txBody>
                    <a:bodyPr/>
                    <a:lstStyle/>
                    <a:p>
                      <a:pPr marL="0" lvl="0" indent="0">
                        <a:buNone/>
                      </a:pPr>
                      <a:r>
                        <a:t>Objective</a:t>
                      </a:r>
                    </a:p>
                  </a:txBody>
                  <a:tcPr/>
                </a:tc>
                <a:tc>
                  <a:txBody>
                    <a:bodyPr/>
                    <a:lstStyle/>
                    <a:p>
                      <a:pPr marL="0" lvl="0" indent="0">
                        <a:buNone/>
                      </a:pPr>
                      <a:r>
                        <a:t>Recommended language</a:t>
                      </a:r>
                    </a:p>
                  </a:txBody>
                  <a:tcPr/>
                </a:tc>
                <a:tc>
                  <a:txBody>
                    <a:bodyPr/>
                    <a:lstStyle/>
                    <a:p>
                      <a:pPr marL="0" lvl="0" indent="0">
                        <a:buNone/>
                      </a:pPr>
                      <a:r>
                        <a:t>Example interpretation</a:t>
                      </a:r>
                    </a:p>
                  </a:txBody>
                  <a:tcPr/>
                </a:tc>
                <a:extLst>
                  <a:ext uri="{0D108BD9-81ED-4DB2-BD59-A6C34878D82A}">
                    <a16:rowId xmlns:a16="http://schemas.microsoft.com/office/drawing/2014/main" val="10000"/>
                  </a:ext>
                </a:extLst>
              </a:tr>
              <a:tr h="0">
                <a:tc>
                  <a:txBody>
                    <a:bodyPr/>
                    <a:lstStyle/>
                    <a:p>
                      <a:pPr marL="0" lvl="0" indent="0">
                        <a:buNone/>
                      </a:pPr>
                      <a:r>
                        <a:t>Descriptive</a:t>
                      </a:r>
                    </a:p>
                  </a:txBody>
                  <a:tcPr/>
                </a:tc>
                <a:tc>
                  <a:txBody>
                    <a:bodyPr/>
                    <a:lstStyle/>
                    <a:p>
                      <a:pPr marL="0" lvl="0" indent="0">
                        <a:buNone/>
                      </a:pPr>
                      <a:r>
                        <a:t>Describe, characterize, document, compare</a:t>
                      </a:r>
                    </a:p>
                  </a:txBody>
                  <a:tcPr/>
                </a:tc>
                <a:tc>
                  <a:txBody>
                    <a:bodyPr/>
                    <a:lstStyle/>
                    <a:p>
                      <a:pPr marL="0" lvl="0" indent="0">
                        <a:buNone/>
                      </a:pPr>
                      <a:r>
                        <a:t>“The age-adjusted risk of dementia differed by 5% between the two educational groups.”</a:t>
                      </a:r>
                    </a:p>
                  </a:txBody>
                  <a:tcPr/>
                </a:tc>
                <a:extLst>
                  <a:ext uri="{0D108BD9-81ED-4DB2-BD59-A6C34878D82A}">
                    <a16:rowId xmlns:a16="http://schemas.microsoft.com/office/drawing/2014/main" val="10001"/>
                  </a:ext>
                </a:extLst>
              </a:tr>
              <a:tr h="0">
                <a:tc>
                  <a:txBody>
                    <a:bodyPr/>
                    <a:lstStyle/>
                    <a:p>
                      <a:pPr marL="0" lvl="0" indent="0">
                        <a:buNone/>
                      </a:pPr>
                      <a:r>
                        <a:t>Predictive</a:t>
                      </a:r>
                    </a:p>
                  </a:txBody>
                  <a:tcPr/>
                </a:tc>
                <a:tc>
                  <a:txBody>
                    <a:bodyPr/>
                    <a:lstStyle/>
                    <a:p>
                      <a:pPr marL="0" lvl="0" indent="0">
                        <a:buNone/>
                      </a:pPr>
                      <a:r>
                        <a:t>Predict, classify, forecast, risk stratification</a:t>
                      </a:r>
                    </a:p>
                  </a:txBody>
                  <a:tcPr/>
                </a:tc>
                <a:tc>
                  <a:txBody>
                    <a:bodyPr/>
                    <a:lstStyle/>
                    <a:p>
                      <a:pPr marL="0" lvl="0" indent="0">
                        <a:buNone/>
                      </a:pPr>
                      <a:r>
                        <a:t>“The model predicted 5-year dementia risk with an AUC of 0.82.”</a:t>
                      </a:r>
                    </a:p>
                  </a:txBody>
                  <a:tcPr/>
                </a:tc>
                <a:extLst>
                  <a:ext uri="{0D108BD9-81ED-4DB2-BD59-A6C34878D82A}">
                    <a16:rowId xmlns:a16="http://schemas.microsoft.com/office/drawing/2014/main" val="10002"/>
                  </a:ext>
                </a:extLst>
              </a:tr>
              <a:tr h="0">
                <a:tc>
                  <a:txBody>
                    <a:bodyPr/>
                    <a:lstStyle/>
                    <a:p>
                      <a:pPr marL="0" lvl="0" indent="0">
                        <a:buNone/>
                      </a:pPr>
                      <a:r>
                        <a:t>Causal</a:t>
                      </a:r>
                    </a:p>
                  </a:txBody>
                  <a:tcPr/>
                </a:tc>
                <a:tc>
                  <a:txBody>
                    <a:bodyPr/>
                    <a:lstStyle/>
                    <a:p>
                      <a:pPr marL="0" lvl="0" indent="0">
                        <a:buNone/>
                      </a:pPr>
                      <a:r>
                        <a:t>Causal effect, intervention, impact, affect</a:t>
                      </a:r>
                    </a:p>
                  </a:txBody>
                  <a:tcPr/>
                </a:tc>
                <a:tc>
                  <a:txBody>
                    <a:bodyPr/>
                    <a:lstStyle/>
                    <a:p>
                      <a:pPr marL="0" lvl="0" indent="0">
                        <a:buNone/>
                      </a:pPr>
                      <a:r>
                        <a:t>“Under the stated causal assumptions, vitamin B supplementation reduced 5-year dementia risk by 5 percentage points.”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Research Objectives and Interpretation — core principle</a:t>
            </a:r>
          </a:p>
        </p:txBody>
      </p:sp>
      <p:sp>
        <p:nvSpPr>
          <p:cNvPr id="3" name="Content Placeholder 2"/>
          <p:cNvSpPr>
            <a:spLocks noGrp="1"/>
          </p:cNvSpPr>
          <p:nvPr>
            <p:ph idx="1"/>
          </p:nvPr>
        </p:nvSpPr>
        <p:spPr/>
        <p:txBody>
          <a:bodyPr/>
          <a:lstStyle/>
          <a:p>
            <a:pPr marL="0" lvl="0" indent="0">
              <a:buNone/>
            </a:pPr>
            <a:r>
              <a:rPr b="1"/>
              <a:t>Core principle:</a:t>
            </a:r>
            <a:r>
              <a:t> </a:t>
            </a:r>
            <a:r>
              <a:rPr i="1"/>
              <a:t>The language of the paper should reflect the scientific question and the estimand—not merely the statistical model used.</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importance of language</a:t>
            </a:r>
          </a:p>
        </p:txBody>
      </p:sp>
      <p:sp>
        <p:nvSpPr>
          <p:cNvPr id="3" name="Content Placeholder 2"/>
          <p:cNvSpPr>
            <a:spLocks noGrp="1"/>
          </p:cNvSpPr>
          <p:nvPr>
            <p:ph idx="1"/>
          </p:nvPr>
        </p:nvSpPr>
        <p:spPr/>
        <p:txBody>
          <a:bodyPr/>
          <a:lstStyle/>
          <a:p>
            <a:pPr lvl="0"/>
            <a:r>
              <a:t>Avoiding “causal” language with observational study designs is common publication practice, often justified as being a more cautious approach to interpretation</a:t>
            </a:r>
          </a:p>
          <a:p>
            <a:pPr lvl="0"/>
            <a:r>
              <a:t>There is a substantial disconnect between causal implications used to link an exposure to an outcome and the action implications made</a:t>
            </a:r>
          </a:p>
          <a:p>
            <a:pPr lvl="0"/>
            <a:r>
              <a:t>This undercuts common assumptions about what words are often considered non-causal and that policing them eliminates causal implications</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importance of language — reference</a:t>
            </a:r>
          </a:p>
        </p:txBody>
      </p:sp>
      <p:sp>
        <p:nvSpPr>
          <p:cNvPr id="3" name="Content Placeholder 2"/>
          <p:cNvSpPr>
            <a:spLocks noGrp="1"/>
          </p:cNvSpPr>
          <p:nvPr>
            <p:ph idx="1"/>
          </p:nvPr>
        </p:nvSpPr>
        <p:spPr/>
        <p:txBody>
          <a:bodyPr/>
          <a:lstStyle/>
          <a:p>
            <a:pPr marL="0" lvl="0" indent="0">
              <a:buNone/>
            </a:pPr>
            <a:r>
              <a:rPr i="1"/>
              <a:t>Haber NA, et al. Causal and Associational Linking Language From Observational Research and Health Evaluation Literature in Practice: A systematic language evaluation. medRxiv 2021.08.25.21262631; doi: https://doi.org/10.1101/2021.08.25.21262631</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statistical “bingo card” of common pitfalls</a:t>
            </a:r>
          </a:p>
        </p:txBody>
      </p:sp>
      <p:pic>
        <p:nvPicPr>
          <p:cNvPr id="3" name="Picture 1" descr="images/s1_03_image31.png"/>
          <p:cNvPicPr>
            <a:picLocks noGrp="1" noChangeAspect="1"/>
          </p:cNvPicPr>
          <p:nvPr/>
        </p:nvPicPr>
        <p:blipFill>
          <a:blip r:embed="rId2"/>
          <a:stretch>
            <a:fillRect/>
          </a:stretch>
        </p:blipFill>
        <p:spPr bwMode="auto">
          <a:xfrm>
            <a:off x="2667000" y="1193800"/>
            <a:ext cx="3810000" cy="3390900"/>
          </a:xfrm>
          <a:prstGeom prst="rect">
            <a:avLst/>
          </a:prstGeom>
          <a:noFill/>
          <a:ln w="9525">
            <a:noFill/>
            <a:headEnd/>
            <a:tailEnd/>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CHAMP statement</a:t>
            </a:r>
          </a:p>
        </p:txBody>
      </p:sp>
      <p:pic>
        <p:nvPicPr>
          <p:cNvPr id="3" name="Picture 1" descr="images/s1_03_image32.png"/>
          <p:cNvPicPr>
            <a:picLocks noGrp="1" noChangeAspect="1"/>
          </p:cNvPicPr>
          <p:nvPr/>
        </p:nvPicPr>
        <p:blipFill>
          <a:blip r:embed="rId2"/>
          <a:stretch>
            <a:fillRect/>
          </a:stretch>
        </p:blipFill>
        <p:spPr bwMode="auto">
          <a:xfrm>
            <a:off x="457200" y="1320800"/>
            <a:ext cx="8229600" cy="2628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Mansournia MA, et al. Br J Sports Med 2021;0:1-9. doi:10.1136/bjsports-2020-103652</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CHAMP — design and conduct</a:t>
            </a:r>
          </a:p>
        </p:txBody>
      </p:sp>
      <p:pic>
        <p:nvPicPr>
          <p:cNvPr id="3" name="Picture 1" descr="images/s1_03_image34.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CHAMP — data analysis</a:t>
            </a:r>
          </a:p>
        </p:txBody>
      </p:sp>
      <p:pic>
        <p:nvPicPr>
          <p:cNvPr id="3" name="Picture 1" descr="images/s1_03_image35.png"/>
          <p:cNvPicPr>
            <a:picLocks noGrp="1" noChangeAspect="1"/>
          </p:cNvPicPr>
          <p:nvPr/>
        </p:nvPicPr>
        <p:blipFill>
          <a:blip r:embed="rId2"/>
          <a:stretch>
            <a:fillRect/>
          </a:stretch>
        </p:blipFill>
        <p:spPr bwMode="auto">
          <a:xfrm>
            <a:off x="584200" y="1193800"/>
            <a:ext cx="7975600" cy="3390900"/>
          </a:xfrm>
          <a:prstGeom prst="rect">
            <a:avLst/>
          </a:prstGeom>
          <a:noFill/>
          <a:ln w="9525">
            <a:noFill/>
            <a:headEnd/>
            <a:tailEnd/>
          </a:ln>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CHAMP — reporting and presentation</a:t>
            </a:r>
          </a:p>
        </p:txBody>
      </p:sp>
      <p:pic>
        <p:nvPicPr>
          <p:cNvPr id="3" name="Picture 1" descr="images/s1_03_image36.png"/>
          <p:cNvPicPr>
            <a:picLocks noGrp="1" noChangeAspect="1"/>
          </p:cNvPicPr>
          <p:nvPr/>
        </p:nvPicPr>
        <p:blipFill>
          <a:blip r:embed="rId2"/>
          <a:stretch>
            <a:fillRect/>
          </a:stretch>
        </p:blipFill>
        <p:spPr bwMode="auto">
          <a:xfrm>
            <a:off x="457200" y="1371600"/>
            <a:ext cx="8229600" cy="3022600"/>
          </a:xfrm>
          <a:prstGeom prst="rect">
            <a:avLst/>
          </a:prstGeom>
          <a:noFill/>
          <a:ln w="9525">
            <a:noFill/>
            <a:headEnd/>
            <a:tailEnd/>
          </a:ln>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CHAMP — interpretation</a:t>
            </a:r>
          </a:p>
        </p:txBody>
      </p:sp>
      <p:pic>
        <p:nvPicPr>
          <p:cNvPr id="3" name="Picture 1" descr="images/s1_03_image37.png"/>
          <p:cNvPicPr>
            <a:picLocks noGrp="1" noChangeAspect="1"/>
          </p:cNvPicPr>
          <p:nvPr/>
        </p:nvPicPr>
        <p:blipFill>
          <a:blip r:embed="rId2"/>
          <a:stretch>
            <a:fillRect/>
          </a:stretch>
        </p:blipFill>
        <p:spPr bwMode="auto">
          <a:xfrm>
            <a:off x="457200" y="1244600"/>
            <a:ext cx="8229600" cy="3289300"/>
          </a:xfrm>
          <a:prstGeom prst="rect">
            <a:avLst/>
          </a:prstGeom>
          <a:noFill/>
          <a:ln w="9525">
            <a:noFill/>
            <a:headEnd/>
            <a:tailEnd/>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What is Biostatistics</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 need a scientific question</a:t>
            </a:r>
          </a:p>
        </p:txBody>
      </p:sp>
      <p:pic>
        <p:nvPicPr>
          <p:cNvPr id="3" name="Picture 1" descr="images/s1_03b_image24.png"/>
          <p:cNvPicPr>
            <a:picLocks noGrp="1" noChangeAspect="1"/>
          </p:cNvPicPr>
          <p:nvPr/>
        </p:nvPicPr>
        <p:blipFill>
          <a:blip r:embed="rId2"/>
          <a:stretch>
            <a:fillRect/>
          </a:stretch>
        </p:blipFill>
        <p:spPr bwMode="auto">
          <a:xfrm>
            <a:off x="2565400" y="1193800"/>
            <a:ext cx="40259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Comic by @RosanaFerrero (in Spanish)</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 need a scientific question — translation</a:t>
            </a:r>
          </a:p>
        </p:txBody>
      </p:sp>
      <p:sp>
        <p:nvSpPr>
          <p:cNvPr id="3" name="Content Placeholder 2"/>
          <p:cNvSpPr>
            <a:spLocks noGrp="1"/>
          </p:cNvSpPr>
          <p:nvPr>
            <p:ph idx="1"/>
          </p:nvPr>
        </p:nvSpPr>
        <p:spPr/>
        <p:txBody>
          <a:bodyPr/>
          <a:lstStyle/>
          <a:p>
            <a:pPr lvl="0"/>
            <a:r>
              <a:rPr b="1"/>
              <a:t>Researcher:</a:t>
            </a:r>
            <a:r>
              <a:t> I need a statistical analysis. — </a:t>
            </a:r>
            <a:r>
              <a:rPr b="1"/>
              <a:t>Statistician:</a:t>
            </a:r>
            <a:r>
              <a:t> Perfect. What is your research question?</a:t>
            </a:r>
          </a:p>
          <a:p>
            <a:pPr lvl="0"/>
            <a:r>
              <a:rPr b="1"/>
              <a:t>R:</a:t>
            </a:r>
            <a:r>
              <a:t> I want to know if there are statistically significant differences. — </a:t>
            </a:r>
            <a:r>
              <a:rPr b="1"/>
              <a:t>S:</a:t>
            </a:r>
            <a:r>
              <a:t> Differences in what?</a:t>
            </a:r>
          </a:p>
          <a:p>
            <a:pPr lvl="0"/>
            <a:r>
              <a:rPr b="1"/>
              <a:t>R:</a:t>
            </a:r>
            <a:r>
              <a:t> I don’t know… in the groups. — </a:t>
            </a:r>
            <a:r>
              <a:rPr b="1"/>
              <a:t>S:</a:t>
            </a:r>
            <a:r>
              <a:t> Which groups?</a:t>
            </a:r>
          </a:p>
          <a:p>
            <a:pPr lvl="0"/>
            <a:r>
              <a:rPr b="1"/>
              <a:t>R:</a:t>
            </a:r>
            <a:r>
              <a:t> The ones we have. — </a:t>
            </a:r>
            <a:r>
              <a:rPr b="1"/>
              <a:t>S:</a:t>
            </a:r>
            <a:r>
              <a:t> And what exactly do you want to know?</a:t>
            </a:r>
          </a:p>
          <a:p>
            <a:pPr lvl="0"/>
            <a:r>
              <a:rPr b="1"/>
              <a:t>R:</a:t>
            </a:r>
            <a:r>
              <a:t> Well… if there are differences.</a:t>
            </a:r>
          </a:p>
          <a:p>
            <a:pPr lvl="0"/>
            <a:r>
              <a:rPr b="1"/>
              <a:t>S:</a:t>
            </a:r>
            <a:r>
              <a:t> </a:t>
            </a:r>
            <a:r>
              <a:rPr i="1"/>
              <a:t>I need you to bring me a scientific question.</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is Biostatistics</a:t>
            </a:r>
          </a:p>
        </p:txBody>
      </p:sp>
      <p:sp>
        <p:nvSpPr>
          <p:cNvPr id="3" name="Content Placeholder 2"/>
          <p:cNvSpPr>
            <a:spLocks noGrp="1"/>
          </p:cNvSpPr>
          <p:nvPr>
            <p:ph idx="1"/>
          </p:nvPr>
        </p:nvSpPr>
        <p:spPr/>
        <p:txBody>
          <a:bodyPr/>
          <a:lstStyle/>
          <a:p>
            <a:pPr lvl="0"/>
            <a:r>
              <a:t>Statistics applied to biomedical problems</a:t>
            </a:r>
          </a:p>
          <a:p>
            <a:pPr lvl="0"/>
            <a:r>
              <a:t>Decision making in the face of uncertainty or variability</a:t>
            </a:r>
          </a:p>
          <a:p>
            <a:pPr lvl="0"/>
            <a:r>
              <a:t>Design and analysis of experiments; detective work in observational studies (in epidemiology, outcomes research, etc.)</a:t>
            </a:r>
          </a:p>
          <a:p>
            <a:pPr lvl="0"/>
            <a:r>
              <a:t>Attempt to remove bias or find alternative explanations to those posited by researchers with vested interests</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is Biostatistics (cont.)</a:t>
            </a:r>
          </a:p>
        </p:txBody>
      </p:sp>
      <p:sp>
        <p:nvSpPr>
          <p:cNvPr id="3" name="Content Placeholder 2"/>
          <p:cNvSpPr>
            <a:spLocks noGrp="1"/>
          </p:cNvSpPr>
          <p:nvPr>
            <p:ph idx="1"/>
          </p:nvPr>
        </p:nvSpPr>
        <p:spPr/>
        <p:txBody>
          <a:bodyPr/>
          <a:lstStyle/>
          <a:p>
            <a:pPr lvl="0"/>
            <a:r>
              <a:t>Experimental design, measurement, description, statistical graphics, data analysis, inference, prediction</a:t>
            </a:r>
          </a:p>
          <a:p>
            <a:pPr lvl="0"/>
            <a:r>
              <a:t>To optimize its value, biostatistics needs to be </a:t>
            </a:r>
            <a:r>
              <a:rPr b="1"/>
              <a:t>fully integrated into biomedical research</a:t>
            </a:r>
            <a:r>
              <a:t> and we must recognize that experimental design and execution are all important.</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Statistical scientific method</a:t>
            </a:r>
          </a:p>
        </p:txBody>
      </p:sp>
      <p:sp>
        <p:nvSpPr>
          <p:cNvPr id="3" name="Content Placeholder 2"/>
          <p:cNvSpPr>
            <a:spLocks noGrp="1"/>
          </p:cNvSpPr>
          <p:nvPr>
            <p:ph idx="1"/>
          </p:nvPr>
        </p:nvSpPr>
        <p:spPr/>
        <p:txBody>
          <a:bodyPr/>
          <a:lstStyle/>
          <a:p>
            <a:pPr marL="0" lvl="0" indent="0">
              <a:buNone/>
            </a:pPr>
            <a:r>
              <a:t>Statistics is not a bag of tools and math formulas but an evidence-based way of thinking.</a:t>
            </a:r>
          </a:p>
          <a:p>
            <a:pPr marL="0" lvl="0" indent="0">
              <a:buNone/>
            </a:pPr>
            <a:r>
              <a:t>It is all important to:</a:t>
            </a:r>
          </a:p>
          <a:p>
            <a:pPr lvl="0"/>
            <a:r>
              <a:t>Understand the problem</a:t>
            </a:r>
          </a:p>
          <a:p>
            <a:pPr lvl="0"/>
            <a:r>
              <a:t>Properly frame the question to address it</a:t>
            </a:r>
          </a:p>
          <a:p>
            <a:pPr lvl="0"/>
            <a:r>
              <a:t>Understand and optimize the measurements</a:t>
            </a:r>
          </a:p>
          <a:p>
            <a:pPr lvl="0"/>
            <a:r>
              <a:t>Understand sources of variability</a:t>
            </a:r>
          </a:p>
          <a:p>
            <a:pPr lvl="0"/>
            <a:r>
              <a:t>…and much more</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Putting it all together</a:t>
            </a:r>
          </a:p>
        </p:txBody>
      </p:sp>
      <p:pic>
        <p:nvPicPr>
          <p:cNvPr id="3" name="Picture 1" descr="images/s1_03_slide48_workflow.png"/>
          <p:cNvPicPr>
            <a:picLocks noGrp="1" noChangeAspect="1"/>
          </p:cNvPicPr>
          <p:nvPr/>
        </p:nvPicPr>
        <p:blipFill>
          <a:blip r:embed="rId2"/>
          <a:stretch>
            <a:fillRect/>
          </a:stretch>
        </p:blipFill>
        <p:spPr bwMode="auto">
          <a:xfrm>
            <a:off x="3403600" y="1193800"/>
            <a:ext cx="2324100" cy="2882900"/>
          </a:xfrm>
          <a:prstGeom prst="rect">
            <a:avLst/>
          </a:prstGeom>
          <a:noFill/>
          <a:ln w="9525">
            <a:noFill/>
            <a:headEnd/>
            <a:tailEnd/>
          </a:ln>
        </p:spPr>
      </p:pic>
      <p:sp>
        <p:nvSpPr>
          <p:cNvPr id="4" name="TextBox 3"/>
          <p:cNvSpPr txBox="1">
            <a:spLocks noGrp="1"/>
          </p:cNvSpPr>
          <p:nvPr>
            <p:ph idx="1"/>
          </p:nvPr>
        </p:nvSpPr>
        <p:spPr>
          <a:xfrm>
            <a:off x="457200" y="4076700"/>
            <a:ext cx="8229600" cy="508000"/>
          </a:xfrm>
          <a:prstGeom prst="rect">
            <a:avLst/>
          </a:prstGeom>
          <a:noFill/>
        </p:spPr>
        <p:txBody>
          <a:bodyPr/>
          <a:lstStyle/>
          <a:p>
            <a:pPr marL="0" lvl="0" indent="0" algn="ctr">
              <a:buNone/>
            </a:pPr>
            <a:r>
              <a:t>Problem → Plan → Data → Analysis → Conclusion (adapted from F. Harrell, Biostatistics for Biomedical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7606</Words>
  <Application>Microsoft Office PowerPoint</Application>
  <PresentationFormat>On-screen Show (16:9)</PresentationFormat>
  <Paragraphs>800</Paragraphs>
  <Slides>197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197</vt:i4>
      </vt:variant>
    </vt:vector>
  </HeadingPairs>
  <TitlesOfParts>
    <vt:vector size="201" baseType="lpstr">
      <vt:lpstr>Arial</vt:lpstr>
      <vt:lpstr>Calibri</vt:lpstr>
      <vt:lpstr>Cambria Math</vt:lpstr>
      <vt:lpstr>Office Theme</vt:lpstr>
      <vt:lpstr>Science Before Statistics</vt:lpstr>
      <vt:lpstr>Science Before Statistics</vt:lpstr>
      <vt:lpstr>On research quality</vt:lpstr>
      <vt:lpstr>Why methodology matters</vt:lpstr>
      <vt:lpstr>Research incentives — the problem</vt:lpstr>
      <vt:lpstr>Practices resulting from prioritizing publication appearance over quality (1/2)</vt:lpstr>
      <vt:lpstr>Practices resulting from prioritizing publication appearance over quality (2/2)</vt:lpstr>
      <vt:lpstr>The research process</vt:lpstr>
      <vt:lpstr>What is Science?</vt:lpstr>
      <vt:lpstr>What Science is not! (popular myths)</vt:lpstr>
      <vt:lpstr>Knowledge comes in many forms</vt:lpstr>
      <vt:lpstr>Areas of Science</vt:lpstr>
      <vt:lpstr>Why understand science?</vt:lpstr>
      <vt:lpstr>Why we need to understand</vt:lpstr>
      <vt:lpstr>Why we need to understand — the aftermath</vt:lpstr>
      <vt:lpstr>Major flaws with this study</vt:lpstr>
      <vt:lpstr>Major flaws with this study — what happened next</vt:lpstr>
      <vt:lpstr>Philosophy of Science</vt:lpstr>
      <vt:lpstr>Four terms: four meanings</vt:lpstr>
      <vt:lpstr>A fact</vt:lpstr>
      <vt:lpstr>A law</vt:lpstr>
      <vt:lpstr>A scientific hypothesis</vt:lpstr>
      <vt:lpstr>A scientific hypothesis — testability</vt:lpstr>
      <vt:lpstr>A theory</vt:lpstr>
      <vt:lpstr>Evidence</vt:lpstr>
      <vt:lpstr>Evidence — when a hypothesis is not verified</vt:lpstr>
      <vt:lpstr>Hypothetico-deductive reasoning</vt:lpstr>
      <vt:lpstr>Example: Echinacea and the common cold</vt:lpstr>
      <vt:lpstr>Example: testable predictions</vt:lpstr>
      <vt:lpstr>Example: conclusions</vt:lpstr>
      <vt:lpstr>Popper on induction</vt:lpstr>
      <vt:lpstr>Failure of falsification</vt:lpstr>
      <vt:lpstr>Against selection-of-test thinking</vt:lpstr>
      <vt:lpstr>Against selection-of-test thinking — credits</vt:lpstr>
      <vt:lpstr>Choosing a statistical test</vt:lpstr>
      <vt:lpstr>Philosophy of Science — Inductivism</vt:lpstr>
      <vt:lpstr>Philosophy of Science — Inductivism (cont.)</vt:lpstr>
      <vt:lpstr>Some forms of inductivism</vt:lpstr>
      <vt:lpstr>Problems with inductivism</vt:lpstr>
      <vt:lpstr>Hypothetico-deductive and falsification</vt:lpstr>
      <vt:lpstr>Hypothetico-deductive and falsification — Fisher’s framing</vt:lpstr>
      <vt:lpstr>Issues with this theory</vt:lpstr>
      <vt:lpstr>The Bayesian approach</vt:lpstr>
      <vt:lpstr>The Bayesian approach — Poincaré</vt:lpstr>
      <vt:lpstr>The Bayesian approach — reasoning</vt:lpstr>
      <vt:lpstr>The Bayesian approach — Bayes’ theorem</vt:lpstr>
      <vt:lpstr>Frequentist vs Bayesian (1/3)</vt:lpstr>
      <vt:lpstr>Frequentist vs Bayesian (2/3)</vt:lpstr>
      <vt:lpstr>Frequentist vs Bayesian (3/3)</vt:lpstr>
      <vt:lpstr>A lighter look at Bayesian vs frequentist</vt:lpstr>
      <vt:lpstr>A few words on: Pseudoscience</vt:lpstr>
      <vt:lpstr>A few words on: Pseudoscience (cont.)</vt:lpstr>
      <vt:lpstr>How to recognize Pseudoscience</vt:lpstr>
      <vt:lpstr>The Research Question and Study Designs</vt:lpstr>
      <vt:lpstr>Right problem and right question</vt:lpstr>
      <vt:lpstr>Research question</vt:lpstr>
      <vt:lpstr>On the right reasons to do research</vt:lpstr>
      <vt:lpstr>What is the research question?</vt:lpstr>
      <vt:lpstr>Question types</vt:lpstr>
      <vt:lpstr>Background vs Foreground questions</vt:lpstr>
      <vt:lpstr>Background vs Foreground — components</vt:lpstr>
      <vt:lpstr>Background vs Foreground — examples</vt:lpstr>
      <vt:lpstr>Question and study design</vt:lpstr>
      <vt:lpstr>Types of clinical questions</vt:lpstr>
      <vt:lpstr>Methodological design</vt:lpstr>
      <vt:lpstr>Diagnosis and Prognosis</vt:lpstr>
      <vt:lpstr>Etiology and Treatment</vt:lpstr>
      <vt:lpstr>Matching the question type to study designs</vt:lpstr>
      <vt:lpstr>The research process — elements</vt:lpstr>
      <vt:lpstr>Study designs</vt:lpstr>
      <vt:lpstr>Study designs — overview</vt:lpstr>
      <vt:lpstr>Study designs — illustrated</vt:lpstr>
      <vt:lpstr>Prospective vs retrospective studies</vt:lpstr>
      <vt:lpstr>Key questions for choosing a design</vt:lpstr>
      <vt:lpstr>Pyramids? Not very accurate!</vt:lpstr>
      <vt:lpstr>Pyramids — the takeaway</vt:lpstr>
      <vt:lpstr>Cohort studies</vt:lpstr>
      <vt:lpstr>“Cohort” — the word’s origin</vt:lpstr>
      <vt:lpstr>“Cohort” — what it means today</vt:lpstr>
      <vt:lpstr>Cohort studies — basic analytical approach</vt:lpstr>
      <vt:lpstr>Cohort studies — closed cohort example</vt:lpstr>
      <vt:lpstr>Variations of cohort studies</vt:lpstr>
      <vt:lpstr>Cohort studies — characteristics</vt:lpstr>
      <vt:lpstr>Example. Rotterdam Study</vt:lpstr>
      <vt:lpstr>Rotterdam Study — examination cycles</vt:lpstr>
      <vt:lpstr>Rotterdam Study — research questions</vt:lpstr>
      <vt:lpstr>Rotterdam Study — research questions (cont.)</vt:lpstr>
      <vt:lpstr>Case-control study</vt:lpstr>
      <vt:lpstr>Case-control study — schematic design</vt:lpstr>
      <vt:lpstr>Case-control study — hypothetical cohort view</vt:lpstr>
      <vt:lpstr>Cohort vs Case-control — comparison</vt:lpstr>
      <vt:lpstr>Sampling strategies</vt:lpstr>
      <vt:lpstr>Case-control — example: tobacco and lung cancer</vt:lpstr>
      <vt:lpstr>Case-control — characteristics</vt:lpstr>
      <vt:lpstr>Cross sectional studies</vt:lpstr>
      <vt:lpstr>Cross sectional studies — schematic representation</vt:lpstr>
      <vt:lpstr>Cross sectional studies — characteristics</vt:lpstr>
      <vt:lpstr>Cross sectional — example</vt:lpstr>
      <vt:lpstr>Cross sectional — example (reference)</vt:lpstr>
      <vt:lpstr>Observational designs — measures summary</vt:lpstr>
      <vt:lpstr>Activity</vt:lpstr>
      <vt:lpstr>Activity — results</vt:lpstr>
      <vt:lpstr>Diagnostic test assessment (DTA)</vt:lpstr>
      <vt:lpstr>DTA — basic design</vt:lpstr>
      <vt:lpstr>Diagnostic performance — ROC curve</vt:lpstr>
      <vt:lpstr>Case report / Case series</vt:lpstr>
      <vt:lpstr>Case series or cohort study?</vt:lpstr>
      <vt:lpstr>Case series or cohort study? — the cohort view</vt:lpstr>
      <vt:lpstr>Case series or cohort study? — relative risk formula</vt:lpstr>
      <vt:lpstr>Case series or cohort study? — case series structure</vt:lpstr>
      <vt:lpstr>Case series structure</vt:lpstr>
      <vt:lpstr>Case series — the sampling view</vt:lpstr>
      <vt:lpstr>Difference between the two designs</vt:lpstr>
      <vt:lpstr>Key points</vt:lpstr>
      <vt:lpstr>Randomized clinical trial</vt:lpstr>
      <vt:lpstr>Characteristics of clinical trials</vt:lpstr>
      <vt:lpstr>Basic scheme</vt:lpstr>
      <vt:lpstr>A bit of history</vt:lpstr>
      <vt:lpstr>A bit of history — reference</vt:lpstr>
      <vt:lpstr>The streptomycin trial — results</vt:lpstr>
      <vt:lpstr>The streptomycin trial — mortality</vt:lpstr>
      <vt:lpstr>The streptomycin trial — radiological assessment</vt:lpstr>
      <vt:lpstr>Systematic reviews</vt:lpstr>
      <vt:lpstr>Systematic reviews — built brick by brick</vt:lpstr>
      <vt:lpstr>Why do we need systematic reviews</vt:lpstr>
      <vt:lpstr>The exponential growth of the literature</vt:lpstr>
      <vt:lpstr>Systematic reviews — the process</vt:lpstr>
      <vt:lpstr>Forest plots — reading the summary of evidence</vt:lpstr>
      <vt:lpstr>Forest plot — worked example</vt:lpstr>
      <vt:lpstr>Forrest plot</vt:lpstr>
      <vt:lpstr>Forrest plot — the connection</vt:lpstr>
      <vt:lpstr>General Aims of Data Analysis</vt:lpstr>
      <vt:lpstr>Steps in the research process</vt:lpstr>
      <vt:lpstr>Three scientific tasks of data science</vt:lpstr>
      <vt:lpstr>Description</vt:lpstr>
      <vt:lpstr>Prediction</vt:lpstr>
      <vt:lpstr>Causal inference</vt:lpstr>
      <vt:lpstr>The research objectives</vt:lpstr>
      <vt:lpstr>Objectives as a route map</vt:lpstr>
      <vt:lpstr>On invention and method</vt:lpstr>
      <vt:lpstr>To Explain or to Predict? — Shmueli 2010</vt:lpstr>
      <vt:lpstr>Why modeling frameworks matter</vt:lpstr>
      <vt:lpstr>To Explain or to Predict?</vt:lpstr>
      <vt:lpstr>Explanatory modeling</vt:lpstr>
      <vt:lpstr>Predictive modeling</vt:lpstr>
      <vt:lpstr>Two modeling paths</vt:lpstr>
      <vt:lpstr>Descriptive Modeling</vt:lpstr>
      <vt:lpstr>Descriptive Modeling (cont.)</vt:lpstr>
      <vt:lpstr>Association versus Causation</vt:lpstr>
      <vt:lpstr>Association versus Causation — types</vt:lpstr>
      <vt:lpstr>Association — a clinical example</vt:lpstr>
      <vt:lpstr>Association — advancing the reasoning</vt:lpstr>
      <vt:lpstr>From association to causation in epidemiology</vt:lpstr>
      <vt:lpstr>Open your mind,</vt:lpstr>
      <vt:lpstr>Open your mind, (cont.)</vt:lpstr>
      <vt:lpstr>Open your mind — the question</vt:lpstr>
      <vt:lpstr>Assumptions of causality (1/2)</vt:lpstr>
      <vt:lpstr>Assumptions of causality (2/2)</vt:lpstr>
      <vt:lpstr>Association versus Causation (conceptually speaking)</vt:lpstr>
      <vt:lpstr>Correlation is not causation</vt:lpstr>
      <vt:lpstr>Dark Causal Inference (1/2)</vt:lpstr>
      <vt:lpstr>Dark Causal Inference (2/2)</vt:lpstr>
      <vt:lpstr>“Effect” Without an Intervention — Electric Blankets and Childhood Cancer</vt:lpstr>
      <vt:lpstr>The “Risk Factor” Label — Perinatal Exposures and Maternal Morbidity</vt:lpstr>
      <vt:lpstr>The Convenience Disclaimer — Income and Happiness</vt:lpstr>
      <vt:lpstr>Hydroxychloroquine and COVID-19 mortality (1/2)</vt:lpstr>
      <vt:lpstr>Hydroxychloroquine and COVID-19 mortality (2/2)</vt:lpstr>
      <vt:lpstr>COVID-19 severity: Smoking as a “Risk Factor” (1/2)</vt:lpstr>
      <vt:lpstr>COVID-19 severity: Smoking as a “Risk Factor” (2/2)</vt:lpstr>
      <vt:lpstr>Research Questions: The Fundamental Triad</vt:lpstr>
      <vt:lpstr>Research Questions: The Fundamental Triad — key principle</vt:lpstr>
      <vt:lpstr>The Problem with “Association”</vt:lpstr>
      <vt:lpstr>The Problem with “risk factors to…” (1/2)</vt:lpstr>
      <vt:lpstr>The Problem with “risk factors to…” (2/2)</vt:lpstr>
      <vt:lpstr>The “Plague” of Risk Factor Epidemiology &amp; False Positives (1/2)</vt:lpstr>
      <vt:lpstr>The “Plague” of Risk Factor Epidemiology &amp; False Positives (2/2)</vt:lpstr>
      <vt:lpstr>The “Risk Factor” Trap: Methodological Pitfalls (1/2)</vt:lpstr>
      <vt:lpstr>The “Risk Factor” Trap: Methodological Pitfalls (2/2)</vt:lpstr>
      <vt:lpstr>Transparent Use of Scientific Language</vt:lpstr>
      <vt:lpstr>Transparent Use of Scientific Language — assumptions</vt:lpstr>
      <vt:lpstr>Research Objectives and Interpretation</vt:lpstr>
      <vt:lpstr>Research Objectives and Interpretation — core principle</vt:lpstr>
      <vt:lpstr>The importance of language</vt:lpstr>
      <vt:lpstr>The importance of language — reference</vt:lpstr>
      <vt:lpstr>A statistical “bingo card” of common pitfalls</vt:lpstr>
      <vt:lpstr>The CHAMP statement</vt:lpstr>
      <vt:lpstr>CHAMP — design and conduct</vt:lpstr>
      <vt:lpstr>CHAMP — data analysis</vt:lpstr>
      <vt:lpstr>CHAMP — reporting and presentation</vt:lpstr>
      <vt:lpstr>CHAMP — interpretation</vt:lpstr>
      <vt:lpstr>What is Biostatistics</vt:lpstr>
      <vt:lpstr>I need a scientific question</vt:lpstr>
      <vt:lpstr>I need a scientific question — translation</vt:lpstr>
      <vt:lpstr>What is Biostatistics</vt:lpstr>
      <vt:lpstr>What is Biostatistics (cont.)</vt:lpstr>
      <vt:lpstr>Statistical scientific method</vt:lpstr>
      <vt:lpstr>Putting it all together</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11</Words>
  <Application>Microsoft Office PowerPoint</Application>
  <PresentationFormat>On-screen Show (16:9)</PresentationFormat>
  <Paragraphs>5</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Title</vt:lpstr>
      <vt:lpstr>A heading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Before Statistics</dc:title>
  <dc:creator>Jose Andres Calvache MD MSc PhD</dc:creator>
  <cp:keywords/>
  <cp:lastModifiedBy>JOSE ANDRES CALVACHE ESPANA</cp:lastModifiedBy>
  <cp:revision>1</cp:revision>
  <dcterms:created xsi:type="dcterms:W3CDTF">2026-10-05T00:12:27Z</dcterms:created>
  <dcterms:modified xsi:type="dcterms:W3CDTF">2026-10-05T00:12:40Z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2026-10-04</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
  </property>
  <property fmtid="{D5CDD505-2E9C-101B-9397-08002B2CF9AE}" pid="13" name="institutes">
    <vt:lpwstr/>
  </property>
  <property fmtid="{D5CDD505-2E9C-101B-9397-08002B2CF9AE}" pid="14" name="labels">
    <vt:lpwstr/>
  </property>
  <property fmtid="{D5CDD505-2E9C-101B-9397-08002B2CF9AE}" pid="15" name="subtitle">
    <vt:lpwstr>Section 1 — Introduction to Biostatistics</vt:lpwstr>
  </property>
  <property fmtid="{D5CDD505-2E9C-101B-9397-08002B2CF9AE}" pid="16" name="toc-title">
    <vt:lpwstr>Table of contents</vt:lpwstr>
  </property>
</Properties>
</file>