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61" d="100"/>
          <a:sy n="161" d="100"/>
        </p:scale>
        <p:origin x="560" y="20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defRPr>
                <a:solidFill>
                  <a:srgbClr val="08295E"/>
                </a:solidFill>
              </a:defRPr>
            </a:lvl1p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solidFill>
                  <a:srgbClr val="08295E"/>
                </a:solidFill>
              </a:defRPr>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solidFill>
                  <a:srgbClr val="08295E"/>
                </a:solidFill>
              </a:defRPr>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solidFill>
                  <a:srgbClr val="08295E"/>
                </a:solidFill>
              </a:defRPr>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8295E"/>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10/4/2026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rgbClr val="08295E"/>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leanpub.com/universities/courses/jhu/udsml" TargetMode="External"/><Relationship Id="rId2" Type="http://schemas.openxmlformats.org/officeDocument/2006/relationships/hyperlink" Target="https://osf.io/xk76p/overview"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coursera.org/learn/clinical-epidemiolog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jacalvache/" TargetMode="External"/><Relationship Id="rId2" Type="http://schemas.openxmlformats.org/officeDocument/2006/relationships/hyperlink" Target="https://jacalvache.github.io/intro_biostat_2026/"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jacalvache.github.i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Introduction to Biostatistics</a:t>
            </a:r>
          </a:p>
        </p:txBody>
      </p:sp>
      <p:sp>
        <p:nvSpPr>
          <p:cNvPr id="3" name="Subtitle 2"/>
          <p:cNvSpPr>
            <a:spLocks noGrp="1"/>
          </p:cNvSpPr>
          <p:nvPr>
            <p:ph type="subTitle" idx="1"/>
          </p:nvPr>
        </p:nvSpPr>
        <p:spPr>
          <a:xfrm>
            <a:off x="1371600" y="2914650"/>
            <a:ext cx="6400800" cy="1314450"/>
          </a:xfrm>
        </p:spPr>
        <p:txBody>
          <a:bodyPr/>
          <a:lstStyle/>
          <a:p>
            <a:pPr marL="0" lvl="0" indent="0">
              <a:buNone/>
            </a:pPr>
            <a:r>
              <a:t>with emphasis on interpretation — Basic course</a:t>
            </a:r>
            <a:br/>
            <a:br/>
            <a:r>
              <a:t>Jose Andres Calvache MD MSc PhD</a:t>
            </a:r>
          </a:p>
        </p:txBody>
      </p:sp>
      <p:sp>
        <p:nvSpPr>
          <p:cNvPr id="4" name="Date Placeholder 3"/>
          <p:cNvSpPr>
            <a:spLocks noGrp="1"/>
          </p:cNvSpPr>
          <p:nvPr>
            <p:ph type="dt" sz="half" idx="10"/>
          </p:nvPr>
        </p:nvSpPr>
        <p:spPr/>
        <p:txBody>
          <a:bodyPr/>
          <a:lstStyle/>
          <a:p>
            <a:pPr marL="0" lvl="0" indent="0">
              <a:buNone/>
            </a:pPr>
            <a:r>
              <a:t>2026-10-04</a:t>
            </a:r>
          </a:p>
        </p:txBody>
      </p:sp>
      <p:pic>
        <p:nvPicPr>
          <p:cNvPr id="6" name="Picture 5">
            <a:extLst>
              <a:ext uri="{FF2B5EF4-FFF2-40B4-BE49-F238E27FC236}">
                <a16:creationId xmlns:a16="http://schemas.microsoft.com/office/drawing/2014/main" id="{D31C5FD9-9BBA-F4F2-51D0-37A85D3020ED}"/>
              </a:ext>
            </a:extLst>
          </p:cNvPr>
          <p:cNvPicPr>
            <a:picLocks noChangeAspect="1"/>
          </p:cNvPicPr>
          <p:nvPr/>
        </p:nvPicPr>
        <p:blipFill>
          <a:blip r:embed="rId2"/>
          <a:stretch>
            <a:fillRect/>
          </a:stretch>
        </p:blipFill>
        <p:spPr>
          <a:xfrm>
            <a:off x="7439237" y="127000"/>
            <a:ext cx="214279" cy="330200"/>
          </a:xfrm>
          <a:prstGeom prst="rect">
            <a:avLst/>
          </a:prstGeom>
        </p:spPr>
      </p:pic>
      <p:pic>
        <p:nvPicPr>
          <p:cNvPr id="8" name="Picture 7">
            <a:extLst>
              <a:ext uri="{FF2B5EF4-FFF2-40B4-BE49-F238E27FC236}">
                <a16:creationId xmlns:a16="http://schemas.microsoft.com/office/drawing/2014/main" id="{8A0F17D4-B029-7F22-6F35-728716E65C20}"/>
              </a:ext>
            </a:extLst>
          </p:cNvPr>
          <p:cNvPicPr>
            <a:picLocks noChangeAspect="1"/>
          </p:cNvPicPr>
          <p:nvPr/>
        </p:nvPicPr>
        <p:blipFill>
          <a:blip r:embed="rId3"/>
          <a:stretch>
            <a:fillRect/>
          </a:stretch>
        </p:blipFill>
        <p:spPr>
          <a:xfrm>
            <a:off x="7755116" y="127000"/>
            <a:ext cx="288570" cy="330200"/>
          </a:xfrm>
          <a:prstGeom prst="rect">
            <a:avLst/>
          </a:prstGeom>
        </p:spPr>
      </p:pic>
      <p:pic>
        <p:nvPicPr>
          <p:cNvPr id="10" name="Picture 9">
            <a:extLst>
              <a:ext uri="{FF2B5EF4-FFF2-40B4-BE49-F238E27FC236}">
                <a16:creationId xmlns:a16="http://schemas.microsoft.com/office/drawing/2014/main" id="{C71CC62A-584F-00E3-6D4F-65FE0DF5E344}"/>
              </a:ext>
            </a:extLst>
          </p:cNvPr>
          <p:cNvPicPr>
            <a:picLocks noChangeAspect="1"/>
          </p:cNvPicPr>
          <p:nvPr/>
        </p:nvPicPr>
        <p:blipFill>
          <a:blip r:embed="rId4"/>
          <a:stretch>
            <a:fillRect/>
          </a:stretch>
        </p:blipFill>
        <p:spPr>
          <a:xfrm>
            <a:off x="8145286" y="127000"/>
            <a:ext cx="820914" cy="330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General overview</a:t>
            </a:r>
          </a:p>
        </p:txBody>
      </p:sp>
      <p:sp>
        <p:nvSpPr>
          <p:cNvPr id="3" name="Content Placeholder 2"/>
          <p:cNvSpPr>
            <a:spLocks noGrp="1"/>
          </p:cNvSpPr>
          <p:nvPr>
            <p:ph idx="1"/>
          </p:nvPr>
        </p:nvSpPr>
        <p:spPr/>
        <p:txBody>
          <a:bodyPr/>
          <a:lstStyle/>
          <a:p>
            <a:pPr marL="0" lvl="0" indent="0">
              <a:buNone/>
            </a:pPr>
            <a:r>
              <a:t>A course with an emphasis on the </a:t>
            </a:r>
            <a:r>
              <a:rPr b="1"/>
              <a:t>interpretation of research results</a:t>
            </a:r>
            <a:r>
              <a:t>. It presents the basic precepts and underlying principles of the primary methods of epidemiological data analysis and statistical methods.</a:t>
            </a:r>
          </a:p>
          <a:p>
            <a:pPr lvl="0"/>
            <a:r>
              <a:t>A general introduction to the basic statistical concepts used in biomedical and public health applications</a:t>
            </a:r>
          </a:p>
          <a:p>
            <a:pPr lvl="0"/>
            <a:r>
              <a:t>Main goal: a conceptual understanding of the principles of scientific thinking and of epidemiological data analysis, with emphasis on interpreting the current scientific literature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path through the course (1/2)</a:t>
            </a:r>
          </a:p>
        </p:txBody>
      </p:sp>
      <p:sp>
        <p:nvSpPr>
          <p:cNvPr id="3" name="Content Placeholder 2"/>
          <p:cNvSpPr>
            <a:spLocks noGrp="1"/>
          </p:cNvSpPr>
          <p:nvPr>
            <p:ph idx="1"/>
          </p:nvPr>
        </p:nvSpPr>
        <p:spPr/>
        <p:txBody>
          <a:bodyPr/>
          <a:lstStyle/>
          <a:p>
            <a:pPr marL="342900" lvl="0" indent="-342900">
              <a:buAutoNum type="arabicPeriod"/>
            </a:pPr>
            <a:r>
              <a:rPr b="1"/>
              <a:t>Science before statistics:</a:t>
            </a:r>
            <a:r>
              <a:t> description, causality and prediction as aims of data analysis; research designs and research questions</a:t>
            </a:r>
          </a:p>
          <a:p>
            <a:pPr marL="342900" lvl="0" indent="-342900">
              <a:buAutoNum type="arabicPeriod"/>
            </a:pPr>
            <a:r>
              <a:rPr b="1"/>
              <a:t>Describing data:</a:t>
            </a:r>
            <a:r>
              <a:t> tables, graphs, distributions and summary statistics as reported in medical journals; measures of disease occurrence, association and risk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path through the course (2/2)</a:t>
            </a:r>
          </a:p>
        </p:txBody>
      </p:sp>
      <p:sp>
        <p:nvSpPr>
          <p:cNvPr id="3" name="Content Placeholder 2"/>
          <p:cNvSpPr>
            <a:spLocks noGrp="1"/>
          </p:cNvSpPr>
          <p:nvPr>
            <p:ph idx="1"/>
          </p:nvPr>
        </p:nvSpPr>
        <p:spPr/>
        <p:txBody>
          <a:bodyPr/>
          <a:lstStyle/>
          <a:p>
            <a:pPr marL="342900" lvl="0" indent="-342900">
              <a:buAutoNum type="arabicPeriod" startAt="3"/>
            </a:pPr>
            <a:r>
              <a:rPr b="1"/>
              <a:t>Statistical inference:</a:t>
            </a:r>
            <a:r>
              <a:t> hypothesis testing, estimation, and the analysis of continuous and categorical data</a:t>
            </a:r>
          </a:p>
          <a:p>
            <a:pPr marL="342900" lvl="0" indent="-342900">
              <a:buAutoNum type="arabicPeriod" startAt="3"/>
            </a:pPr>
            <a:r>
              <a:rPr b="1"/>
              <a:t>Stratified analysis and multivariable models:</a:t>
            </a:r>
            <a:r>
              <a:t> linear, multiple and logistic regression, and the Cox proportional hazards model — with emphasis on how they are reported and interpreted in the literature</a:t>
            </a:r>
          </a:p>
          <a:p>
            <a:pPr marL="342900" lvl="0" indent="-342900">
              <a:buAutoNum type="arabicPeriod" startAt="3"/>
            </a:pPr>
            <a:r>
              <a:rPr b="1"/>
              <a:t>Time-to-event data:</a:t>
            </a:r>
            <a:r>
              <a:t> survival analysis closes the course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Principal aims (1/2)</a:t>
            </a:r>
          </a:p>
        </p:txBody>
      </p:sp>
      <p:sp>
        <p:nvSpPr>
          <p:cNvPr id="3" name="Content Placeholder 2"/>
          <p:cNvSpPr>
            <a:spLocks noGrp="1"/>
          </p:cNvSpPr>
          <p:nvPr>
            <p:ph idx="1"/>
          </p:nvPr>
        </p:nvSpPr>
        <p:spPr/>
        <p:txBody>
          <a:bodyPr/>
          <a:lstStyle/>
          <a:p>
            <a:pPr lvl="0"/>
            <a:r>
              <a:t>Introduce basic epidemiological and methodological concepts of health research, up to the interpretation of the most common statistical analyses in the biomedical literature</a:t>
            </a:r>
          </a:p>
          <a:p>
            <a:pPr lvl="0"/>
            <a:r>
              <a:t>Acquire the ability to explain and demonstrate the advantages of adequately describing data as a first step of the scientific method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Principal aims (2/2)</a:t>
            </a:r>
          </a:p>
        </p:txBody>
      </p:sp>
      <p:sp>
        <p:nvSpPr>
          <p:cNvPr id="3" name="Content Placeholder 2"/>
          <p:cNvSpPr>
            <a:spLocks noGrp="1"/>
          </p:cNvSpPr>
          <p:nvPr>
            <p:ph idx="1"/>
          </p:nvPr>
        </p:nvSpPr>
        <p:spPr/>
        <p:txBody>
          <a:bodyPr/>
          <a:lstStyle/>
          <a:p>
            <a:pPr lvl="0"/>
            <a:r>
              <a:t>Develop skills in the description, presentation, interpretation and summary of data</a:t>
            </a:r>
          </a:p>
          <a:p>
            <a:pPr lvl="0"/>
            <a:r>
              <a:t>Objectively analyze and interpret the quality and reporting of the analyses and results of biomedical scientific research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Who is this course for?</a:t>
            </a:r>
          </a:p>
        </p:txBody>
      </p:sp>
      <p:sp>
        <p:nvSpPr>
          <p:cNvPr id="3" name="Content Placeholder 2"/>
          <p:cNvSpPr>
            <a:spLocks noGrp="1"/>
          </p:cNvSpPr>
          <p:nvPr>
            <p:ph idx="1"/>
          </p:nvPr>
        </p:nvSpPr>
        <p:spPr/>
        <p:txBody>
          <a:bodyPr/>
          <a:lstStyle/>
          <a:p>
            <a:pPr lvl="0"/>
            <a:r>
              <a:t>Anyone interested in the principles of epidemiological data analysis, from any biomedical or related profession</a:t>
            </a:r>
          </a:p>
          <a:p>
            <a:pPr lvl="0"/>
            <a:r>
              <a:t>Participants are recommended to have completed a basic course in epidemiological study design</a:t>
            </a:r>
          </a:p>
          <a:p>
            <a:pPr lvl="0"/>
            <a:r>
              <a:t>The main focus is on </a:t>
            </a:r>
            <a:r>
              <a:rPr b="1"/>
              <a:t>interpretation</a:t>
            </a:r>
            <a:r>
              <a:t>, rather than on direct analytical skills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course at a glance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Format</a:t>
                      </a:r>
                    </a:p>
                  </a:txBody>
                  <a:tcPr/>
                </a:tc>
                <a:tc>
                  <a:txBody>
                    <a:bodyPr/>
                    <a:lstStyle/>
                    <a:p>
                      <a:pPr marL="0" lvl="0" indent="0">
                        <a:buNone/>
                      </a:pPr>
                      <a:r>
                        <a:t>6 face-to-face sessions, 2:00 – 5:30 pm</a:t>
                      </a:r>
                    </a:p>
                  </a:txBody>
                  <a:tcPr/>
                </a:tc>
                <a:extLst>
                  <a:ext uri="{0D108BD9-81ED-4DB2-BD59-A6C34878D82A}">
                    <a16:rowId xmlns:a16="http://schemas.microsoft.com/office/drawing/2014/main" val="10000"/>
                  </a:ext>
                </a:extLst>
              </a:tr>
              <a:tr h="0">
                <a:tc>
                  <a:txBody>
                    <a:bodyPr/>
                    <a:lstStyle/>
                    <a:p>
                      <a:pPr marL="0" lvl="0" indent="0">
                        <a:buNone/>
                      </a:pPr>
                      <a:r>
                        <a:t>Location</a:t>
                      </a:r>
                    </a:p>
                  </a:txBody>
                  <a:tcPr/>
                </a:tc>
                <a:tc>
                  <a:txBody>
                    <a:bodyPr/>
                    <a:lstStyle/>
                    <a:p>
                      <a:pPr marL="0" lvl="0" indent="0">
                        <a:buNone/>
                      </a:pPr>
                      <a:r>
                        <a:t>Room 105, Faculty of Health Sciences, Universidad del Cauca, Popayán</a:t>
                      </a:r>
                    </a:p>
                  </a:txBody>
                  <a:tcPr/>
                </a:tc>
                <a:extLst>
                  <a:ext uri="{0D108BD9-81ED-4DB2-BD59-A6C34878D82A}">
                    <a16:rowId xmlns:a16="http://schemas.microsoft.com/office/drawing/2014/main" val="10001"/>
                  </a:ext>
                </a:extLst>
              </a:tr>
              <a:tr h="0">
                <a:tc>
                  <a:txBody>
                    <a:bodyPr/>
                    <a:lstStyle/>
                    <a:p>
                      <a:pPr marL="0" lvl="0" indent="0">
                        <a:buNone/>
                      </a:pPr>
                      <a:r>
                        <a:t>Level</a:t>
                      </a:r>
                    </a:p>
                  </a:txBody>
                  <a:tcPr/>
                </a:tc>
                <a:tc>
                  <a:txBody>
                    <a:bodyPr/>
                    <a:lstStyle/>
                    <a:p>
                      <a:pPr marL="0" lvl="0" indent="0">
                        <a:buNone/>
                      </a:pPr>
                      <a:r>
                        <a:t>Basic; introductory</a:t>
                      </a:r>
                    </a:p>
                  </a:txBody>
                  <a:tcPr/>
                </a:tc>
                <a:extLst>
                  <a:ext uri="{0D108BD9-81ED-4DB2-BD59-A6C34878D82A}">
                    <a16:rowId xmlns:a16="http://schemas.microsoft.com/office/drawing/2014/main" val="10002"/>
                  </a:ext>
                </a:extLst>
              </a:tr>
              <a:tr h="0">
                <a:tc>
                  <a:txBody>
                    <a:bodyPr/>
                    <a:lstStyle/>
                    <a:p>
                      <a:pPr marL="0" lvl="0" indent="0">
                        <a:buNone/>
                      </a:pPr>
                      <a:r>
                        <a:t>Prerequisites</a:t>
                      </a:r>
                    </a:p>
                  </a:txBody>
                  <a:tcPr/>
                </a:tc>
                <a:tc>
                  <a:txBody>
                    <a:bodyPr/>
                    <a:lstStyle/>
                    <a:p>
                      <a:pPr marL="0" lvl="0" indent="0">
                        <a:buNone/>
                      </a:pPr>
                      <a:r>
                        <a:t>Basic training in epidemiology and research designs</a:t>
                      </a:r>
                    </a:p>
                  </a:txBody>
                  <a:tcPr/>
                </a:tc>
                <a:extLst>
                  <a:ext uri="{0D108BD9-81ED-4DB2-BD59-A6C34878D82A}">
                    <a16:rowId xmlns:a16="http://schemas.microsoft.com/office/drawing/2014/main" val="10003"/>
                  </a:ext>
                </a:extLst>
              </a:tr>
              <a:tr h="0">
                <a:tc>
                  <a:txBody>
                    <a:bodyPr/>
                    <a:lstStyle/>
                    <a:p>
                      <a:pPr marL="0" lvl="0" indent="0">
                        <a:buNone/>
                      </a:pPr>
                      <a:r>
                        <a:t>Disciplines</a:t>
                      </a:r>
                    </a:p>
                  </a:txBody>
                  <a:tcPr/>
                </a:tc>
                <a:tc>
                  <a:txBody>
                    <a:bodyPr/>
                    <a:lstStyle/>
                    <a:p>
                      <a:pPr marL="0" lvl="0" indent="0">
                        <a:buNone/>
                      </a:pPr>
                      <a:r>
                        <a:t>Epidemiology and statistics</a:t>
                      </a:r>
                    </a:p>
                  </a:txBody>
                  <a:tcPr/>
                </a:tc>
                <a:extLst>
                  <a:ext uri="{0D108BD9-81ED-4DB2-BD59-A6C34878D82A}">
                    <a16:rowId xmlns:a16="http://schemas.microsoft.com/office/drawing/2014/main" val="10004"/>
                  </a:ext>
                </a:extLst>
              </a:tr>
              <a:tr h="0">
                <a:tc>
                  <a:txBody>
                    <a:bodyPr/>
                    <a:lstStyle/>
                    <a:p>
                      <a:pPr marL="0" lvl="0" indent="0">
                        <a:buNone/>
                      </a:pPr>
                      <a:r>
                        <a:t>Cost</a:t>
                      </a:r>
                    </a:p>
                  </a:txBody>
                  <a:tcPr/>
                </a:tc>
                <a:tc>
                  <a:txBody>
                    <a:bodyPr/>
                    <a:lstStyle/>
                    <a:p>
                      <a:pPr marL="0" lvl="0" indent="0">
                        <a:buNone/>
                      </a:pPr>
                      <a:r>
                        <a:t>Free access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Course structure (1/2)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0">
                <a:tc>
                  <a:txBody>
                    <a:bodyPr/>
                    <a:lstStyle/>
                    <a:p>
                      <a:pPr marL="0" lvl="0" indent="0">
                        <a:buNone/>
                      </a:pPr>
                      <a:r>
                        <a:t>Section</a:t>
                      </a:r>
                    </a:p>
                  </a:txBody>
                  <a:tcPr/>
                </a:tc>
                <a:tc>
                  <a:txBody>
                    <a:bodyPr/>
                    <a:lstStyle/>
                    <a:p>
                      <a:pPr marL="0" lvl="0" indent="0">
                        <a:buNone/>
                      </a:pPr>
                      <a:r>
                        <a:t>Topics</a:t>
                      </a:r>
                    </a:p>
                  </a:txBody>
                  <a:tcPr/>
                </a:tc>
                <a:extLst>
                  <a:ext uri="{0D108BD9-81ED-4DB2-BD59-A6C34878D82A}">
                    <a16:rowId xmlns:a16="http://schemas.microsoft.com/office/drawing/2014/main" val="10000"/>
                  </a:ext>
                </a:extLst>
              </a:tr>
              <a:tr h="0">
                <a:tc>
                  <a:txBody>
                    <a:bodyPr/>
                    <a:lstStyle/>
                    <a:p>
                      <a:pPr marL="0" lvl="0" indent="0">
                        <a:buNone/>
                      </a:pPr>
                      <a:r>
                        <a:t>1</a:t>
                      </a:r>
                    </a:p>
                  </a:txBody>
                  <a:tcPr/>
                </a:tc>
                <a:tc>
                  <a:txBody>
                    <a:bodyPr/>
                    <a:lstStyle/>
                    <a:p>
                      <a:pPr marL="0" lvl="0" indent="0">
                        <a:buNone/>
                      </a:pPr>
                      <a:r>
                        <a:t>“Science before statistics” · The research question and study designs · General aims of data analysis · Description, causality and prediction</a:t>
                      </a:r>
                    </a:p>
                  </a:txBody>
                  <a:tcPr/>
                </a:tc>
                <a:extLst>
                  <a:ext uri="{0D108BD9-81ED-4DB2-BD59-A6C34878D82A}">
                    <a16:rowId xmlns:a16="http://schemas.microsoft.com/office/drawing/2014/main" val="10001"/>
                  </a:ext>
                </a:extLst>
              </a:tr>
              <a:tr h="0">
                <a:tc>
                  <a:txBody>
                    <a:bodyPr/>
                    <a:lstStyle/>
                    <a:p>
                      <a:pPr marL="0" lvl="0" indent="0">
                        <a:buNone/>
                      </a:pPr>
                      <a:r>
                        <a:t>2</a:t>
                      </a:r>
                    </a:p>
                  </a:txBody>
                  <a:tcPr/>
                </a:tc>
                <a:tc>
                  <a:txBody>
                    <a:bodyPr/>
                    <a:lstStyle/>
                    <a:p>
                      <a:pPr marL="0" lvl="0" indent="0">
                        <a:buNone/>
                      </a:pPr>
                      <a:r>
                        <a:t>Types of data · Graphs and data description · Measures of disease occurrence · Measures of association and effect </a:t>
                      </a:r>
                      <a:r>
                        <a:rPr i="1"/>
                        <a:t>(Dr. Julian Velasquez)</a:t>
                      </a:r>
                    </a:p>
                  </a:txBody>
                  <a:tcPr/>
                </a:tc>
                <a:extLst>
                  <a:ext uri="{0D108BD9-81ED-4DB2-BD59-A6C34878D82A}">
                    <a16:rowId xmlns:a16="http://schemas.microsoft.com/office/drawing/2014/main" val="10002"/>
                  </a:ext>
                </a:extLst>
              </a:tr>
              <a:tr h="0">
                <a:tc>
                  <a:txBody>
                    <a:bodyPr/>
                    <a:lstStyle/>
                    <a:p>
                      <a:pPr marL="0" lvl="0" indent="0">
                        <a:buNone/>
                      </a:pPr>
                      <a:r>
                        <a:t>3</a:t>
                      </a:r>
                    </a:p>
                  </a:txBody>
                  <a:tcPr/>
                </a:tc>
                <a:tc>
                  <a:txBody>
                    <a:bodyPr/>
                    <a:lstStyle/>
                    <a:p>
                      <a:pPr marL="0" lvl="0" indent="0">
                        <a:buNone/>
                      </a:pPr>
                      <a:r>
                        <a:t>Statistical inference · Estimation and hypothesis testing · Analysis of continuous outcomes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Course structure (2/2)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0">
                <a:tc>
                  <a:txBody>
                    <a:bodyPr/>
                    <a:lstStyle/>
                    <a:p>
                      <a:pPr marL="0" lvl="0" indent="0">
                        <a:buNone/>
                      </a:pPr>
                      <a:r>
                        <a:t>Section</a:t>
                      </a:r>
                    </a:p>
                  </a:txBody>
                  <a:tcPr/>
                </a:tc>
                <a:tc>
                  <a:txBody>
                    <a:bodyPr/>
                    <a:lstStyle/>
                    <a:p>
                      <a:pPr marL="0" lvl="0" indent="0">
                        <a:buNone/>
                      </a:pPr>
                      <a:r>
                        <a:t>Topics</a:t>
                      </a:r>
                    </a:p>
                  </a:txBody>
                  <a:tcPr/>
                </a:tc>
                <a:extLst>
                  <a:ext uri="{0D108BD9-81ED-4DB2-BD59-A6C34878D82A}">
                    <a16:rowId xmlns:a16="http://schemas.microsoft.com/office/drawing/2014/main" val="10000"/>
                  </a:ext>
                </a:extLst>
              </a:tr>
              <a:tr h="0">
                <a:tc>
                  <a:txBody>
                    <a:bodyPr/>
                    <a:lstStyle/>
                    <a:p>
                      <a:pPr marL="0" lvl="0" indent="0">
                        <a:buNone/>
                      </a:pPr>
                      <a:r>
                        <a:t>4</a:t>
                      </a:r>
                    </a:p>
                  </a:txBody>
                  <a:tcPr/>
                </a:tc>
                <a:tc>
                  <a:txBody>
                    <a:bodyPr/>
                    <a:lstStyle/>
                    <a:p>
                      <a:pPr marL="0" lvl="0" indent="0">
                        <a:buNone/>
                      </a:pPr>
                      <a:r>
                        <a:t>Analysis of categorical outcomes · Stratified analysis · Meta-analysis</a:t>
                      </a:r>
                    </a:p>
                  </a:txBody>
                  <a:tcPr/>
                </a:tc>
                <a:extLst>
                  <a:ext uri="{0D108BD9-81ED-4DB2-BD59-A6C34878D82A}">
                    <a16:rowId xmlns:a16="http://schemas.microsoft.com/office/drawing/2014/main" val="10001"/>
                  </a:ext>
                </a:extLst>
              </a:tr>
              <a:tr h="0">
                <a:tc>
                  <a:txBody>
                    <a:bodyPr/>
                    <a:lstStyle/>
                    <a:p>
                      <a:pPr marL="0" lvl="0" indent="0">
                        <a:buNone/>
                      </a:pPr>
                      <a:r>
                        <a:t>5</a:t>
                      </a:r>
                    </a:p>
                  </a:txBody>
                  <a:tcPr/>
                </a:tc>
                <a:tc>
                  <a:txBody>
                    <a:bodyPr/>
                    <a:lstStyle/>
                    <a:p>
                      <a:pPr marL="0" lvl="0" indent="0">
                        <a:buNone/>
                      </a:pPr>
                      <a:r>
                        <a:t>Statistical modelling · Introduction to multivariable analysis · Confounding and adjustment · Linear, logistic and Cox regression</a:t>
                      </a:r>
                    </a:p>
                  </a:txBody>
                  <a:tcPr/>
                </a:tc>
                <a:extLst>
                  <a:ext uri="{0D108BD9-81ED-4DB2-BD59-A6C34878D82A}">
                    <a16:rowId xmlns:a16="http://schemas.microsoft.com/office/drawing/2014/main" val="10002"/>
                  </a:ext>
                </a:extLst>
              </a:tr>
              <a:tr h="0">
                <a:tc>
                  <a:txBody>
                    <a:bodyPr/>
                    <a:lstStyle/>
                    <a:p>
                      <a:pPr marL="0" lvl="0" indent="0">
                        <a:buNone/>
                      </a:pPr>
                      <a:r>
                        <a:t>6</a:t>
                      </a:r>
                    </a:p>
                  </a:txBody>
                  <a:tcPr/>
                </a:tc>
                <a:tc>
                  <a:txBody>
                    <a:bodyPr/>
                    <a:lstStyle/>
                    <a:p>
                      <a:pPr marL="0" lvl="0" indent="0">
                        <a:buNone/>
                      </a:pPr>
                      <a:r>
                        <a:t>Analysis of time-to-event data · Kaplan-Meier curves and the log-rank test · </a:t>
                      </a:r>
                      <a:r>
                        <a:rPr b="1"/>
                        <a:t>Final exam</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Readings by section (1/2)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0">
                <a:tc>
                  <a:txBody>
                    <a:bodyPr/>
                    <a:lstStyle/>
                    <a:p>
                      <a:pPr marL="0" lvl="0" indent="0">
                        <a:buNone/>
                      </a:pPr>
                      <a:r>
                        <a:t>Section</a:t>
                      </a:r>
                    </a:p>
                  </a:txBody>
                  <a:tcPr/>
                </a:tc>
                <a:tc>
                  <a:txBody>
                    <a:bodyPr/>
                    <a:lstStyle/>
                    <a:p>
                      <a:pPr marL="0" lvl="0" indent="0">
                        <a:buNone/>
                      </a:pPr>
                      <a:r>
                        <a:t>Readings and materials</a:t>
                      </a:r>
                    </a:p>
                  </a:txBody>
                  <a:tcPr/>
                </a:tc>
                <a:extLst>
                  <a:ext uri="{0D108BD9-81ED-4DB2-BD59-A6C34878D82A}">
                    <a16:rowId xmlns:a16="http://schemas.microsoft.com/office/drawing/2014/main" val="10000"/>
                  </a:ext>
                </a:extLst>
              </a:tr>
              <a:tr h="0">
                <a:tc>
                  <a:txBody>
                    <a:bodyPr/>
                    <a:lstStyle/>
                    <a:p>
                      <a:pPr marL="0" lvl="0" indent="0">
                        <a:buNone/>
                      </a:pPr>
                      <a:r>
                        <a:t>1</a:t>
                      </a:r>
                    </a:p>
                  </a:txBody>
                  <a:tcPr/>
                </a:tc>
                <a:tc>
                  <a:txBody>
                    <a:bodyPr/>
                    <a:lstStyle/>
                    <a:p>
                      <a:pPr marL="0" lvl="0" indent="0">
                        <a:buNone/>
                      </a:pPr>
                      <a:r>
                        <a:t>Shoemaker &amp; Delgado Noguera (2019), chapters 1–2 · </a:t>
                      </a:r>
                      <a:r>
                        <a:rPr i="1"/>
                        <a:t>Understanding Data and Statistics in the Medical Literature</a:t>
                      </a:r>
                      <a:r>
                        <a:t>: Data collection (pp. 1–31), Types of scientific questions (pp. 53–72), Study design (pp. 40–41)</a:t>
                      </a:r>
                    </a:p>
                  </a:txBody>
                  <a:tcPr/>
                </a:tc>
                <a:extLst>
                  <a:ext uri="{0D108BD9-81ED-4DB2-BD59-A6C34878D82A}">
                    <a16:rowId xmlns:a16="http://schemas.microsoft.com/office/drawing/2014/main" val="10001"/>
                  </a:ext>
                </a:extLst>
              </a:tr>
              <a:tr h="0">
                <a:tc>
                  <a:txBody>
                    <a:bodyPr/>
                    <a:lstStyle/>
                    <a:p>
                      <a:pPr marL="0" lvl="0" indent="0">
                        <a:buNone/>
                      </a:pPr>
                      <a:r>
                        <a:t>2</a:t>
                      </a:r>
                    </a:p>
                  </a:txBody>
                  <a:tcPr/>
                </a:tc>
                <a:tc>
                  <a:txBody>
                    <a:bodyPr/>
                    <a:lstStyle/>
                    <a:p>
                      <a:pPr marL="0" lvl="0" indent="0">
                        <a:buNone/>
                      </a:pPr>
                      <a:r>
                        <a:t>Shoemaker &amp; Delgado Noguera (2019), chapters 7–9 · </a:t>
                      </a:r>
                      <a:r>
                        <a:rPr i="1"/>
                        <a:t>Understanding Data…</a:t>
                      </a:r>
                      <a:r>
                        <a:t>: Statistical graphics (pp. 100–141), Measures of association (pp. 75–86)</a:t>
                      </a:r>
                    </a:p>
                  </a:txBody>
                  <a:tcPr/>
                </a:tc>
                <a:extLst>
                  <a:ext uri="{0D108BD9-81ED-4DB2-BD59-A6C34878D82A}">
                    <a16:rowId xmlns:a16="http://schemas.microsoft.com/office/drawing/2014/main" val="10002"/>
                  </a:ext>
                </a:extLst>
              </a:tr>
              <a:tr h="0">
                <a:tc>
                  <a:txBody>
                    <a:bodyPr/>
                    <a:lstStyle/>
                    <a:p>
                      <a:pPr marL="0" lvl="0" indent="0">
                        <a:buNone/>
                      </a:pPr>
                      <a:r>
                        <a:t>3</a:t>
                      </a:r>
                    </a:p>
                  </a:txBody>
                  <a:tcPr/>
                </a:tc>
                <a:tc>
                  <a:txBody>
                    <a:bodyPr/>
                    <a:lstStyle/>
                    <a:p>
                      <a:pPr marL="0" lvl="0" indent="0">
                        <a:buNone/>
                      </a:pPr>
                      <a:r>
                        <a:t>Shoemaker &amp; Delgado Noguera (2019), chapter 6 · </a:t>
                      </a:r>
                      <a:r>
                        <a:rPr i="1"/>
                        <a:t>Understanding Data…</a:t>
                      </a:r>
                      <a:r>
                        <a:t>: Measures of association (pp. 87–92)</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Readings by section (2/2)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6172200">
                  <a:extLst>
                    <a:ext uri="{9D8B030D-6E8A-4147-A177-3AD203B41FA5}">
                      <a16:colId xmlns:a16="http://schemas.microsoft.com/office/drawing/2014/main" val="20001"/>
                    </a:ext>
                  </a:extLst>
                </a:gridCol>
              </a:tblGrid>
              <a:tr h="0">
                <a:tc>
                  <a:txBody>
                    <a:bodyPr/>
                    <a:lstStyle/>
                    <a:p>
                      <a:pPr marL="0" lvl="0" indent="0">
                        <a:buNone/>
                      </a:pPr>
                      <a:r>
                        <a:t>Section</a:t>
                      </a:r>
                    </a:p>
                  </a:txBody>
                  <a:tcPr/>
                </a:tc>
                <a:tc>
                  <a:txBody>
                    <a:bodyPr/>
                    <a:lstStyle/>
                    <a:p>
                      <a:pPr marL="0" lvl="0" indent="0">
                        <a:buNone/>
                      </a:pPr>
                      <a:r>
                        <a:t>Readings and materials</a:t>
                      </a:r>
                    </a:p>
                  </a:txBody>
                  <a:tcPr/>
                </a:tc>
                <a:extLst>
                  <a:ext uri="{0D108BD9-81ED-4DB2-BD59-A6C34878D82A}">
                    <a16:rowId xmlns:a16="http://schemas.microsoft.com/office/drawing/2014/main" val="10000"/>
                  </a:ext>
                </a:extLst>
              </a:tr>
              <a:tr h="0">
                <a:tc>
                  <a:txBody>
                    <a:bodyPr/>
                    <a:lstStyle/>
                    <a:p>
                      <a:pPr marL="0" lvl="0" indent="0">
                        <a:buNone/>
                      </a:pPr>
                      <a:r>
                        <a:t>4</a:t>
                      </a:r>
                    </a:p>
                  </a:txBody>
                  <a:tcPr/>
                </a:tc>
                <a:tc>
                  <a:txBody>
                    <a:bodyPr/>
                    <a:lstStyle/>
                    <a:p>
                      <a:pPr marL="0" lvl="0" indent="0">
                        <a:buNone/>
                      </a:pPr>
                      <a:r>
                        <a:t>Shoemaker &amp; Delgado Noguera (2019), chapter 15 · </a:t>
                      </a:r>
                      <a:r>
                        <a:rPr i="1"/>
                        <a:t>Understanding Data…</a:t>
                      </a:r>
                      <a:r>
                        <a:t>: Measures of association (pp. 75–86), Study design (pp. 40–41)</a:t>
                      </a:r>
                    </a:p>
                  </a:txBody>
                  <a:tcPr/>
                </a:tc>
                <a:extLst>
                  <a:ext uri="{0D108BD9-81ED-4DB2-BD59-A6C34878D82A}">
                    <a16:rowId xmlns:a16="http://schemas.microsoft.com/office/drawing/2014/main" val="10001"/>
                  </a:ext>
                </a:extLst>
              </a:tr>
              <a:tr h="0">
                <a:tc>
                  <a:txBody>
                    <a:bodyPr/>
                    <a:lstStyle/>
                    <a:p>
                      <a:pPr marL="0" lvl="0" indent="0">
                        <a:buNone/>
                      </a:pPr>
                      <a:r>
                        <a:t>5</a:t>
                      </a:r>
                    </a:p>
                  </a:txBody>
                  <a:tcPr/>
                </a:tc>
                <a:tc>
                  <a:txBody>
                    <a:bodyPr/>
                    <a:lstStyle/>
                    <a:p>
                      <a:pPr marL="0" lvl="0" indent="0">
                        <a:buNone/>
                      </a:pPr>
                      <a:r>
                        <a:rPr i="1"/>
                        <a:t>Understanding Data…</a:t>
                      </a:r>
                      <a:r>
                        <a:t>: Statistical models (pp. 148–196)</a:t>
                      </a:r>
                    </a:p>
                  </a:txBody>
                  <a:tcPr/>
                </a:tc>
                <a:extLst>
                  <a:ext uri="{0D108BD9-81ED-4DB2-BD59-A6C34878D82A}">
                    <a16:rowId xmlns:a16="http://schemas.microsoft.com/office/drawing/2014/main" val="10002"/>
                  </a:ext>
                </a:extLst>
              </a:tr>
              <a:tr h="0">
                <a:tc>
                  <a:txBody>
                    <a:bodyPr/>
                    <a:lstStyle/>
                    <a:p>
                      <a:pPr marL="0" lvl="0" indent="0">
                        <a:buNone/>
                      </a:pPr>
                      <a:r>
                        <a:t>6</a:t>
                      </a:r>
                    </a:p>
                  </a:txBody>
                  <a:tcPr/>
                </a:tc>
                <a:tc>
                  <a:txBody>
                    <a:bodyPr/>
                    <a:lstStyle/>
                    <a:p>
                      <a:pPr marL="0" lvl="0" indent="0">
                        <a:buNone/>
                      </a:pPr>
                      <a:r>
                        <a:rPr i="1"/>
                        <a:t>Understanding Data…</a:t>
                      </a:r>
                      <a:r>
                        <a:t>: Statistical models (pp. 148–196)</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Mandatory readings</a:t>
            </a:r>
          </a:p>
        </p:txBody>
      </p:sp>
      <p:sp>
        <p:nvSpPr>
          <p:cNvPr id="3" name="Content Placeholder 2"/>
          <p:cNvSpPr>
            <a:spLocks noGrp="1"/>
          </p:cNvSpPr>
          <p:nvPr>
            <p:ph idx="1"/>
          </p:nvPr>
        </p:nvSpPr>
        <p:spPr/>
        <p:txBody>
          <a:bodyPr/>
          <a:lstStyle/>
          <a:p>
            <a:pPr lvl="0"/>
            <a:r>
              <a:t>Shoemaker R, Delgado Noguera MF. </a:t>
            </a:r>
            <a:r>
              <a:rPr i="1"/>
              <a:t>Fundamentos de epidemiología</a:t>
            </a:r>
            <a:r>
              <a:t>. 1st ed. Universidad del Cauca; 2019. </a:t>
            </a:r>
            <a:r>
              <a:rPr>
                <a:hlinkClick r:id="rId2"/>
              </a:rPr>
              <a:t>https://osf.io/xk76p/overview</a:t>
            </a:r>
          </a:p>
          <a:p>
            <a:pPr lvl="0"/>
            <a:r>
              <a:t>Online MOOC course. </a:t>
            </a:r>
            <a:r>
              <a:rPr i="1"/>
              <a:t>Understanding Data and Statistics in the Medical Literature</a:t>
            </a:r>
            <a:r>
              <a:t>. </a:t>
            </a:r>
            <a:r>
              <a:rPr>
                <a:hlinkClick r:id="rId3"/>
              </a:rPr>
              <a:t>https://leanpub.com/universities/courses/jhu/udsml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Additional readings</a:t>
            </a:r>
          </a:p>
        </p:txBody>
      </p:sp>
      <p:sp>
        <p:nvSpPr>
          <p:cNvPr id="3" name="Content Placeholder 2"/>
          <p:cNvSpPr>
            <a:spLocks noGrp="1"/>
          </p:cNvSpPr>
          <p:nvPr>
            <p:ph idx="1"/>
          </p:nvPr>
        </p:nvSpPr>
        <p:spPr/>
        <p:txBody>
          <a:bodyPr/>
          <a:lstStyle/>
          <a:p>
            <a:pPr lvl="0"/>
            <a:r>
              <a:t>Online MOOC course. </a:t>
            </a:r>
            <a:r>
              <a:rPr i="1"/>
              <a:t>Clinical Epidemiology</a:t>
            </a:r>
            <a:r>
              <a:t> — Coursera. </a:t>
            </a:r>
            <a:r>
              <a:rPr>
                <a:hlinkClick r:id="rId2"/>
              </a:rPr>
              <a:t>https://www.coursera.org/learn/clinical-epidemiology</a:t>
            </a:r>
          </a:p>
          <a:p>
            <a:pPr lvl="0"/>
            <a:r>
              <a:t>Rothman KJ. </a:t>
            </a:r>
            <a:r>
              <a:rPr i="1"/>
              <a:t>Epidemiology: An Introduction</a:t>
            </a:r>
            <a:r>
              <a:t>. 2nd ed. New York, NY: Oxford University Press; 2012.</a:t>
            </a:r>
          </a:p>
          <a:p>
            <a:pPr lvl="0"/>
            <a:r>
              <a:t>Kirkwood BR, Sterne JAC. </a:t>
            </a:r>
            <a:r>
              <a:rPr i="1"/>
              <a:t>Essential Medical Statistics</a:t>
            </a:r>
            <a:r>
              <a:t>. 2nd ed. Philadelphia, PA: Blackwell Science; 2003.</a:t>
            </a:r>
          </a:p>
          <a:p>
            <a:pPr lvl="0"/>
            <a:r>
              <a:t>Bland M. </a:t>
            </a:r>
            <a:r>
              <a:rPr i="1"/>
              <a:t>An Introduction to Medical Statistics</a:t>
            </a:r>
            <a:r>
              <a:t>. 4th ed. London, England: Oxford University Press; 2015.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Methods</a:t>
            </a:r>
          </a:p>
        </p:txBody>
      </p:sp>
      <p:sp>
        <p:nvSpPr>
          <p:cNvPr id="3" name="Content Placeholder 2"/>
          <p:cNvSpPr>
            <a:spLocks noGrp="1"/>
          </p:cNvSpPr>
          <p:nvPr>
            <p:ph idx="1"/>
          </p:nvPr>
        </p:nvSpPr>
        <p:spPr/>
        <p:txBody>
          <a:bodyPr/>
          <a:lstStyle/>
          <a:p>
            <a:pPr lvl="0"/>
            <a:r>
              <a:t>Lectures</a:t>
            </a:r>
          </a:p>
          <a:p>
            <a:pPr lvl="0"/>
            <a:r>
              <a:t>Case studies involving reading and discussion in the classroom</a:t>
            </a:r>
          </a:p>
          <a:p>
            <a:pPr lvl="0"/>
            <a:r>
              <a:t>Assignments for future sessions</a:t>
            </a:r>
          </a:p>
          <a:p>
            <a:pPr lvl="0"/>
            <a:r>
              <a:t>Multiple reading and analysis examples carried out by the participants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Evaluation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Component</a:t>
                      </a:r>
                    </a:p>
                  </a:txBody>
                  <a:tcPr/>
                </a:tc>
                <a:tc>
                  <a:txBody>
                    <a:bodyPr/>
                    <a:lstStyle/>
                    <a:p>
                      <a:pPr marL="0" lvl="0" indent="0" algn="r">
                        <a:buNone/>
                      </a:pPr>
                      <a:r>
                        <a:t>Weight</a:t>
                      </a:r>
                    </a:p>
                  </a:txBody>
                  <a:tcPr/>
                </a:tc>
                <a:extLst>
                  <a:ext uri="{0D108BD9-81ED-4DB2-BD59-A6C34878D82A}">
                    <a16:rowId xmlns:a16="http://schemas.microsoft.com/office/drawing/2014/main" val="10000"/>
                  </a:ext>
                </a:extLst>
              </a:tr>
              <a:tr h="0">
                <a:tc>
                  <a:txBody>
                    <a:bodyPr/>
                    <a:lstStyle/>
                    <a:p>
                      <a:pPr marL="0" lvl="0" indent="0">
                        <a:buNone/>
                      </a:pPr>
                      <a:r>
                        <a:t>Interaction and active participation</a:t>
                      </a:r>
                    </a:p>
                  </a:txBody>
                  <a:tcPr/>
                </a:tc>
                <a:tc>
                  <a:txBody>
                    <a:bodyPr/>
                    <a:lstStyle/>
                    <a:p>
                      <a:pPr marL="0" lvl="0" indent="0" algn="r">
                        <a:buNone/>
                      </a:pPr>
                      <a:r>
                        <a:t>30%</a:t>
                      </a:r>
                    </a:p>
                  </a:txBody>
                  <a:tcPr/>
                </a:tc>
                <a:extLst>
                  <a:ext uri="{0D108BD9-81ED-4DB2-BD59-A6C34878D82A}">
                    <a16:rowId xmlns:a16="http://schemas.microsoft.com/office/drawing/2014/main" val="10001"/>
                  </a:ext>
                </a:extLst>
              </a:tr>
              <a:tr h="0">
                <a:tc>
                  <a:txBody>
                    <a:bodyPr/>
                    <a:lstStyle/>
                    <a:p>
                      <a:pPr marL="0" lvl="0" indent="0">
                        <a:buNone/>
                      </a:pPr>
                      <a:r>
                        <a:t>Final exam (last day of class, Section 6)</a:t>
                      </a:r>
                    </a:p>
                  </a:txBody>
                  <a:tcPr/>
                </a:tc>
                <a:tc>
                  <a:txBody>
                    <a:bodyPr/>
                    <a:lstStyle/>
                    <a:p>
                      <a:pPr marL="0" lvl="0" indent="0" algn="r">
                        <a:buNone/>
                      </a:pPr>
                      <a:r>
                        <a:t>70%</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Course policies (1/4)</a:t>
            </a:r>
          </a:p>
        </p:txBody>
      </p:sp>
      <p:sp>
        <p:nvSpPr>
          <p:cNvPr id="3" name="Content Placeholder 2"/>
          <p:cNvSpPr>
            <a:spLocks noGrp="1"/>
          </p:cNvSpPr>
          <p:nvPr>
            <p:ph idx="1"/>
          </p:nvPr>
        </p:nvSpPr>
        <p:spPr/>
        <p:txBody>
          <a:bodyPr/>
          <a:lstStyle/>
          <a:p>
            <a:pPr lvl="0"/>
            <a:r>
              <a:rPr b="1"/>
              <a:t>Participation:</a:t>
            </a:r>
            <a:r>
              <a:t> students are expected to take part in all face-to-face activities listed in the course calendar</a:t>
            </a:r>
          </a:p>
          <a:p>
            <a:pPr lvl="0"/>
            <a:r>
              <a:rPr b="1"/>
              <a:t>Academic relationship:</a:t>
            </a:r>
            <a:r>
              <a:t> if you have trouble keeping up with assignments or other aspects of the course, let your instructor know as soon as possible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Course policies (2/4)</a:t>
            </a:r>
          </a:p>
        </p:txBody>
      </p:sp>
      <p:sp>
        <p:nvSpPr>
          <p:cNvPr id="3" name="Content Placeholder 2"/>
          <p:cNvSpPr>
            <a:spLocks noGrp="1"/>
          </p:cNvSpPr>
          <p:nvPr>
            <p:ph idx="1"/>
          </p:nvPr>
        </p:nvSpPr>
        <p:spPr/>
        <p:txBody>
          <a:bodyPr/>
          <a:lstStyle/>
          <a:p>
            <a:pPr lvl="0"/>
            <a:r>
              <a:rPr b="1"/>
              <a:t>Assignments and activities:</a:t>
            </a:r>
            <a:r>
              <a:t> sent electronically; must be submitted before the deadline. No extensions except in extreme circumstances — late or missing assignments reduce the grade</a:t>
            </a:r>
          </a:p>
          <a:p>
            <a:pPr lvl="0"/>
            <a:r>
              <a:rPr b="1"/>
              <a:t>Withdrawal:</a:t>
            </a:r>
            <a:r>
              <a:t> it is the student’s responsibility to understand when to consider withdrawing from a course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Course policies (3/4)</a:t>
            </a:r>
          </a:p>
        </p:txBody>
      </p:sp>
      <p:sp>
        <p:nvSpPr>
          <p:cNvPr id="3" name="Content Placeholder 2"/>
          <p:cNvSpPr>
            <a:spLocks noGrp="1"/>
          </p:cNvSpPr>
          <p:nvPr>
            <p:ph idx="1"/>
          </p:nvPr>
        </p:nvSpPr>
        <p:spPr/>
        <p:txBody>
          <a:bodyPr/>
          <a:lstStyle/>
          <a:p>
            <a:pPr lvl="0"/>
            <a:r>
              <a:rPr b="1"/>
              <a:t>Honesty code:</a:t>
            </a:r>
            <a:r>
              <a:t> academic honesty is a fundamental pillar of the university community</a:t>
            </a:r>
          </a:p>
          <a:p>
            <a:pPr lvl="0"/>
            <a:r>
              <a:rPr b="1"/>
              <a:t>Plagiarism:</a:t>
            </a:r>
            <a:r>
              <a:t> acknowledge the sources you use. Plagiarism includes verbatim copying or paraphrasing without proper documentation, and unacknowledged appropriation of another person’s information or ideas. When in doubt, ask your instructor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Course policies (4/4)</a:t>
            </a:r>
          </a:p>
        </p:txBody>
      </p:sp>
      <p:sp>
        <p:nvSpPr>
          <p:cNvPr id="3" name="Content Placeholder 2"/>
          <p:cNvSpPr>
            <a:spLocks noGrp="1"/>
          </p:cNvSpPr>
          <p:nvPr>
            <p:ph idx="1"/>
          </p:nvPr>
        </p:nvSpPr>
        <p:spPr/>
        <p:txBody>
          <a:bodyPr/>
          <a:lstStyle/>
          <a:p>
            <a:pPr lvl="0"/>
            <a:r>
              <a:rPr b="1"/>
              <a:t>Inclusivity:</a:t>
            </a:r>
            <a:r>
              <a:t> we strive for an inclusive and welcoming classroom for students of all races, ethnicities, sexes, genders, sexual orientations, religions, physical abilities and emotional states. Feel free to email the instructor your pronouns and/or preferred names, or to request accommodations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Materials and contents</a:t>
            </a:r>
          </a:p>
        </p:txBody>
      </p:sp>
      <p:sp>
        <p:nvSpPr>
          <p:cNvPr id="3" name="Content Placeholder 2"/>
          <p:cNvSpPr>
            <a:spLocks noGrp="1"/>
          </p:cNvSpPr>
          <p:nvPr>
            <p:ph idx="1"/>
          </p:nvPr>
        </p:nvSpPr>
        <p:spPr/>
        <p:txBody>
          <a:bodyPr/>
          <a:lstStyle/>
          <a:p>
            <a:pPr lvl="0"/>
            <a:r>
              <a:t>Course syllabus: </a:t>
            </a:r>
            <a:r>
              <a:rPr>
                <a:hlinkClick r:id="rId2"/>
              </a:rPr>
              <a:t>https://jacalvache.github.io/intro_biostat_2026/</a:t>
            </a:r>
          </a:p>
          <a:p>
            <a:pPr lvl="0"/>
            <a:r>
              <a:t>Source code and materials: </a:t>
            </a:r>
            <a:r>
              <a:rPr>
                <a:hlinkClick r:id="rId3"/>
              </a:rPr>
              <a:t>https://github.com/jacalvache/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Who am I? (1/2)</a:t>
            </a:r>
          </a:p>
        </p:txBody>
      </p:sp>
      <p:sp>
        <p:nvSpPr>
          <p:cNvPr id="3" name="Content Placeholder 2"/>
          <p:cNvSpPr>
            <a:spLocks noGrp="1"/>
          </p:cNvSpPr>
          <p:nvPr>
            <p:ph idx="1"/>
          </p:nvPr>
        </p:nvSpPr>
        <p:spPr/>
        <p:txBody>
          <a:bodyPr/>
          <a:lstStyle/>
          <a:p>
            <a:pPr lvl="0"/>
            <a:r>
              <a:rPr b="1"/>
              <a:t>2003</a:t>
            </a:r>
            <a:r>
              <a:t> — Clinical Epidemiology Unit, Universidad del Cauca</a:t>
            </a:r>
          </a:p>
          <a:p>
            <a:pPr lvl="0"/>
            <a:r>
              <a:rPr b="1"/>
              <a:t>2008</a:t>
            </a:r>
            <a:r>
              <a:t> — Iberoamerican Cochrane Center, Barcelona</a:t>
            </a:r>
          </a:p>
          <a:p>
            <a:pPr lvl="0"/>
            <a:r>
              <a:rPr b="1"/>
              <a:t>2011</a:t>
            </a:r>
            <a:r>
              <a:t> — MSc Clinical Epidemiology, Department of Biostatistics, Erasmus MC, The Netherlands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Who am I? (2/2)</a:t>
            </a:r>
          </a:p>
        </p:txBody>
      </p:sp>
      <p:sp>
        <p:nvSpPr>
          <p:cNvPr id="3" name="Content Placeholder 2"/>
          <p:cNvSpPr>
            <a:spLocks noGrp="1"/>
          </p:cNvSpPr>
          <p:nvPr>
            <p:ph idx="1"/>
          </p:nvPr>
        </p:nvSpPr>
        <p:spPr/>
        <p:txBody>
          <a:bodyPr/>
          <a:lstStyle/>
          <a:p>
            <a:pPr lvl="0"/>
            <a:r>
              <a:rPr b="1"/>
              <a:t>2012</a:t>
            </a:r>
            <a:r>
              <a:t> — Professor, Department of Anesthesiology, Universidad del Cauca; Cochrane Affiliated Center, Universidad del Cauca</a:t>
            </a:r>
          </a:p>
          <a:p>
            <a:pPr lvl="0"/>
            <a:r>
              <a:rPr b="1"/>
              <a:t>2019</a:t>
            </a:r>
            <a:r>
              <a:t> — PhD, Department of Anesthesiology, Erasmus MC, The Netherlands</a:t>
            </a:r>
          </a:p>
          <a:p>
            <a:pPr marL="0" lvl="0" indent="0">
              <a:buNone/>
            </a:pPr>
            <a:r>
              <a:rPr i="1"/>
              <a:t>Clinical practice, clinician-researcher, clinician-scientist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Contact</a:t>
            </a:r>
          </a:p>
        </p:txBody>
      </p:sp>
      <p:sp>
        <p:nvSpPr>
          <p:cNvPr id="3" name="Content Placeholder 2"/>
          <p:cNvSpPr>
            <a:spLocks noGrp="1"/>
          </p:cNvSpPr>
          <p:nvPr>
            <p:ph idx="1"/>
          </p:nvPr>
        </p:nvSpPr>
        <p:spPr/>
        <p:txBody>
          <a:bodyPr/>
          <a:lstStyle/>
          <a:p>
            <a:pPr lvl="0"/>
            <a:r>
              <a:t>Email: jacalvache@unicauca.edu.co</a:t>
            </a:r>
          </a:p>
          <a:p>
            <a:pPr lvl="0"/>
            <a:r>
              <a:t>X / Twitter: @jacalvache</a:t>
            </a:r>
          </a:p>
          <a:p>
            <a:pPr lvl="0"/>
            <a:r>
              <a:t>Web: </a:t>
            </a:r>
            <a:r>
              <a:rPr>
                <a:hlinkClick r:id="rId2"/>
              </a:rPr>
              <a:t>https://jacalvache.github.io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1217</Words>
  <Application>Microsoft Office PowerPoint</Application>
  <PresentationFormat>On-screen Show (16:9)</PresentationFormat>
  <Paragraphs>119</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Introduction to Biostatistics</vt:lpstr>
      <vt:lpstr>General overview</vt:lpstr>
      <vt:lpstr>The path through the course (1/2)</vt:lpstr>
      <vt:lpstr>The path through the course (2/2)</vt:lpstr>
      <vt:lpstr>Principal aims (1/2)</vt:lpstr>
      <vt:lpstr>Principal aims (2/2)</vt:lpstr>
      <vt:lpstr>Who is this course for?</vt:lpstr>
      <vt:lpstr>The course at a glance</vt:lpstr>
      <vt:lpstr>Course structure (1/2)</vt:lpstr>
      <vt:lpstr>Course structure (2/2)</vt:lpstr>
      <vt:lpstr>Readings by section (1/2)</vt:lpstr>
      <vt:lpstr>Readings by section (2/2)</vt:lpstr>
      <vt:lpstr>Mandatory readings</vt:lpstr>
      <vt:lpstr>Additional readings</vt:lpstr>
      <vt:lpstr>Methods</vt:lpstr>
      <vt:lpstr>Evaluation</vt:lpstr>
      <vt:lpstr>Course policies (1/4)</vt:lpstr>
      <vt:lpstr>Course policies (2/4)</vt:lpstr>
      <vt:lpstr>Course policies (3/4)</vt:lpstr>
      <vt:lpstr>Course policies (4/4)</vt:lpstr>
      <vt:lpstr>Materials and contents</vt:lpstr>
      <vt:lpstr>Who am I? (1/2)</vt:lpstr>
      <vt:lpstr>Who am I? (2/2)</vt:lpstr>
      <vt:lpstr>Contact</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0</TotalTime>
  <Words>11</Words>
  <Application>Microsoft Office PowerPoint</Application>
  <PresentationFormat>On-screen Show (16:9)</PresentationFormat>
  <Paragraphs>5</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Title</vt:lpstr>
      <vt:lpstr>A heading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Biostatistics</dc:title>
  <dc:creator>Jose Andres Calvache MD MSc PhD</dc:creator>
  <cp:keywords/>
  <cp:lastModifiedBy>JOSE ANDRES CALVACHE ESPANA</cp:lastModifiedBy>
  <cp:revision>1</cp:revision>
  <dcterms:created xsi:type="dcterms:W3CDTF">2026-10-05T01:04:45Z</dcterms:created>
  <dcterms:modified xsi:type="dcterms:W3CDTF">2026-10-05T01:05:18Z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2026-10-04</vt:lpwstr>
  </property>
  <property fmtid="{D5CDD505-2E9C-101B-9397-08002B2CF9AE}" pid="8" name="engines">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institute">
    <vt:lpwstr/>
  </property>
  <property fmtid="{D5CDD505-2E9C-101B-9397-08002B2CF9AE}" pid="13" name="institutes">
    <vt:lpwstr/>
  </property>
  <property fmtid="{D5CDD505-2E9C-101B-9397-08002B2CF9AE}" pid="14" name="labels">
    <vt:lpwstr/>
  </property>
  <property fmtid="{D5CDD505-2E9C-101B-9397-08002B2CF9AE}" pid="15" name="subtitle">
    <vt:lpwstr>with emphasis on interpretation — Basic course</vt:lpwstr>
  </property>
  <property fmtid="{D5CDD505-2E9C-101B-9397-08002B2CF9AE}" pid="16" name="toc-title">
    <vt:lpwstr>Table of contents</vt:lpwstr>
  </property>
</Properties>
</file>