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An estimator is a numerical quantity calculated on a sample that we expect to be a good approximation of a quantity with the same meaning in the population (the parameter).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For the mean of a population, “the best” estimator is the sample mean.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For the relative frequency of a category of a variable, “the best” estimator is the relative frequency in the sample.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An estimator, in contrast to an estimand, is a formula or algorithm used to estimate the target quantity from the clinical trial data, such as the difference in sample means between 2 treatment groups, or the Kaplan-Meier estimator of a survival curve. Statistical inference for an estimand requires a choice of the estimator and a measure of its precision. Typical methods of statistical inference are hypothesis tests, confidence intervals, and posterior credibility intervals in a Bayesian analysis. The estimate is the numeric value obtained when the estimator is applied to the actual data from the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variability.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The most complex part of the statistical process.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Fisher: the study of variability.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Variability due to sampling introduces a crucial concept: the standard error (SE).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This area of statistics opens the door to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100 random samples are drawn, in 95 of them the confidence interval will contain the parameter. In 5 it will not!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Examples: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Compare the proportion of smokers between men and women.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Compare the mean age between those alive and those who died.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Is there a correlation between weight and height?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Assess whether there is an association between gender and cardiovascular disease.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Does blood group depend on race?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Since our data (sample) is the only thing we have for the judgment, two types of errors can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a given n, H1 and H0, if the value of α decreases the value of β increases, and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We have to start at some (reasonable) point = μ0.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95% confidence interval provides a range of values in which we are 95% certain that the true population mean lies. If the 95% confidence interval does not include the hypothesized value for the mean, μ0, we reject the null hypothesis at the 5%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Analogous example: those on the low-carb diet lost more on average by 3.9 kg; after accounting for sampling variability this excess average loss over the low-fat diet group could be as small as 1.6 kg or as large as 6.2 kg.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confidence interval does not include 0, suggesting a real population-level association between type of diet (low-carb or low-fat) and weight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0829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Statistical Inference, Hypothesis Testing and Analysis of Continuous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Section 3 — Introduction to Biostatistics</a:t>
            </a:r>
            <a:br/>
            <a:br/>
            <a:r>
              <a:t>Jose Andres Calvache MD MSc PhD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2026-10-04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3FC85-522A-F2CD-F2A5-FA0F0EF0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37" y="127000"/>
            <a:ext cx="214279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66539F-5CD0-DC87-4D27-CDD20F29F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16" y="127000"/>
            <a:ext cx="28857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14C8C5-B68C-30CA-D83A-5BBEEB827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286" y="127000"/>
            <a:ext cx="820914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Statistical Inference and Estimation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Population and sample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Population — </a:t>
                      </a:r>
                      <a:r>
                        <a:rPr b="1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— </a:t>
                      </a:r>
                      <a:r>
                        <a:rPr b="1"/>
                        <a:t>ESTIMATES</a:t>
                      </a:r>
                      <a:r>
                        <a:t> (“estimands”)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Mean (μ)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Mean (x̄)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Standard deviation (σ)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Standard deviation (</a:t>
                      </a:r>
                      <a:r>
                        <a:rPr i="1"/>
                        <a:t>s</a:t>
                      </a:r>
                      <a: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Proportion (</a:t>
                      </a:r>
                      <a:r>
                        <a:rPr i="1"/>
                        <a:t>P</a:t>
                      </a:r>
                      <a: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Proportion (</a:t>
                      </a:r>
                      <a:r>
                        <a:rPr i="1"/>
                        <a:t>p</a:t>
                      </a:r>
                      <a: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Incidence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Incidence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Prevalence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Population and sample — sampling error</a:t>
            </a:r>
          </a:p>
        </p:txBody>
      </p:sp>
      <p:pic>
        <p:nvPicPr>
          <p:cNvPr id="3" name="Picture 1" descr="images/s3_06_slide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From the population (parameters, unknown “?”) to the sample (estimates): the difference is the </a:t>
            </a:r>
            <a:r>
              <a:rPr b="1"/>
              <a:t>sampling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Random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It is a random selection of subjects from a population</a:t>
            </a:r>
          </a:p>
          <a:p>
            <a:pPr lvl="0"/>
            <a:r>
              <a:t>Technically “it is representative” of the population regardless of its size</a:t>
            </a:r>
          </a:p>
          <a:p>
            <a:pPr lvl="0"/>
            <a:r>
              <a:t>In this sampling technique, each individual in the population is equally likely to be selected in the sample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Simple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Extracting a sample </a:t>
            </a:r>
            <a:r>
              <a:rPr i="1"/>
              <a:t>n</a:t>
            </a:r>
            <a:r>
              <a:t> from a population </a:t>
            </a:r>
            <a:r>
              <a:rPr i="1"/>
              <a:t>P</a:t>
            </a:r>
            <a:r>
              <a:t> is no easy task</a:t>
            </a:r>
          </a:p>
          <a:p>
            <a:pPr lvl="0"/>
            <a:r>
              <a:t>Simple sampling (3 conditions):</a:t>
            </a:r>
          </a:p>
          <a:p>
            <a:pPr lvl="1"/>
            <a:r>
              <a:rPr i="1"/>
              <a:t>n</a:t>
            </a:r>
            <a:r>
              <a:t> must be fixed</a:t>
            </a:r>
          </a:p>
          <a:p>
            <a:pPr lvl="1"/>
            <a:r>
              <a:t>Subjects are randomly selected (all have the same probability of being selected) and this is independent</a:t>
            </a:r>
          </a:p>
          <a:p>
            <a:pPr lvl="1"/>
            <a:r>
              <a:t>Subjects are extracted from an unchanged population</a:t>
            </a:r>
          </a:p>
          <a:p>
            <a:pPr lvl="0"/>
            <a:r>
              <a:t>There are various sampling schemes: stratified, systematic, sequential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Simple sampling — human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Always avoid human intervention in the selection of subjects, which would affect the inference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theory</a:t>
            </a:r>
          </a:p>
        </p:txBody>
      </p:sp>
      <p:pic>
        <p:nvPicPr>
          <p:cNvPr id="3" name="Picture 1" descr="images/s3_06_slide0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Consider this situation,</a:t>
            </a:r>
          </a:p>
        </p:txBody>
      </p:sp>
      <p:pic>
        <p:nvPicPr>
          <p:cNvPr id="3" name="Picture 1" descr="images/s3_06_slide0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Population N = 1,000 (μ = 125 mmHg, SD = 13.5) and five random samples of n =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Five random samples (n = 100) from N = 1,000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(n = 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SD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“The mean” of the sampling means</a:t>
            </a:r>
          </a:p>
        </p:txBody>
      </p:sp>
      <p:pic>
        <p:nvPicPr>
          <p:cNvPr id="3" name="Picture 1" descr="images/s3_06_image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3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The standard deviation of the sample means is the </a:t>
            </a:r>
            <a:r>
              <a:rPr b="1"/>
              <a:t>Standard Error of the Mean (SEM)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theory — SEM</a:t>
            </a:r>
          </a:p>
        </p:txBody>
      </p:sp>
      <p:pic>
        <p:nvPicPr>
          <p:cNvPr id="3" name="Picture 1" descr="images/s3_06_slide0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Standard error of the mean (SEM)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𝑆𝐸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acc>
                    <m:accPr>
                      <m:chr m:val="‾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</m:acc>
                  <m:r>
                    <a:rPr>
                      <a:latin typeface="Cambria Math" panose="02040503050406030204" pitchFamily="18" charset="0"/>
                    </a:rPr>
                    <m:t>)=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‾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e>
                  </m:rad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num>
                    <m:den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</m:den>
                  </m:f>
                </m:oMath>
              </m:oMathPara>
            </a14:m>
            <a:endParaRPr/>
          </a:p>
          <a:p>
            <a:pPr lvl="0"/>
            <a:r>
              <a:t>Very important concept in statistics</a:t>
            </a:r>
          </a:p>
          <a:p>
            <a:pPr lvl="0"/>
            <a:r>
              <a:t>The greater the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𝜎</m:t>
                </m:r>
              </m:oMath>
            </a14:m>
            <a:r>
              <a:t>, the larger the SEM</a:t>
            </a:r>
          </a:p>
          <a:p>
            <a:pPr lvl="0"/>
            <a:r>
              <a:t>The higher the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𝑛</m:t>
                </m:r>
              </m:oMath>
            </a14:m>
            <a:r>
              <a:t>, the smaller the SEM</a:t>
            </a:r>
          </a:p>
          <a:p>
            <a:pPr lvl="0"/>
            <a:r>
              <a:t>Precision depends on variability and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𝑛</m:t>
                </m:r>
              </m:oMath>
            </a14:m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normal distribution — Gauss</a:t>
            </a:r>
          </a:p>
        </p:txBody>
      </p:sp>
      <p:pic>
        <p:nvPicPr>
          <p:cNvPr id="3" name="Picture 1" descr="images/s3_06_image1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3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Carl Friedrich Gauss on the 10 Deutsche Mark banknote, with the normal (Gaussian) curve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Organization of naturally appearing “population” data</a:t>
            </a:r>
          </a:p>
          <a:p>
            <a:pPr lvl="1"/>
            <a:r>
              <a:t>Systolic blood pressure, body temperature, size, weight</a:t>
            </a:r>
          </a:p>
          <a:p>
            <a:pPr lvl="0"/>
            <a:r>
              <a:t>It is characterized by two parameters: the mean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𝜇</m:t>
                </m:r>
              </m:oMath>
            </a14:m>
            <a:r>
              <a:t>) and the standard deviation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𝜎</m:t>
                </m:r>
              </m:oMath>
            </a14:m>
            <a:r>
              <a:t>)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𝑁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𝜎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(centralization and variability)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normal distribution —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Symmetrical; mean and median match</a:t>
            </a:r>
          </a:p>
          <a:p>
            <a:pPr lvl="0"/>
            <a:r>
              <a:t>At a distance from the mean: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±1 </m:t>
                </m:r>
                <m:r>
                  <a:rPr>
                    <a:latin typeface="Cambria Math" panose="02040503050406030204" pitchFamily="18" charset="0"/>
                  </a:rPr>
                  <m:t>𝜎</m:t>
                </m:r>
              </m:oMath>
            </a14:m>
            <a:r>
              <a:t> = 68% of the data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±1.96 </m:t>
                </m:r>
                <m:r>
                  <a:rPr>
                    <a:latin typeface="Cambria Math" panose="02040503050406030204" pitchFamily="18" charset="0"/>
                  </a:rPr>
                  <m:t>𝜎</m:t>
                </m:r>
              </m:oMath>
            </a14:m>
            <a:r>
              <a:t> = 95% of the data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±2.5 </m:t>
                </m:r>
                <m:r>
                  <a:rPr>
                    <a:latin typeface="Cambria Math" panose="02040503050406030204" pitchFamily="18" charset="0"/>
                  </a:rPr>
                  <m:t>𝜎</m:t>
                </m:r>
              </m:oMath>
            </a14:m>
            <a:r>
              <a:t> = 99% of the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normal distribution — 68% and 95%</a:t>
            </a:r>
          </a:p>
        </p:txBody>
      </p:sp>
      <p:pic>
        <p:nvPicPr>
          <p:cNvPr id="3" name="Picture 1" descr="images/s3_06_image1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81200"/>
            <a:ext cx="40386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1" descr="images/s3_06_image1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955800"/>
            <a:ext cx="40386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distribution — blood pressure</a:t>
            </a:r>
          </a:p>
        </p:txBody>
      </p:sp>
      <p:pic>
        <p:nvPicPr>
          <p:cNvPr id="3" name="Picture 1" descr="images/s3_06_slide1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Systolic blood pressure (normal) → 500 sample means; and a skewed variable (length of stay)?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distribution — length of stay</a:t>
            </a:r>
          </a:p>
        </p:txBody>
      </p:sp>
      <p:pic>
        <p:nvPicPr>
          <p:cNvPr id="3" name="Picture 1" descr="images/s3_06_slide1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Length of stay (LOS) is highly skewed: μ = 5.0 days, σ = 6.9 days; individual samples are also skewed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500 sample means — length of stay</a:t>
            </a:r>
          </a:p>
        </p:txBody>
      </p:sp>
      <p:pic>
        <p:nvPicPr>
          <p:cNvPr id="3" name="Picture 1" descr="images/s3_06_image2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5359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distributions — both variables</a:t>
            </a:r>
          </a:p>
        </p:txBody>
      </p:sp>
      <p:pic>
        <p:nvPicPr>
          <p:cNvPr id="3" name="Picture 1" descr="images/s3_06_slide1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1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is the normal distribution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Although a random variable does not have a “normal” population distribution, the distribution of certain data extracted from random samples DOES have it!</a:t>
            </a:r>
          </a:p>
          <a:p>
            <a:pPr lvl="0"/>
            <a:r>
              <a:t>Distributions of the sampling mean tend to be normally distributed even though the population data are not.</a:t>
            </a:r>
          </a:p>
          <a:p>
            <a:pPr lvl="0"/>
            <a:r>
              <a:t>Distribution of the sample mean is the best estimator of the population mean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SEM and the 95% CI</a:t>
            </a:r>
          </a:p>
        </p:txBody>
      </p:sp>
      <p:pic>
        <p:nvPicPr>
          <p:cNvPr id="3" name="Picture 1" descr="images/s3_06_slide1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The 95% confidence interval represents 2 SEM around the estimator (average)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95% confidence interval — example</a:t>
            </a:r>
          </a:p>
        </p:txBody>
      </p:sp>
      <p:pic>
        <p:nvPicPr>
          <p:cNvPr id="3" name="Picture 1" descr="images/s3_06_image7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6002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1" descr="images/s3_06_image8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648200" y="1638300"/>
            <a:ext cx="40386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95% confidence interval —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Lower limit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=</m:t>
                </m:r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−1.96 (</m:t>
                </m:r>
                <m:r>
                  <a:rPr>
                    <a:latin typeface="Cambria Math" panose="02040503050406030204" pitchFamily="18" charset="0"/>
                  </a:rPr>
                  <m:t>𝑆𝐸𝑀</m:t>
                </m:r>
                <m:r>
                  <a:rPr>
                    <a:latin typeface="Cambria Math" panose="02040503050406030204" pitchFamily="18" charset="0"/>
                  </a:rPr>
                  <m:t>)=125−6.4=118.6</m:t>
                </m:r>
              </m:oMath>
            </a14:m>
            <a:r>
              <a:t> mmHg</a:t>
            </a:r>
          </a:p>
          <a:p>
            <a:pPr lvl="0"/>
            <a:r>
              <a:t>Upper limit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=</m:t>
                </m:r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+1.96 (</m:t>
                </m:r>
                <m:r>
                  <a:rPr>
                    <a:latin typeface="Cambria Math" panose="02040503050406030204" pitchFamily="18" charset="0"/>
                  </a:rPr>
                  <m:t>𝑆𝐸𝑀</m:t>
                </m:r>
                <m:r>
                  <a:rPr>
                    <a:latin typeface="Cambria Math" panose="02040503050406030204" pitchFamily="18" charset="0"/>
                  </a:rPr>
                  <m:t>)=125+6.4=131.4</m:t>
                </m:r>
              </m:oMath>
            </a14:m>
            <a:r>
              <a:t> mmHg</a:t>
            </a:r>
          </a:p>
          <a:p>
            <a:pPr marL="0" lvl="0" indent="0">
              <a:buNone/>
            </a:pPr>
            <a:r>
              <a:rPr b="1"/>
              <a:t>Mean 125 mmHg, 95% CI (118 – 131)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95% 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It is a measure of the dispersion of the estimate under study</a:t>
            </a:r>
          </a:p>
          <a:p>
            <a:pPr lvl="0"/>
            <a:r>
              <a:t>Represents a range in which the actual population parameter is found 95% of the time (frequentist)</a:t>
            </a:r>
          </a:p>
          <a:p>
            <a:pPr lvl="0"/>
            <a:r>
              <a:t>It is obtained from the standard error and can be calculated for any estimand: mean, proportions, OR, RR, r², etc.</a:t>
            </a:r>
          </a:p>
          <a:p>
            <a:pPr lvl="0"/>
            <a:r>
              <a:t>More useful than the estimator alone because it evaluates “uncertainty”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95% confidence interval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Provides a range of possible values for the parameter</a:t>
            </a:r>
          </a:p>
          <a:p>
            <a:pPr lvl="0"/>
            <a:r>
              <a:t>The researcher will never be able to observe the real parameter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e>
                </m:acc>
              </m:oMath>
            </a14:m>
            <a:r>
              <a:t> is the best estimate you can have from your sample</a:t>
            </a:r>
          </a:p>
          <a:p>
            <a:pPr lvl="0"/>
            <a:r>
              <a:t>The 95% CI starts with this estimate and also provides the degree of uncertainty in this amount.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 example, (p)</a:t>
            </a:r>
          </a:p>
        </p:txBody>
      </p:sp>
      <p:pic>
        <p:nvPicPr>
          <p:cNvPr id="3" name="Picture 1" descr="images/s3_06_slide2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 example, odds ratio</a:t>
            </a:r>
          </a:p>
        </p:txBody>
      </p:sp>
      <p:pic>
        <p:nvPicPr>
          <p:cNvPr id="3" name="Picture 1" descr="images/s3_06_image2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 example, meta-analysis</a:t>
            </a:r>
          </a:p>
        </p:txBody>
      </p:sp>
      <p:pic>
        <p:nvPicPr>
          <p:cNvPr id="3" name="Picture 1" descr="images/s3_06_slide2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1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Finally: Standard deviation “versus” standard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The term “standard deviation” refers to the variability of observations in a population or sample (reference ranges).</a:t>
            </a:r>
          </a:p>
          <a:p>
            <a:pPr lvl="0"/>
            <a:r>
              <a:t>The “standard error” is also a measure of variability, but it applies to the distribution of multiple sample means taken from a population (the basis of the 95% CI).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Hypothesis Testing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or hypothesis contrasts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statistical hypothesis is a statement regarding some characteristic of a population. This hypothesis has not yet been tested.</a:t>
            </a:r>
          </a:p>
          <a:p>
            <a:pPr lvl="1"/>
            <a:r>
              <a:t>The average age of patients in the emergency room is 30 years</a:t>
            </a:r>
          </a:p>
          <a:p>
            <a:pPr lvl="1"/>
            <a:r>
              <a:t>The proportion of hospitalized male patients is 40%</a:t>
            </a:r>
          </a:p>
          <a:p>
            <a:pPr lvl="1"/>
            <a:r>
              <a:t>Gender is associated with having type 2 diabetes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or hypothesis contrasts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To contrast a hypothesis is to compare the statements with the reality we observe –in a sample–.</a:t>
            </a:r>
          </a:p>
          <a:p>
            <a:pPr lvl="0"/>
            <a:r>
              <a:t>According to such a comparison, we will “accept or reject” our hypotheses.</a:t>
            </a:r>
          </a:p>
          <a:p>
            <a:pPr marL="0" lvl="0" indent="0">
              <a:buNone/>
            </a:pPr>
            <a:r>
              <a:rPr i="1"/>
              <a:t>**Too much binary, too much black/white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Contrasting a hypothesis — example</a:t>
            </a:r>
          </a:p>
        </p:txBody>
      </p:sp>
      <p:pic>
        <p:nvPicPr>
          <p:cNvPr id="3" name="Picture 1" descr="images/s3_06_slide2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1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It is a statement about parameters of a population</a:t>
            </a:r>
          </a:p>
          <a:p>
            <a:pPr lvl="1"/>
            <a:r>
              <a:t>Means</a:t>
            </a:r>
          </a:p>
          <a:p>
            <a:pPr lvl="1"/>
            <a:r>
              <a:t>Proportions</a:t>
            </a:r>
          </a:p>
          <a:p>
            <a:pPr lvl="1"/>
            <a:r>
              <a:t>Standard deviation</a:t>
            </a:r>
          </a:p>
          <a:p>
            <a:pPr lvl="1"/>
            <a:r>
              <a:t>Association, correlation, etc.</a:t>
            </a:r>
          </a:p>
          <a:p>
            <a:pPr lvl="0"/>
            <a:r>
              <a:t>If we want to contrast it, you must </a:t>
            </a:r>
            <a:r>
              <a:rPr b="1"/>
              <a:t>set it up BEFORE the analysis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Contrasts of hypotheses – Steps,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Identify and construct the hypothesis</a:t>
            </a:r>
          </a:p>
          <a:p>
            <a:pPr marL="342900" lvl="0" indent="-342900">
              <a:buAutoNum type="arabicPeriod"/>
            </a:pPr>
            <a:r>
              <a:t>Collect our data (sample)</a:t>
            </a:r>
          </a:p>
          <a:p>
            <a:pPr marL="342900" lvl="0" indent="-342900">
              <a:buAutoNum type="arabicPeriod"/>
            </a:pPr>
            <a:r>
              <a:t>Define a level of significance</a:t>
            </a:r>
          </a:p>
          <a:p>
            <a:pPr marL="342900" lvl="0" indent="-342900">
              <a:buAutoNum type="arabicPeriod"/>
            </a:pPr>
            <a:r>
              <a:t>Make a decision regarding contrast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Identify and construct the hypothesis</a:t>
            </a:r>
          </a:p>
        </p:txBody>
      </p:sp>
      <p:pic>
        <p:nvPicPr>
          <p:cNvPr id="3" name="Picture 1" descr="images/s3_06_slide3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null and alternative hypothesis (H0 – H1)</a:t>
            </a:r>
          </a:p>
        </p:txBody>
      </p:sp>
      <p:pic>
        <p:nvPicPr>
          <p:cNvPr id="3" name="Picture 1" descr="images/s3_06_slide3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H0 and H1 — example</a:t>
            </a:r>
          </a:p>
        </p:txBody>
      </p:sp>
      <p:pic>
        <p:nvPicPr>
          <p:cNvPr id="3" name="Picture 1" descr="images/s3_06_slide3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Reasoning of the hypothesis contrast,</a:t>
            </a:r>
          </a:p>
        </p:txBody>
      </p:sp>
      <p:pic>
        <p:nvPicPr>
          <p:cNvPr id="3" name="Picture 1" descr="images/s3_06_slide3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Reasoning of the contrast — no evidence</a:t>
            </a:r>
          </a:p>
        </p:txBody>
      </p:sp>
      <p:pic>
        <p:nvPicPr>
          <p:cNvPr id="3" name="Picture 1" descr="images/s3_06_slide3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Level of significance</a:t>
            </a:r>
          </a:p>
        </p:txBody>
      </p:sp>
      <p:pic>
        <p:nvPicPr>
          <p:cNvPr id="3" name="Picture 1" descr="images/s3_06_slide3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Level of significance (α)</a:t>
            </a:r>
          </a:p>
        </p:txBody>
      </p:sp>
      <p:pic>
        <p:nvPicPr>
          <p:cNvPr id="3" name="Picture 1" descr="images/s3_06_slide3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Unilateral or bilateral contrast (H1)</a:t>
            </a:r>
          </a:p>
        </p:txBody>
      </p:sp>
      <p:pic>
        <p:nvPicPr>
          <p:cNvPr id="3" name="Picture 1" descr="images/s3_06_slide3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Bilateral: μ ≠ 30 years; unilateral: μ &lt; 30 years or μ &gt; 30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Signification (p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It is the probability of the area that starts right at the value of the statistic obtained from the sample.</a:t>
            </a:r>
          </a:p>
          <a:p>
            <a:pPr lvl="0"/>
            <a:r>
              <a:t>It is the probability of having a sample that disagrees even more than ours with H0</a:t>
            </a:r>
          </a:p>
          <a:p>
            <a:pPr lvl="0"/>
            <a:r>
              <a:t>It is the probability that –by pure chance– we obtain a sample stranger than the one obtained, being H0 true</a:t>
            </a:r>
          </a:p>
          <a:p>
            <a:pPr lvl="0"/>
            <a:r>
              <a:t>Contrast is significant when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</m:oMath>
            </a14:m>
            <a:r>
              <a:t> is less than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𝛼</m:t>
                </m:r>
              </m:oMath>
            </a14:m>
            <a:r>
              <a:t> (0.05)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Signification (p value) — graphical view</a:t>
            </a:r>
          </a:p>
        </p:txBody>
      </p:sp>
      <p:pic>
        <p:nvPicPr>
          <p:cNvPr id="3" name="Picture 1" descr="images/s3_06_slide3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H0: μ = 30 years; observed sample mean 50 years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Signification (p value) — significant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The area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</m:oMath>
            </a14:m>
            <a:r>
              <a:t> is lower than that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𝛼</m:t>
                </m:r>
              </m:oMath>
            </a14:m>
            <a:r>
              <a:t>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&lt;0.05</m:t>
                </m:r>
              </m:oMath>
            </a14:m>
            <a:r>
              <a:t>)</a:t>
            </a:r>
          </a:p>
          <a:p>
            <a:pPr lvl="0"/>
            <a:r>
              <a:t>The result obtained in my study disagrees more than tolerated </a:t>
            </a:r>
            <a:r>
              <a:rPr i="1"/>
              <a:t>a priori</a:t>
            </a:r>
          </a:p>
          <a:p>
            <a:pPr lvl="0"/>
            <a:r>
              <a:t>I have enough evidence in my sample to reject H0 and accept H1</a:t>
            </a:r>
          </a:p>
          <a:p>
            <a:pPr lvl="0"/>
            <a:r>
              <a:rPr b="1"/>
              <a:t>If I can’t refuse H0, it does NOT mean that this is true!</a:t>
            </a:r>
          </a:p>
          <a:p>
            <a:pPr lvl="0"/>
            <a:r>
              <a:t>The contrast is statistically significant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Significant result — graphical view</a:t>
            </a:r>
          </a:p>
        </p:txBody>
      </p:sp>
      <p:pic>
        <p:nvPicPr>
          <p:cNvPr id="3" name="Picture 1" descr="images/s3_06_slide3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H0: μ = 30 years; observed sample mean 68 years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 short, α and p</a:t>
            </a:r>
          </a:p>
        </p:txBody>
      </p:sp>
      <p:pic>
        <p:nvPicPr>
          <p:cNvPr id="3" name="Picture 1" descr="images/s3_06_slide4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Risks in the contrast of hypotheses</a:t>
            </a:r>
          </a:p>
        </p:txBody>
      </p:sp>
      <p:pic>
        <p:nvPicPr>
          <p:cNvPr id="3" name="Picture 1" descr="images/s3_06_slide4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Judicial legal process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In reality: Innocent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In reality: Guilty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Judge’s 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Innocent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Error — less serious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Guilty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Error — “very serious”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examples,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Imagine a clinical trial testing a new antibiotic treatment for the management of severe central nervous system infections – very expensive</a:t>
            </a:r>
          </a:p>
          <a:p>
            <a:pPr lvl="0"/>
            <a:r>
              <a:t>H0: Treatment in clinical trial has no effect in reality</a:t>
            </a:r>
          </a:p>
          <a:p>
            <a:pPr lvl="0"/>
            <a:r>
              <a:t>H1: The treatment has a real effect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examples — types of error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Result of the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Reality: H0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Reality: H0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No rejection of 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Correct</a:t>
                      </a:r>
                      <a:r>
                        <a:t> — the treatment has no effect and so it is decided.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Type II error</a:t>
                      </a:r>
                      <a:r>
                        <a:t> — the treatment does have an effect but we do not perceive it. Probability 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Reject H0 / Accept 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Type I error</a:t>
                      </a:r>
                      <a:r>
                        <a:t> — the treatment has no effect but it is decided that it does. Probability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Correct</a:t>
                      </a:r>
                      <a:r>
                        <a:t> — the treatment has an effect and the study confirms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Types I and II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Type I</a:t>
            </a:r>
            <a:r>
              <a:t>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𝛼</m:t>
                </m:r>
              </m:oMath>
            </a14:m>
            <a:r>
              <a:t>):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i="0"/>
                  <m:t>reject 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∣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m:rPr>
                    <m:nor/>
                  </m:rPr>
                  <a:rPr i="0"/>
                  <m:t> is true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endParaRPr/>
          </a:p>
          <a:p>
            <a:pPr lvl="1"/>
            <a:r>
              <a:t>Level of significance = 0.05 (5%)</a:t>
            </a:r>
          </a:p>
          <a:p>
            <a:pPr lvl="0"/>
            <a:r>
              <a:rPr b="1"/>
              <a:t>Type II</a:t>
            </a:r>
            <a:r>
              <a:t>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𝛽</m:t>
                </m:r>
              </m:oMath>
            </a14:m>
            <a:r>
              <a:t>):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i="0"/>
                  <m:t>accept 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∣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m:rPr>
                    <m:nor/>
                  </m:rPr>
                  <a:rPr i="0"/>
                  <m:t> is false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(less bad)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1−</m:t>
                </m:r>
                <m:r>
                  <a:rPr>
                    <a:latin typeface="Cambria Math" panose="02040503050406030204" pitchFamily="18" charset="0"/>
                  </a:rPr>
                  <m:t>𝛽</m:t>
                </m:r>
              </m:oMath>
            </a14:m>
            <a:r>
              <a:t>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i="0"/>
                  <m:t>reject 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∣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m:rPr>
                    <m:nor/>
                  </m:rPr>
                  <a:rPr i="0"/>
                  <m:t> is false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– </a:t>
            </a:r>
            <a:r>
              <a:rPr b="1"/>
              <a:t>STATISTICAL POWER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Balance between α and 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 a fixed sample size, the two types of error cannot be reduced at the same time</a:t>
            </a:r>
          </a:p>
          <a:p>
            <a:pPr lvl="0"/>
            <a:r>
              <a:t>To reduce β (or increase statistical power) you have to increase the sample size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 summary,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Hypothesis contrast</a:t>
            </a:r>
          </a:p>
          <a:p>
            <a:pPr lvl="1"/>
            <a:r>
              <a:t>Strategy for creating a decision (about a parameter)</a:t>
            </a:r>
          </a:p>
          <a:p>
            <a:pPr lvl="1"/>
            <a:r>
              <a:t>Evaluates the probability of finding samples that differ even more than the one obtained</a:t>
            </a:r>
          </a:p>
          <a:p>
            <a:pPr lvl="1"/>
            <a:r>
              <a:t>Provides a p value to be able to discriminate</a:t>
            </a:r>
          </a:p>
          <a:p>
            <a:pPr lvl="1"/>
            <a:r>
              <a:t>Too much binary and recently very criticized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 summary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Confidence intervals</a:t>
            </a:r>
          </a:p>
          <a:p>
            <a:pPr lvl="1"/>
            <a:r>
              <a:t>Quantifies the effect of interest (parameter) and the uncertainty of the estimate</a:t>
            </a:r>
          </a:p>
          <a:p>
            <a:pPr lvl="1"/>
            <a:r>
              <a:t>Provides a range in which the parameter could be located</a:t>
            </a:r>
          </a:p>
          <a:p>
            <a:pPr lvl="1"/>
            <a:r>
              <a:t>Allows to evaluate the clinical interest of the estimate</a:t>
            </a:r>
          </a:p>
          <a:p>
            <a:pPr lvl="1"/>
            <a:r>
              <a:t>It should always be used –when possible–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Analysis of Continuous Outcomes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sample to population</a:t>
            </a:r>
          </a:p>
        </p:txBody>
      </p:sp>
      <p:pic>
        <p:nvPicPr>
          <p:cNvPr id="3" name="Picture 1" descr="images/s3_07_slide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Parameter (population) ← estimand/estimate (sample): 1. 95% CI, 2. p value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for a single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N = [General population living in Popayán]</a:t>
            </a:r>
          </a:p>
          <a:p>
            <a:pPr lvl="1"/>
            <a:r>
              <a:t>What is the average systolic blood pressure in the population?</a:t>
            </a:r>
          </a:p>
          <a:p>
            <a:pPr lvl="1"/>
            <a:r>
              <a:t>I develop my study and select a sample (</a:t>
            </a:r>
            <a:r>
              <a:rPr i="1"/>
              <a:t>n</a:t>
            </a:r>
            <a:r>
              <a:t>)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;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≠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endParaRPr/>
          </a:p>
          <a:p>
            <a:pPr lvl="0"/>
            <a:r>
              <a:rPr i="1"/>
              <a:t>I’m going to contrast the average of my sample against a certain value (population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i="1"/>
              <a:t>)</a:t>
            </a:r>
          </a:p>
          <a:p>
            <a:pPr lvl="0"/>
            <a:r>
              <a:rPr i="1"/>
              <a:t>This will allow me to reject or not reject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endParaRPr i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for a single group — Z and t tests</a:t>
            </a:r>
          </a:p>
        </p:txBody>
      </p:sp>
      <p:pic>
        <p:nvPicPr>
          <p:cNvPr id="3" name="Picture 1" descr="images/s3_07_slide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Z test and t test</a:t>
            </a:r>
          </a:p>
        </p:txBody>
      </p:sp>
      <p:pic>
        <p:nvPicPr>
          <p:cNvPr id="3" name="Picture 1" descr="images/s3_07_slide0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Either way, results are presented as a p value: what represents the evidence in my sample for rejecting H0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 think the SBP of the population is 120 mmHg! I select my sample,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=120</m:t>
                </m:r>
              </m:oMath>
            </a14:m>
            <a:r>
              <a:t> ;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r>
                  <a:rPr>
                    <a:latin typeface="Cambria Math" panose="02040503050406030204" pitchFamily="18" charset="0"/>
                  </a:rPr>
                  <m:t>𝜇</m:t>
                </m:r>
                <m:r>
                  <a:rPr>
                    <a:latin typeface="Cambria Math" panose="02040503050406030204" pitchFamily="18" charset="0"/>
                  </a:rPr>
                  <m:t>≠120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=130</m:t>
                </m:r>
              </m:oMath>
            </a14:m>
            <a:r>
              <a:t> mmHg</a:t>
            </a:r>
          </a:p>
          <a:p>
            <a:pPr lvl="0"/>
            <a:r>
              <a:t>I apply one of the tests described (Z, t-test)</a:t>
            </a:r>
          </a:p>
          <a:p>
            <a:pPr lvl="0"/>
            <a:r>
              <a:t>P-value = 0.01</a:t>
            </a:r>
          </a:p>
          <a:p>
            <a:pPr lvl="0"/>
            <a:r>
              <a:t>There is enough evidence in my sample to reject H0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14:m xmlns:a14="http://schemas.microsoft.com/office/drawing/2010/main">
              <m:oMath xmlns:m="http://schemas.openxmlformats.org/officeDocument/2006/math"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=130</m:t>
                </m:r>
              </m:oMath>
            </a14:m>
            <a:r>
              <a:t> mmHg versus 120 mmHg</a:t>
            </a:r>
          </a:p>
          <a:p>
            <a:pPr lvl="0"/>
            <a:r>
              <a:t>95% CI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=</m:t>
                </m:r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±1.96 (</m:t>
                </m:r>
                <m:r>
                  <a:rPr>
                    <a:latin typeface="Cambria Math" panose="02040503050406030204" pitchFamily="18" charset="0"/>
                  </a:rPr>
                  <m:t>𝑆𝐸𝑀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endParaRPr/>
          </a:p>
          <a:p>
            <a:pPr lvl="0"/>
            <a:r>
              <a:rPr b="1"/>
              <a:t>95% CI = [126 – 135]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from sample to population</a:t>
            </a:r>
          </a:p>
        </p:txBody>
      </p:sp>
      <p:pic>
        <p:nvPicPr>
          <p:cNvPr id="3" name="Picture 1" descr="images/s3_07_image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1193800"/>
            <a:ext cx="6705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to compare independent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 have samples that come from two groups independent of each other</a:t>
            </a:r>
          </a:p>
          <a:p>
            <a:pPr lvl="0"/>
            <a:r>
              <a:t>Cohort study, to study cardiovascular risk at a given site</a:t>
            </a:r>
          </a:p>
          <a:p>
            <a:pPr lvl="0"/>
            <a:r>
              <a:t>I am interested to know if the BMI of men and women in my study is different (differs significantly)</a:t>
            </a:r>
          </a:p>
          <a:p>
            <a:pPr lvl="1"/>
            <a:r>
              <a:t>Group of men in follow-up</a:t>
            </a:r>
          </a:p>
          <a:p>
            <a:pPr lvl="1"/>
            <a:r>
              <a:t>Group of women in follow-up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to compare independent means —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27.18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Independent means —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 ⇒ 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≠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 ⇒ 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≠0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=25.53−27.18=−</m:t>
                </m:r>
                <m:r>
                  <a:rPr>
                    <a:latin typeface="Cambria Math" panose="02040503050406030204" pitchFamily="18" charset="0"/>
                  </a:rPr>
                  <m:t>𝟏</m:t>
                </m:r>
                <m:r>
                  <a:rPr>
                    <a:latin typeface="Cambria Math" panose="02040503050406030204" pitchFamily="18" charset="0"/>
                  </a:rPr>
                  <m:t>.</m:t>
                </m:r>
                <m:r>
                  <a:rPr>
                    <a:latin typeface="Cambria Math" panose="02040503050406030204" pitchFamily="18" charset="0"/>
                  </a:rPr>
                  <m:t>𝟔𝟓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=0.005</m:t>
                </m:r>
              </m:oMath>
            </a14:m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to compare independent means — 95%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𝑆𝐸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‾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‾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𝑆𝐸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𝑆𝐸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ra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𝑆𝐸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‾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‾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0.28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0.52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rad>
                  <m:r>
                    <a:rPr>
                      <a:latin typeface="Cambria Math" panose="02040503050406030204" pitchFamily="18" charset="0"/>
                    </a:rPr>
                    <m:t>=0.59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nor/>
                    </m:rPr>
                    <a:rPr i="0"/>
                    <m:t>95%CI</m:t>
                  </m:r>
                  <m:r>
                    <a:rPr>
                      <a:latin typeface="Cambria Math" panose="02040503050406030204" pitchFamily="18" charset="0"/>
                    </a:rPr>
                    <m:t>=−1.65±1.96 (</m:t>
                  </m:r>
                  <m:r>
                    <a:rPr>
                      <a:latin typeface="Cambria Math" panose="02040503050406030204" pitchFamily="18" charset="0"/>
                    </a:rPr>
                    <m:t>𝑆𝐸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𝑑𝑖𝑓𝑓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)=−1.65±1.16=[−2.81</m:t>
                  </m:r>
                  <m:r>
                    <m:rPr>
                      <m:nor/>
                    </m:rPr>
                    <a:rPr i="0"/>
                    <m:t> to </m:t>
                  </m:r>
                  <m:r>
                    <a:rPr>
                      <a:latin typeface="Cambria Math" panose="02040503050406030204" pitchFamily="18" charset="0"/>
                    </a:rPr>
                    <m:t>−0.49]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There is a statistically significant difference in the BMI of men and women</a:t>
            </a:r>
          </a:p>
          <a:p>
            <a:pPr lvl="0"/>
            <a:r>
              <a:t>Such a difference is: –1.65 kg/m², 95% CI [–2.81 to –0.49] (p = 0.005)</a:t>
            </a:r>
          </a:p>
          <a:p>
            <a:pPr lvl="0"/>
            <a:r>
              <a:t>On average men have a BMI 1.65 kg/m² lower than women, but such a difference can be between –2.81 and –0.49</a:t>
            </a:r>
          </a:p>
          <a:p>
            <a:pPr lvl="0"/>
            <a:r>
              <a:t>This CI does not contain zero, so it suggests a real difference at the population level in the BMI of men and women.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FEV1 and respiratory symptoms</a:t>
            </a:r>
          </a:p>
        </p:txBody>
      </p:sp>
      <p:pic>
        <p:nvPicPr>
          <p:cNvPr id="3" name="Picture 1" descr="images/s3_07_image1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9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Scatter plot showing the relationship between FEV1 and respiratory symptoms in 636 children living in a deprived suburb of Lima, Peru.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Assumptions of the 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Single group</a:t>
            </a:r>
          </a:p>
          <a:p>
            <a:pPr lvl="1"/>
            <a:r>
              <a:t>The distribution of the variable at the population level is normal with an unknown variance</a:t>
            </a:r>
          </a:p>
          <a:p>
            <a:pPr lvl="0"/>
            <a:r>
              <a:t>Two independent groups</a:t>
            </a:r>
          </a:p>
          <a:p>
            <a:pPr lvl="1"/>
            <a:r>
              <a:t>The distribution of variables in the population is normal</a:t>
            </a:r>
          </a:p>
          <a:p>
            <a:pPr lvl="1"/>
            <a:r>
              <a:t>The variances of the variables are equal (Levene test)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to compare related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 this case, the two samples to be compared are paired.</a:t>
            </a:r>
          </a:p>
          <a:p>
            <a:pPr lvl="1"/>
            <a:r>
              <a:t>Assess blood pressure before and after treatment in a group of subjects (the same before and after)</a:t>
            </a:r>
          </a:p>
          <a:p>
            <a:pPr lvl="1"/>
            <a:r>
              <a:t>A group of students are evaluated at the beginning and end of the academic semester</a:t>
            </a:r>
          </a:p>
          <a:p>
            <a:pPr lvl="1"/>
            <a:r>
              <a:t>A numerical variable is measured in a group of subjects several times over time (e.g., hemoglobin)</a:t>
            </a:r>
          </a:p>
          <a:p>
            <a:pPr lvl="0"/>
            <a:r>
              <a:rPr b="1"/>
              <a:t>Applying the concept of the t-test for independent samples here is incorrect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to compare related means — example</a:t>
            </a:r>
          </a:p>
        </p:txBody>
      </p:sp>
      <p:pic>
        <p:nvPicPr>
          <p:cNvPr id="3" name="Picture 1" descr="images/s3_07_slide1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to compare related means —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𝑑𝑖𝑓𝑓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r>
              <a:t> ;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𝑑𝑖𝑓𝑓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≠0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𝑑𝑖𝑓𝑓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=1.08</m:t>
                </m:r>
              </m:oMath>
            </a14:m>
            <a:r>
              <a:t> ;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𝑆𝐸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𝑑𝑖𝑓𝑓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=0.73</m:t>
                </m:r>
              </m:oMath>
            </a14:m>
            <a:endParaRPr/>
          </a:p>
          <a:p>
            <a:pPr lvl="0"/>
            <a:r>
              <a:t>Paired t test: P-value = 0.168</a:t>
            </a:r>
          </a:p>
          <a:p>
            <a:pPr lvl="0"/>
            <a:r>
              <a:t>1.08, 95% CI [–0.57 to 2.73]</a:t>
            </a:r>
          </a:p>
          <a:p>
            <a:pPr lvl="0"/>
            <a:r>
              <a:t>We do not have enough evidence to reject H0</a:t>
            </a:r>
          </a:p>
          <a:p>
            <a:pPr lvl="0"/>
            <a:r>
              <a:t>In other words, there is no evidence that the intervention significantly reduces the value of IL-10</a:t>
            </a:r>
          </a:p>
          <a:p>
            <a:pPr lvl="0"/>
            <a:r>
              <a:t>The CI contains 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Smoking and lung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To investigate whether smoking reduces lung function, forced vital capacity (FVC, a test of lung function) was measured in 100 men aged 25–29, of whom 36 were smokers and 64 non-smokers.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𝑠𝑚𝑜𝑘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𝑛𝑜𝑛</m:t>
                      </m:r>
                      <m:r>
                        <m:rPr>
                          <m:nor/>
                        </m:rPr>
                        <a:rPr i="0"/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𝑠𝑚𝑜𝑘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=4.7−5.0=−</m:t>
                  </m:r>
                  <m:r>
                    <a:rPr>
                      <a:latin typeface="Cambria Math" panose="02040503050406030204" pitchFamily="18" charset="0"/>
                    </a:rPr>
                    <m:t>𝟎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  <m:r>
                    <a:rPr>
                      <a:latin typeface="Cambria Math" panose="02040503050406030204" pitchFamily="18" charset="0"/>
                    </a:rPr>
                    <m:t>𝟑</m:t>
                  </m:r>
                  <m:r>
                    <m:rPr>
                      <m:nor/>
                    </m:rPr>
                    <a:rPr i="0"/>
                    <m:t> litres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Smoking and lung function — data</a:t>
            </a:r>
          </a:p>
        </p:txBody>
      </p:sp>
      <p:pic>
        <p:nvPicPr>
          <p:cNvPr id="3" name="Picture 1" descr="images/s3_07_image1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08200"/>
            <a:ext cx="82296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Smoking and lung function — 95% CI</a:t>
            </a:r>
          </a:p>
        </p:txBody>
      </p:sp>
      <p:pic>
        <p:nvPicPr>
          <p:cNvPr id="3" name="Picture 1" descr="images/s3_07_image1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82296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Smoking and lung function — z test</a:t>
            </a:r>
          </a:p>
        </p:txBody>
      </p:sp>
      <p:pic>
        <p:nvPicPr>
          <p:cNvPr id="3" name="Picture 1" descr="images/s3_07_slide1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1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Smoking and lung function — p value</a:t>
            </a:r>
          </a:p>
        </p:txBody>
      </p:sp>
      <p:pic>
        <p:nvPicPr>
          <p:cNvPr id="3" name="Picture 1" descr="images/s3_07_slide1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 = 0.0164 (= 0.0082 + 0.0082) ≈ p = 0.01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 values and CIs (1/2)</a:t>
            </a:r>
          </a:p>
        </p:txBody>
      </p:sp>
      <p:pic>
        <p:nvPicPr>
          <p:cNvPr id="3" name="Picture 1" descr="images/s3_07_slide1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1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 values and CIs (2/2)</a:t>
            </a:r>
          </a:p>
        </p:txBody>
      </p:sp>
      <p:pic>
        <p:nvPicPr>
          <p:cNvPr id="3" name="Picture 1" descr="images/s3_07_slide2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1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Non-parametric tests for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Non-parametric statistics do not follow theoretical distributions of random variables</a:t>
            </a:r>
          </a:p>
          <a:p>
            <a:pPr lvl="0"/>
            <a:r>
              <a:t>They do not require the conditions that parametric tests require.</a:t>
            </a:r>
          </a:p>
          <a:p>
            <a:pPr lvl="0"/>
            <a:r>
              <a:t>They are based solely on the distribution of the data in the sample</a:t>
            </a:r>
          </a:p>
          <a:p>
            <a:pPr lvl="0"/>
            <a:r>
              <a:t>They are also called distribution-free tests</a:t>
            </a:r>
          </a:p>
          <a:p>
            <a:pPr lvl="0"/>
            <a:r>
              <a:t>Non-parametric tests have “less statistical power”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 U test // Wilcoxon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Wilcoxon rank sum test</a:t>
            </a:r>
          </a:p>
          <a:p>
            <a:pPr lvl="0"/>
            <a:r>
              <a:t>Mann-Whitney-Wilcoxon rank sum test</a:t>
            </a:r>
          </a:p>
          <a:p>
            <a:pPr lvl="0"/>
            <a:r>
              <a:t>It is based on the median and ranks of the data</a:t>
            </a:r>
          </a:p>
          <a:p>
            <a:pPr lvl="0"/>
            <a:r>
              <a:t>Not affected by extreme values</a:t>
            </a:r>
          </a:p>
          <a:p>
            <a:pPr lvl="0"/>
            <a:r>
              <a:t>Requires access to the total data (dataset)</a:t>
            </a:r>
          </a:p>
          <a:p>
            <a:pPr lvl="0"/>
            <a:r>
              <a:t>Its result is only in terms of p value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 U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group of ten students were randomized to receive a new pedagogical scheme. At the end, an evaluation exam was carried out on each group. The results are the difference between the post-pre test.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 U test —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Group (post − pre 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Intervention 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Control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 U test —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Only 10 subjects under study</a:t>
            </a:r>
          </a:p>
          <a:p>
            <a:pPr lvl="0"/>
            <a:r>
              <a:t>It is possible that in 10 subjects the results of the post-pre test are not normally distributed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 U test — 1. reorganize data (ranks)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 U test —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 startAt="2"/>
            </a:pPr>
            <a:r>
              <a:t>Compare the ranks of each group using statistical techniques and provide a p-value as a result</a:t>
            </a:r>
          </a:p>
          <a:p>
            <a:pPr marL="342900" lvl="0" indent="-342900">
              <a:buAutoNum type="arabicPeriod" startAt="2"/>
            </a:pPr>
            <a:r>
              <a:t>P-value = 0.17</a:t>
            </a:r>
          </a:p>
          <a:p>
            <a:pPr marL="0" lvl="0" indent="0">
              <a:buNone/>
            </a:pPr>
            <a:r>
              <a:rPr i="1"/>
              <a:t>There is no statistically significant difference in the assessment of improvement between the control and intervention group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t-test and when Mann-Whitney U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If your sample is small (e.g. less than 30)</a:t>
            </a:r>
          </a:p>
          <a:p>
            <a:pPr lvl="0"/>
            <a:r>
              <a:t>If there are suspicions that the distributions of the variables do not follow a normal trend</a:t>
            </a:r>
          </a:p>
          <a:p>
            <a:pPr lvl="0"/>
            <a:r>
              <a:t>Non-parametric tests are more “conservative”</a:t>
            </a:r>
          </a:p>
          <a:p>
            <a:pPr lvl="0"/>
            <a:r>
              <a:t>There is no consensus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3369</Words>
  <Application>Microsoft Office PowerPoint</Application>
  <PresentationFormat>On-screen Show (16:9)</PresentationFormat>
  <Paragraphs>424</Paragraphs>
  <Slides>91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5" baseType="lpstr">
      <vt:lpstr>Arial</vt:lpstr>
      <vt:lpstr>Calibri</vt:lpstr>
      <vt:lpstr>Cambria Math</vt:lpstr>
      <vt:lpstr>Office Theme</vt:lpstr>
      <vt:lpstr>Statistical Inference, Hypothesis Testing and Analysis of Continuous Outcomes</vt:lpstr>
      <vt:lpstr>Statistical Inference and Estimation</vt:lpstr>
      <vt:lpstr>Population and sample</vt:lpstr>
      <vt:lpstr>Population and sample — sampling error</vt:lpstr>
      <vt:lpstr>Random sample</vt:lpstr>
      <vt:lpstr>Simple sampling</vt:lpstr>
      <vt:lpstr>Simple sampling — human intervention</vt:lpstr>
      <vt:lpstr>Sampling theory</vt:lpstr>
      <vt:lpstr>Consider this situation,</vt:lpstr>
      <vt:lpstr>Five random samples (n = 100) from N = 1,000</vt:lpstr>
      <vt:lpstr>“The mean” of the sampling means</vt:lpstr>
      <vt:lpstr>Sampling theory — SEM</vt:lpstr>
      <vt:lpstr>Standard error of the mean (SEM)</vt:lpstr>
      <vt:lpstr>The normal distribution — Gauss</vt:lpstr>
      <vt:lpstr>The normal distribution</vt:lpstr>
      <vt:lpstr>The normal distribution — properties</vt:lpstr>
      <vt:lpstr>The normal distribution — 68% and 95%</vt:lpstr>
      <vt:lpstr>Sampling distribution — blood pressure</vt:lpstr>
      <vt:lpstr>Sampling distribution — length of stay</vt:lpstr>
      <vt:lpstr>500 sample means — length of stay</vt:lpstr>
      <vt:lpstr>Sampling distributions — both variables</vt:lpstr>
      <vt:lpstr>Why is the normal distribution important?</vt:lpstr>
      <vt:lpstr>SEM and the 95% CI</vt:lpstr>
      <vt:lpstr>95% confidence interval — example</vt:lpstr>
      <vt:lpstr>95% confidence interval — calculation</vt:lpstr>
      <vt:lpstr>95% confidence interval</vt:lpstr>
      <vt:lpstr>95% confidence interval (cont.)</vt:lpstr>
      <vt:lpstr>For example, (p)</vt:lpstr>
      <vt:lpstr>For example, odds ratio</vt:lpstr>
      <vt:lpstr>For example, meta-analysis</vt:lpstr>
      <vt:lpstr>Finally: Standard deviation “versus” standard error</vt:lpstr>
      <vt:lpstr>Hypothesis Testing</vt:lpstr>
      <vt:lpstr>Test or hypothesis contrasts</vt:lpstr>
      <vt:lpstr>Test or hypothesis contrasts (cont.)</vt:lpstr>
      <vt:lpstr>Contrasting a hypothesis — example</vt:lpstr>
      <vt:lpstr>Hypothesis</vt:lpstr>
      <vt:lpstr>Contrasts of hypotheses – Steps,</vt:lpstr>
      <vt:lpstr>1. Identify and construct the hypothesis</vt:lpstr>
      <vt:lpstr>The null and alternative hypothesis (H0 – H1)</vt:lpstr>
      <vt:lpstr>H0 and H1 — example</vt:lpstr>
      <vt:lpstr>Reasoning of the hypothesis contrast,</vt:lpstr>
      <vt:lpstr>Reasoning of the contrast — no evidence</vt:lpstr>
      <vt:lpstr>Level of significance</vt:lpstr>
      <vt:lpstr>Level of significance (α)</vt:lpstr>
      <vt:lpstr>Unilateral or bilateral contrast (H1)</vt:lpstr>
      <vt:lpstr>Signification (p value)</vt:lpstr>
      <vt:lpstr>Signification (p value) — graphical view</vt:lpstr>
      <vt:lpstr>Signification (p value) — significant result</vt:lpstr>
      <vt:lpstr>Significant result — graphical view</vt:lpstr>
      <vt:lpstr>In short, α and p</vt:lpstr>
      <vt:lpstr>Risks in the contrast of hypotheses</vt:lpstr>
      <vt:lpstr>Judicial legal process</vt:lpstr>
      <vt:lpstr>Other examples,</vt:lpstr>
      <vt:lpstr>Other examples — types of error</vt:lpstr>
      <vt:lpstr>Types I and II errors</vt:lpstr>
      <vt:lpstr>Balance between α and β</vt:lpstr>
      <vt:lpstr>Final summary,</vt:lpstr>
      <vt:lpstr>Final summary (cont.)</vt:lpstr>
      <vt:lpstr>Analysis of Continuous Outcomes</vt:lpstr>
      <vt:lpstr>From sample to population</vt:lpstr>
      <vt:lpstr>Test for a single group</vt:lpstr>
      <vt:lpstr>Test for a single group — Z and t tests</vt:lpstr>
      <vt:lpstr>Z test and t test</vt:lpstr>
      <vt:lpstr>Example,</vt:lpstr>
      <vt:lpstr>Example — confidence interval</vt:lpstr>
      <vt:lpstr>Example — from sample to population</vt:lpstr>
      <vt:lpstr>Test to compare independent means</vt:lpstr>
      <vt:lpstr>Test to compare independent means — data</vt:lpstr>
      <vt:lpstr>Independent means — hypotheses</vt:lpstr>
      <vt:lpstr>Test to compare independent means — 95% CI</vt:lpstr>
      <vt:lpstr>Conclusion</vt:lpstr>
      <vt:lpstr>FEV1 and respiratory symptoms</vt:lpstr>
      <vt:lpstr>Assumptions of the t test</vt:lpstr>
      <vt:lpstr>Test to compare related means</vt:lpstr>
      <vt:lpstr>Test to compare related means — example</vt:lpstr>
      <vt:lpstr>Test to compare related means — results</vt:lpstr>
      <vt:lpstr>Smoking and lung function</vt:lpstr>
      <vt:lpstr>Smoking and lung function — data</vt:lpstr>
      <vt:lpstr>Smoking and lung function — 95% CI</vt:lpstr>
      <vt:lpstr>Smoking and lung function — z test</vt:lpstr>
      <vt:lpstr>Smoking and lung function — p value</vt:lpstr>
      <vt:lpstr>P values and CIs (1/2)</vt:lpstr>
      <vt:lpstr>P values and CIs (2/2)</vt:lpstr>
      <vt:lpstr>Non-parametric tests for means</vt:lpstr>
      <vt:lpstr>Mann-Whitney U test // Wilcoxon test</vt:lpstr>
      <vt:lpstr>Mann-Whitney U test</vt:lpstr>
      <vt:lpstr>Mann-Whitney U test — data</vt:lpstr>
      <vt:lpstr>Mann-Whitney U test — why?</vt:lpstr>
      <vt:lpstr>Mann-Whitney U test — 1. reorganize data (ranks)</vt:lpstr>
      <vt:lpstr>Mann-Whitney U test — result</vt:lpstr>
      <vt:lpstr>When t-test and when Mann-Whitney U test?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On-screen Show (16:9)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A heading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Inference, Hypothesis Testing and Analysis of Continuous Outcomes</dc:title>
  <dc:creator>Jose Andres Calvache MD MSc PhD</dc:creator>
  <cp:keywords/>
  <cp:lastModifiedBy>JOSE ANDRES CALVACHE ESPANA</cp:lastModifiedBy>
  <cp:revision>1</cp:revision>
  <dcterms:created xsi:type="dcterms:W3CDTF">2026-10-05T00:02:13Z</dcterms:created>
  <dcterms:modified xsi:type="dcterms:W3CDTF">2026-10-05T00:02:27Z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2026-10-04</vt:lpwstr>
  </property>
  <property fmtid="{D5CDD505-2E9C-101B-9397-08002B2CF9AE}" pid="8" name="engine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/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Section 3 — Introduction to Biostatistics</vt:lpwstr>
  </property>
  <property fmtid="{D5CDD505-2E9C-101B-9397-08002B2CF9AE}" pid="16" name="toc-title">
    <vt:lpwstr>Table of contents</vt:lpwstr>
  </property>
</Properties>
</file>