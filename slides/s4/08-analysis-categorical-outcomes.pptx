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9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rgbClr val="08295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Analysis of categorical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Section 4 — Introduction to Biostatistics</a:t>
            </a:r>
            <a:br/>
            <a:br/>
            <a:r>
              <a:t>Jose Andres Calvache MD MSc PhD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2026-10-04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F8FAA3-D1F6-8AAC-9193-36CBFC8D4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237" y="127000"/>
            <a:ext cx="214279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9C9CBF-78E7-FAED-8D18-B6685E7E6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116" y="127000"/>
            <a:ext cx="288570" cy="33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6E5A1F-39C3-D9EF-E9F5-53ABDC8D2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286" y="127000"/>
            <a:ext cx="820914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Population and sample</a:t>
            </a:r>
          </a:p>
        </p:txBody>
      </p:sp>
      <p:pic>
        <p:nvPicPr>
          <p:cNvPr id="3" name="Picture 1" descr="images/population-sample-diagra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69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Parameter</a:t>
            </a:r>
            <a:r>
              <a:t> · </a:t>
            </a:r>
            <a:r>
              <a:rPr b="1"/>
              <a:t>Estimand/te</a:t>
            </a:r>
            <a:r>
              <a:t> · 95% CI · </a:t>
            </a:r>
            <a:r>
              <a:rPr i="1"/>
              <a:t>P</a:t>
            </a:r>
            <a:r>
              <a:t>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CI95% for a proportion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binary variable X of two categories: 1 / 0</a:t>
            </a:r>
          </a:p>
          <a:p>
            <a:pPr lvl="0"/>
            <a:r>
              <a:t>For the sample the proportion is </a:t>
            </a:r>
            <a:r>
              <a:rPr i="1"/>
              <a:t>p</a:t>
            </a:r>
          </a:p>
          <a:p>
            <a:pPr lvl="0"/>
            <a:r>
              <a:t>Useful if </a:t>
            </a:r>
            <a:r>
              <a:rPr i="1"/>
              <a:t>n</a:t>
            </a:r>
            <a:r>
              <a:t> is large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CI95% for a proportion —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e>
                  </m:rad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𝑆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e>
                  </m:rad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𝑠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𝑒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e>
                  </m:rad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𝐶𝐼</m:t>
                  </m:r>
                  <m:r>
                    <a:rPr>
                      <a:latin typeface="Cambria Math" panose="02040503050406030204" pitchFamily="18" charset="0"/>
                    </a:rPr>
                    <m:t>95%=</m:t>
                  </m:r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±1.96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e>
                  </m:rad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To estimate the prevalence of obesity in faculty students</a:t>
            </a:r>
          </a:p>
          <a:p>
            <a:pPr lvl="0"/>
            <a:r>
              <a:t>n = 200</a:t>
            </a:r>
          </a:p>
          <a:p>
            <a:pPr lvl="0"/>
            <a:r>
              <a:t>p = 30% = 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— CI95%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𝑆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𝐷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e>
                  </m:rad>
                  <m:r>
                    <a:rPr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r>
                        <a:rPr>
                          <a:latin typeface="Cambria Math" panose="02040503050406030204" pitchFamily="18" charset="0"/>
                        </a:rPr>
                        <m:t>0.3(1−0.3)</m:t>
                      </m:r>
                    </m:e>
                  </m:rad>
                  <m:r>
                    <a:rPr>
                      <a:latin typeface="Cambria Math" panose="02040503050406030204" pitchFamily="18" charset="0"/>
                    </a:rPr>
                    <m:t>=0.458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𝑆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e>
                  </m:rad>
                  <m:r>
                    <a:rPr>
                      <a:latin typeface="Cambria Math" panose="02040503050406030204" pitchFamily="18" charset="0"/>
                    </a:rPr>
                    <m:t>=</m:t>
                  </m:r>
                  <m:rad>
                    <m:radPr>
                      <m:degHide m:val="on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radPr>
                    <m:deg/>
                    <m:e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0.3(0.7)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e>
                  </m:rad>
                  <m:r>
                    <a:rPr>
                      <a:latin typeface="Cambria Math" panose="02040503050406030204" pitchFamily="18" charset="0"/>
                    </a:rPr>
                    <m:t>=0.032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𝐶𝐼</m:t>
                  </m:r>
                  <m:r>
                    <a:rPr>
                      <a:latin typeface="Cambria Math" panose="02040503050406030204" pitchFamily="18" charset="0"/>
                    </a:rPr>
                    <m:t>95%=</m:t>
                  </m:r>
                  <m:r>
                    <a:rPr>
                      <a:latin typeface="Cambria Math" panose="02040503050406030204" pitchFamily="18" charset="0"/>
                    </a:rPr>
                    <m:t>𝑝</m:t>
                  </m:r>
                  <m:r>
                    <a:rPr>
                      <a:latin typeface="Cambria Math" panose="02040503050406030204" pitchFamily="18" charset="0"/>
                    </a:rPr>
                    <m:t>±1.96 (</m:t>
                  </m:r>
                  <m:r>
                    <a:rPr>
                      <a:latin typeface="Cambria Math" panose="02040503050406030204" pitchFamily="18" charset="0"/>
                    </a:rPr>
                    <m:t>𝑆</m:t>
                  </m:r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)=0.3±1.96(0.032)</m:t>
                  </m:r>
                </m:oMath>
              </m:oMathPara>
            </a14:m>
            <a:endParaRPr/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a:rPr>
                      <a:latin typeface="Cambria Math" panose="02040503050406030204" pitchFamily="18" charset="0"/>
                    </a:rPr>
                    <m:t>𝐶𝐼</m:t>
                  </m:r>
                  <m:r>
                    <a:rPr>
                      <a:latin typeface="Cambria Math" panose="02040503050406030204" pitchFamily="18" charset="0"/>
                    </a:rPr>
                    <m:t>95%=0.3 [0.237−0.362]=[23.7%−36.2%]</m:t>
                  </m:r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Comparing proportions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Pediatric AIDS Clinical Trial Group (ACTG)</a:t>
            </a:r>
          </a:p>
          <a:p>
            <a:pPr marL="1270000" lvl="0" indent="0">
              <a:buNone/>
            </a:pPr>
            <a:r>
              <a:rPr sz="2000"/>
              <a:t>“We conducted a randomized, double-blinded, placebo-controlled trial of the efficacy and safety of zidovudine (AZT) in reducing the risk of maternal-infant HIV transmission”</a:t>
            </a:r>
          </a:p>
          <a:p>
            <a:pPr marL="0" lvl="0" indent="0">
              <a:buNone/>
            </a:pPr>
            <a:r>
              <a:t>363 pregnant women with HIV were randomized to AZT or placebo (18 postnatal months)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Comparing proportions — study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180 AZT     HIV+   13 children</a:t>
            </a:r>
          </a:p>
          <a:p>
            <a:pPr lvl="0"/>
            <a:r>
              <a:t>183 Placebo   HIV+   40 children</a:t>
            </a:r>
          </a:p>
          <a:p>
            <a:pPr marL="0" lvl="0" indent="0">
              <a:buNone/>
            </a:pPr>
            <a:r>
              <a:rPr i="1"/>
              <a:t>Conner, E., et al. (1994). Reduction of maternal-infant transmission of human immunodeficiency virus type 1 with zidovudine treatment, New England Journal of Medicine 331: 18.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Risk of transmission (CI 18 months)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HIV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HIV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AZT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Risk of transmission — CI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CI</a:t>
            </a:r>
            <a:r>
              <a:rPr baseline="-25000"/>
              <a:t>AZT</a:t>
            </a:r>
            <a:r>
              <a:t> = 13/180 = 7%</a:t>
            </a:r>
          </a:p>
          <a:p>
            <a:pPr marL="0" lvl="0" indent="0">
              <a:buNone/>
            </a:pPr>
            <a:r>
              <a:t>CI</a:t>
            </a:r>
            <a:r>
              <a:rPr baseline="-25000"/>
              <a:t>PLAC</a:t>
            </a:r>
            <a:r>
              <a:t> = 40/183 = 22%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Cumulative incidence and CI 95%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CI</a:t>
            </a:r>
            <a:r>
              <a:rPr baseline="-25000"/>
              <a:t>AZT</a:t>
            </a:r>
            <a:r>
              <a:t> = 13/180 = 7%    CI95% [ 3.9 - 12 ]</a:t>
            </a:r>
          </a:p>
          <a:p>
            <a:pPr lvl="0"/>
            <a:r>
              <a:t>CI</a:t>
            </a:r>
            <a:r>
              <a:rPr baseline="-25000"/>
              <a:t>PLAC</a:t>
            </a:r>
            <a:r>
              <a:t> = 40/183 = 22%    CI95% [ 16 - 28 ]</a:t>
            </a:r>
          </a:p>
          <a:p>
            <a:pPr marL="0" lvl="0" indent="0">
              <a:buNone/>
            </a:pPr>
            <a:r>
              <a:t>95% confidence intervals are calculated following the binomial distribution (if n is large it approaches normal)</a:t>
            </a:r>
          </a:p>
          <a:p>
            <a:pPr marL="0" lvl="0" indent="0">
              <a:buNone/>
            </a:pPr>
            <a:r>
              <a:rPr b="1"/>
              <a:t>The question is: Is this difference significant or can it be explained by chance (random error)?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Chi2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Test that can be extended to two or more proportions</a:t>
            </a:r>
          </a:p>
          <a:p>
            <a:pPr lvl="0"/>
            <a:r>
              <a:t>It is based on,</a:t>
            </a:r>
          </a:p>
          <a:p>
            <a:pPr lvl="1"/>
            <a:r>
              <a:t>“Expected” values and “observed” values</a:t>
            </a:r>
          </a:p>
          <a:p>
            <a:pPr lvl="1"/>
            <a:r>
              <a:t>Expected: If H0 were true</a:t>
            </a:r>
          </a:p>
          <a:p>
            <a:pPr lvl="0"/>
            <a:r>
              <a:t>Is there a relationship between columns and rows?</a:t>
            </a:r>
          </a:p>
          <a:p>
            <a:pPr marL="0" lvl="0" indent="0">
              <a:buNone/>
            </a:pPr>
            <a:r>
              <a:t>What would they be then? the “expected” values if the H0 were true?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Chi2 test — observed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HIV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HIV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AZT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Chi2 test —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𝜒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hr m:val="∑"/>
                      <m:limLoc m:val="undOvr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4 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𝑐𝑒𝑙𝑙𝑠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​</m:t>
                      </m:r>
                    </m:sup>
                    <m:e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e>
                  </m:nary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“Observed” vs “expected” if H0 were true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HIV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HIV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AZT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“Expected” if the H0 were true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HIV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HIV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AZT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Chi2 test —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p>
                    <m:sSup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>
                          <a:latin typeface="Cambria Math" panose="02040503050406030204" pitchFamily="18" charset="0"/>
                        </a:rPr>
                        <m:t>𝜒</m:t>
                      </m:r>
                    </m:e>
                    <m:sup>
                      <m:r>
                        <a:rPr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hr m:val="∑"/>
                      <m:limLoc m:val="undOvr"/>
                      <m:ctrlPr>
                        <a:rPr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4 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𝑐𝑒𝑙𝑙𝑠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​</m:t>
                      </m:r>
                    </m:sup>
                    <m:e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e>
                  </m:nary>
                </m:oMath>
              </m:oMathPara>
            </a14:m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 value for Chi2 test</a:t>
            </a:r>
          </a:p>
        </p:txBody>
      </p:sp>
      <p:pic>
        <p:nvPicPr>
          <p:cNvPr id="3" name="Picture 1" descr="images/chi2-distribution-critical-valu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905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Chi2 test —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CI</a:t>
            </a:r>
            <a:r>
              <a:rPr baseline="-25000"/>
              <a:t>AZT</a:t>
            </a:r>
            <a:r>
              <a:t> = 13/180 = 7%    CI95% [ 3.9 - 12 ]</a:t>
            </a:r>
          </a:p>
          <a:p>
            <a:pPr lvl="0"/>
            <a:r>
              <a:t>CI</a:t>
            </a:r>
            <a:r>
              <a:rPr baseline="-25000"/>
              <a:t>PLAC</a:t>
            </a:r>
            <a:r>
              <a:t> = 40/183 = 22%    CI95% [ 16 - 28 ]</a:t>
            </a:r>
          </a:p>
          <a:p>
            <a:pPr marL="0" lvl="0" indent="0">
              <a:buNone/>
            </a:pPr>
            <a:r>
              <a:t>P value for Chi2 test = 0.0001</a:t>
            </a:r>
          </a:p>
          <a:p>
            <a:pPr marL="0" lvl="0" indent="0">
              <a:buNone/>
            </a:pPr>
            <a:r>
              <a:t>There is sufficient evidence to reject H0 (equality). I accept H1: There are “statistically significant” differences between AZT and Placebo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Food poisoning occurred at a certain site. Some believe that the origin was chicken sandwiches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2 — 2×2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Yes (Food poisoning)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No (Food poisoning)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Sandwich</a:t>
                      </a:r>
                      <a:r>
                        <a:t> (Exposure)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a+b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Other 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c+d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a+c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b+d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a+b+c+d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2 —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Sandwich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Other 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2 — proportions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</a:t>
            </a:r>
            <a:r>
              <a:rPr baseline="-25000"/>
              <a:t>sand</a:t>
            </a:r>
            <a:r>
              <a:t> = 109/225 = 48%</a:t>
            </a:r>
          </a:p>
          <a:p>
            <a:pPr lvl="0"/>
            <a:r>
              <a:t>p</a:t>
            </a:r>
            <a:r>
              <a:rPr baseline="-25000"/>
              <a:t>other</a:t>
            </a:r>
            <a:r>
              <a:t> = 4/38 = 10%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 2 — hypothesis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 value for Chi2 test = 0.001</a:t>
            </a:r>
          </a:p>
          <a:p>
            <a:pPr lvl="0"/>
            <a:r>
              <a:t>H0: p</a:t>
            </a:r>
            <a:r>
              <a:rPr baseline="-25000"/>
              <a:t>sand</a:t>
            </a:r>
            <a:r>
              <a:t> = p</a:t>
            </a:r>
            <a:r>
              <a:rPr baseline="-25000"/>
              <a:t>other</a:t>
            </a:r>
          </a:p>
          <a:p>
            <a:pPr lvl="0"/>
            <a:r>
              <a:t>H1: p</a:t>
            </a:r>
            <a:r>
              <a:rPr baseline="-25000"/>
              <a:t>sand</a:t>
            </a:r>
            <a:r>
              <a:t> ≠ p</a:t>
            </a:r>
            <a:r>
              <a:rPr baseline="-25000"/>
              <a:t>other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Fisher’s exact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The chi2 test is based on a normal approximation</a:t>
            </a:r>
          </a:p>
          <a:p>
            <a:pPr lvl="1"/>
            <a:r>
              <a:t>Works well if the samples are large</a:t>
            </a:r>
          </a:p>
          <a:p>
            <a:pPr marL="0" lvl="0" indent="0">
              <a:buNone/>
            </a:pPr>
            <a:r>
              <a:t>Solution,</a:t>
            </a:r>
          </a:p>
          <a:p>
            <a:pPr lvl="0"/>
            <a:r>
              <a:t>Fisher’s exact test</a:t>
            </a:r>
          </a:p>
          <a:p>
            <a:pPr lvl="1"/>
            <a:r>
              <a:t>Difficult manual calculation</a:t>
            </a:r>
          </a:p>
          <a:p>
            <a:pPr lvl="1"/>
            <a:r>
              <a:t>It has no approximations and delivers an “exact” p-value</a:t>
            </a:r>
          </a:p>
          <a:p>
            <a:pPr lvl="1"/>
            <a:r>
              <a:t>Useful in small samples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Fisher’s exact test —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65 pregnant patients — classified as high risk for hypertension in pregnancy — are randomized in the third trimester to Aspirin 100 mg/day versus placebo to assess the effect on the occurrence of hypertension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Fisher’s exact test —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HT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Non 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ASA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Fisher’s exact test —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Schiff, E. et al. The use of aspirin to prevent pregnancy-induced hypertension and lower the ratio of thromboxane A2 to prostacyclin in relatively high risk pregnancies. New England Journal of Medicine, 321, 6.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Fisher’s exact test —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CI</a:t>
            </a:r>
            <a:r>
              <a:rPr baseline="-25000"/>
              <a:t>ASA</a:t>
            </a:r>
            <a:r>
              <a:t> = 4/34 = 12%</a:t>
            </a:r>
          </a:p>
          <a:p>
            <a:pPr marL="0" lvl="0" indent="0">
              <a:buNone/>
            </a:pPr>
            <a:r>
              <a:t>CI</a:t>
            </a:r>
            <a:r>
              <a:rPr baseline="-25000"/>
              <a:t>PLAC</a:t>
            </a:r>
            <a:r>
              <a:t> = 11/31 = 35%</a:t>
            </a:r>
          </a:p>
          <a:p>
            <a:pPr marL="0" lvl="0" indent="0">
              <a:buNone/>
            </a:pPr>
            <a:r>
              <a:t>Fisher p value = 0.0378</a:t>
            </a:r>
          </a:p>
          <a:p>
            <a:pPr marL="0" lvl="0" indent="0">
              <a:buNone/>
            </a:pPr>
            <a:r>
              <a:t>Chi2 p value = 0.0234</a:t>
            </a:r>
          </a:p>
          <a:p>
            <a:pPr marL="0" lvl="0" indent="0">
              <a:buNone/>
            </a:pPr>
            <a:r>
              <a:rPr b="1"/>
              <a:t>Both tests reject H0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for variables with more than two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Chi2 test can be extended to variables with more than two categories</a:t>
            </a:r>
          </a:p>
          <a:p>
            <a:pPr lvl="0"/>
            <a:r>
              <a:t>H0: Variables are independent</a:t>
            </a:r>
          </a:p>
          <a:p>
            <a:pPr lvl="0"/>
            <a:r>
              <a:t>H1: Variables are related (or depend in some category on one another)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for variables with more than two categories —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Stratum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Stratum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Stratum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for variables with more than two categories — result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Stratum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Stratum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Stratum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b="1"/>
                        <a:t>377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for variables with more than two categories —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Chi2 p value = 0.000</a:t>
            </a:r>
          </a:p>
          <a:p>
            <a:pPr marL="0" lvl="0" indent="0">
              <a:buNone/>
            </a:pPr>
            <a:r>
              <a:rPr b="1"/>
              <a:t>I have enough evidence to reject the H0 of independence. They are significantly related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Office PowerPoint</Application>
  <PresentationFormat>On-screen Show (16:9)</PresentationFormat>
  <Paragraphs>243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Cambria Math</vt:lpstr>
      <vt:lpstr>Office Theme</vt:lpstr>
      <vt:lpstr>Analysis of categorical outcomes</vt:lpstr>
      <vt:lpstr>Population and sample</vt:lpstr>
      <vt:lpstr>Key terms</vt:lpstr>
      <vt:lpstr>CI95% for a proportion</vt:lpstr>
      <vt:lpstr>CI95% for a proportion — formulas</vt:lpstr>
      <vt:lpstr>Example</vt:lpstr>
      <vt:lpstr>Example — CI95% calculation</vt:lpstr>
      <vt:lpstr>Comparing proportions</vt:lpstr>
      <vt:lpstr>Comparing proportions — study data</vt:lpstr>
      <vt:lpstr>Risk of transmission (CI 18 months)</vt:lpstr>
      <vt:lpstr>Risk of transmission — CI calculation</vt:lpstr>
      <vt:lpstr>Cumulative incidence and CI 95%</vt:lpstr>
      <vt:lpstr>Chi2 test</vt:lpstr>
      <vt:lpstr>Chi2 test — observed table</vt:lpstr>
      <vt:lpstr>Chi2 test — formula</vt:lpstr>
      <vt:lpstr>“Observed” vs “expected” if H0 were true</vt:lpstr>
      <vt:lpstr>“Expected” if the H0 were true</vt:lpstr>
      <vt:lpstr>Chi2 test — formula</vt:lpstr>
      <vt:lpstr>P value for Chi2 test</vt:lpstr>
      <vt:lpstr>Chi2 test — conclusion</vt:lpstr>
      <vt:lpstr>Example 2</vt:lpstr>
      <vt:lpstr>Example 2 — 2×2 table</vt:lpstr>
      <vt:lpstr>Example 2 — results</vt:lpstr>
      <vt:lpstr>Example 2 — proportions</vt:lpstr>
      <vt:lpstr>Example 2 — hypothesis test</vt:lpstr>
      <vt:lpstr>Fisher’s exact test</vt:lpstr>
      <vt:lpstr>Fisher’s exact test — example</vt:lpstr>
      <vt:lpstr>Fisher’s exact test — data</vt:lpstr>
      <vt:lpstr>Fisher’s exact test — reference</vt:lpstr>
      <vt:lpstr>Fisher’s exact test — results</vt:lpstr>
      <vt:lpstr>Test for variables with more than two categories</vt:lpstr>
      <vt:lpstr>Test for variables with more than two categories — table</vt:lpstr>
      <vt:lpstr>Test for variables with more than two categories — result</vt:lpstr>
      <vt:lpstr>Test for variables with more than two categories — conclusion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On-screen Show (16:9)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Title</vt:lpstr>
      <vt:lpstr>A heading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categorical outcomes</dc:title>
  <dc:creator>Jose Andres Calvache MD MSc PhD</dc:creator>
  <cp:keywords/>
  <cp:lastModifiedBy>JOSE ANDRES CALVACHE ESPANA</cp:lastModifiedBy>
  <cp:revision>1</cp:revision>
  <dcterms:created xsi:type="dcterms:W3CDTF">2026-10-05T00:30:50Z</dcterms:created>
  <dcterms:modified xsi:type="dcterms:W3CDTF">2026-10-05T00:30:55Z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2026-10-04</vt:lpwstr>
  </property>
  <property fmtid="{D5CDD505-2E9C-101B-9397-08002B2CF9AE}" pid="8" name="engines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/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Section 4 — Introduction to Biostatistics</vt:lpwstr>
  </property>
  <property fmtid="{D5CDD505-2E9C-101B-9397-08002B2CF9AE}" pid="16" name="toc-title">
    <vt:lpwstr>Table of contents</vt:lpwstr>
  </property>
</Properties>
</file>