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rgbClr val="08295E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Introduction to Multivariable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Section 5 — Introduction to Biostatistics</a:t>
            </a:r>
            <a:br/>
            <a:br/>
            <a:r>
              <a:t>Jose Andres Calvache MD MSc PhD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2026-10-04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87C3A8-D952-8EEC-69C3-D05E10821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237" y="127000"/>
            <a:ext cx="214279" cy="330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F9C8BA-E877-C88B-0DA7-114CF8418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116" y="127000"/>
            <a:ext cx="288570" cy="330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E337AD-DA06-7146-BCC0-9A06F4547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5286" y="127000"/>
            <a:ext cx="820914" cy="330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Section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General introduction to multivariable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Multivariable analysis</a:t>
            </a:r>
          </a:p>
        </p:txBody>
      </p:sp>
      <p:pic>
        <p:nvPicPr>
          <p:cNvPr id="3" name="Picture 1" descr="images/s5_09_image9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55800" y="1193800"/>
            <a:ext cx="5232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Example: chronic low back pain</a:t>
            </a:r>
          </a:p>
        </p:txBody>
      </p:sp>
      <p:pic>
        <p:nvPicPr>
          <p:cNvPr id="3" name="Picture 1" descr="images/s5_slide15_back-pai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40000" y="1193800"/>
            <a:ext cx="4064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1071 patients (44 physicians). Von Korff M, et al. Ann Intern Med. 1994;121(3):187-95.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is multivariable analysis?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i="1"/>
              <a:t>Statistical techniques to establish the unique (independent) contribution of a variable or a group of variables to an outcome.</a:t>
            </a:r>
          </a:p>
          <a:p>
            <a:pPr marL="0" lvl="0" indent="0">
              <a:buNone/>
            </a:pPr>
            <a:r>
              <a:t>It allows us to examine the effect of the treatment (bed rest vs physical therapy) while holding the other factors constant or fixed.</a:t>
            </a:r>
          </a:p>
          <a:p>
            <a:pPr marL="0" lvl="0" indent="0">
              <a:buNone/>
            </a:pPr>
            <a:r>
              <a:t>Many statistical techniques focus on the analysis of one or two variables.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Multivariate or multivariable regression?</a:t>
            </a:r>
          </a:p>
        </p:txBody>
      </p:sp>
      <p:pic>
        <p:nvPicPr>
          <p:cNvPr id="3" name="Picture 1" descr="images/s5_09_image10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25500" y="1193800"/>
            <a:ext cx="7493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Multivariate or multivariable regression?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Statistically speaking, </a:t>
            </a:r>
            <a:r>
              <a:rPr b="1"/>
              <a:t>multivariate analysis</a:t>
            </a:r>
            <a:r>
              <a:t> refers to statistical models that have 2 or more dependent or outcome variables</a:t>
            </a:r>
          </a:p>
          <a:p>
            <a:pPr lvl="0"/>
            <a:r>
              <a:rPr b="1"/>
              <a:t>Multivariable analysis</a:t>
            </a:r>
            <a:r>
              <a:t> refers to statistical models in which there are multiple independent or response variables.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Confounding</a:t>
            </a:r>
          </a:p>
        </p:txBody>
      </p:sp>
      <p:pic>
        <p:nvPicPr>
          <p:cNvPr id="3" name="Picture 1" descr="images/s5_slide18_confounding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62200" y="1193800"/>
            <a:ext cx="441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Multivariable analysis and confounding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i="1"/>
              <a:t>Multivariable analysis is a method to control for confounding</a:t>
            </a:r>
          </a:p>
          <a:p>
            <a:pPr marL="0" lvl="0" indent="0">
              <a:buNone/>
            </a:pPr>
            <a:r>
              <a:t>(it is not the only method)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For example,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With the use of multivariable analysis it was possible to show that tobacco exposure has an independent relationship with the risk of cardiovascular disease, after </a:t>
            </a:r>
            <a:r>
              <a:rPr b="1"/>
              <a:t>adjusting for factors</a:t>
            </a:r>
            <a:r>
              <a:t> such as sedentary lifestyle, obesity, gender, age and arterial hypertension.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Age and systolic blood pressure</a:t>
            </a:r>
          </a:p>
        </p:txBody>
      </p:sp>
      <p:pic>
        <p:nvPicPr>
          <p:cNvPr id="3" name="Picture 1" descr="images/s5_slide21_age-sbp-data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3400" y="1193800"/>
            <a:ext cx="8064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Age and systolic blood pressure — scatter plot</a:t>
            </a:r>
          </a:p>
        </p:txBody>
      </p:sp>
      <p:pic>
        <p:nvPicPr>
          <p:cNvPr id="3" name="Picture 1" descr="images/s5_slide22_age-sbp-scatter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Simple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Relationship between two continuous variables (SBP (</a:t>
            </a:r>
            <a:r>
              <a:rPr i="1"/>
              <a:t>y</a:t>
            </a:r>
            <a:r>
              <a:t>) – age (</a:t>
            </a:r>
            <a:r>
              <a:rPr i="1"/>
              <a:t>x</a:t>
            </a:r>
            <a:r>
              <a:t>))</a:t>
            </a:r>
          </a:p>
          <a:p>
            <a:pPr lvl="0"/>
            <a:r>
              <a:t>Regression coefficient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𝛽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</m:oMath>
            </a14:m>
            <a:endParaRPr/>
          </a:p>
          <a:p>
            <a:pPr lvl="1"/>
            <a:r>
              <a:t>Measure of association between </a:t>
            </a:r>
            <a:r>
              <a:rPr i="1"/>
              <a:t>y</a:t>
            </a:r>
            <a:r>
              <a:t> and </a:t>
            </a:r>
            <a:r>
              <a:rPr i="1"/>
              <a:t>x</a:t>
            </a:r>
          </a:p>
          <a:p>
            <a:pPr lvl="1"/>
            <a:r>
              <a:t>How much </a:t>
            </a:r>
            <a:r>
              <a:rPr i="1"/>
              <a:t>y</a:t>
            </a:r>
            <a:r>
              <a:t> changes on average when </a:t>
            </a:r>
            <a:r>
              <a:rPr i="1"/>
              <a:t>x</a:t>
            </a:r>
            <a:r>
              <a:t> changes by one unit</a:t>
            </a:r>
          </a:p>
          <a:p>
            <a:pPr lvl="1"/>
            <a:r>
              <a:t>Least squares method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Simple linear regression — the slope</a:t>
            </a:r>
          </a:p>
        </p:txBody>
      </p:sp>
      <p:pic>
        <p:nvPicPr>
          <p:cNvPr id="3" name="Picture 1" descr="images/s5_slide23_slr-diagram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90700"/>
            <a:ext cx="8229600" cy="220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Multiple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Relationship between a continuous variable and a group of continuous or categorical variables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𝑦</m:t>
                  </m:r>
                  <m:r>
                    <a:rPr>
                      <a:latin typeface="Cambria Math" panose="02040503050406030204" pitchFamily="18" charset="0"/>
                    </a:rPr>
                    <m:t>=</m:t>
                  </m:r>
                  <m:r>
                    <a:rPr>
                      <a:latin typeface="Cambria Math" panose="02040503050406030204" pitchFamily="18" charset="0"/>
                    </a:rPr>
                    <m:t>𝛼</m:t>
                  </m:r>
                  <m:r>
                    <a:rPr>
                      <a:latin typeface="Cambria Math" panose="02040503050406030204" pitchFamily="18" charset="0"/>
                    </a:rPr>
                    <m:t>+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𝛽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+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𝛽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+…+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𝛽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Multiple linear regression — coefficients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(Partial) regression coefficients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𝛽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</m:sub>
                </m:sSub>
              </m:oMath>
            </a14:m>
            <a:endParaRPr/>
          </a:p>
          <a:p>
            <a:pPr lvl="1"/>
            <a:r>
              <a:t>Amount by which </a:t>
            </a:r>
            <a:r>
              <a:rPr i="1"/>
              <a:t>y</a:t>
            </a:r>
            <a:r>
              <a:t> changes on average when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</m:sub>
                </m:sSub>
              </m:oMath>
            </a14:m>
            <a:r>
              <a:t> changes by one unit while all the other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</m:sub>
                </m:sSub>
              </m:oMath>
            </a14:m>
            <a:r>
              <a:t> variables remain constant</a:t>
            </a:r>
          </a:p>
          <a:p>
            <a:pPr lvl="1"/>
            <a:r>
              <a:t>Measure of association between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</m:sub>
                </m:sSub>
              </m:oMath>
            </a14:m>
            <a:r>
              <a:t> and </a:t>
            </a:r>
            <a:r>
              <a:rPr i="1"/>
              <a:t>y</a:t>
            </a:r>
            <a:r>
              <a:t> adjusted for the effect of all the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</m:sub>
                </m:sSub>
              </m:oMath>
            </a14:m>
            <a:r>
              <a:t> variables</a:t>
            </a:r>
          </a:p>
          <a:p>
            <a:pPr lvl="0"/>
            <a:r>
              <a:t>Example,</a:t>
            </a:r>
          </a:p>
          <a:p>
            <a:pPr lvl="1"/>
            <a:r>
              <a:t>SBP </a:t>
            </a:r>
            <a:r>
              <a:rPr i="1"/>
              <a:t>versus</a:t>
            </a:r>
            <a:r>
              <a:t> age, weight, height, gender, etc.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Regression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𝑦</m:t>
                  </m:r>
                  <m:r>
                    <a:rPr>
                      <a:latin typeface="Cambria Math" panose="02040503050406030204" pitchFamily="18" charset="0"/>
                    </a:rPr>
                    <m:t>=</m:t>
                  </m:r>
                  <m:r>
                    <a:rPr>
                      <a:latin typeface="Cambria Math" panose="02040503050406030204" pitchFamily="18" charset="0"/>
                    </a:rPr>
                    <m:t>𝛼</m:t>
                  </m:r>
                  <m:r>
                    <a:rPr>
                      <a:latin typeface="Cambria Math" panose="02040503050406030204" pitchFamily="18" charset="0"/>
                    </a:rPr>
                    <m:t>+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𝛽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+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𝛽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+…+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𝛽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Regression equation — terminology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i="1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α + β₁x₁ + β₂x₂ + … + βᵢxᵢ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Dependent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Independent variables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Predictor variables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Response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Explanatory variable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Outcome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Covariates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Types of multivariable analysis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Type of outcome (</a:t>
                      </a:r>
                      <a:r>
                        <a:rPr i="1"/>
                        <a:t>y</a:t>
                      </a:r>
                      <a: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Examples of 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Type of multivariable analysis (* extensions of the models)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Continuous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Blood pressure, weight, blood glucose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Simple linear regression; multiple linear regression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Binary (qualitative)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Death, remission, presence of infarction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Logistic regression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Time to 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ICU length of stay, time to infarction, time to cancer remission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Proportional hazards model or Cox regression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Outcome: continuous</a:t>
            </a:r>
          </a:p>
        </p:txBody>
      </p:sp>
      <p:pic>
        <p:nvPicPr>
          <p:cNvPr id="3" name="Picture 1" descr="images/s5_09_image18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90700"/>
            <a:ext cx="8229600" cy="218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Outcome: continuous —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We studied the relationship between systolic blood pressure (SBP) and height in 100 children. It is known that height and weight are positively correlated. We therefore performed a </a:t>
            </a:r>
            <a:r>
              <a:rPr b="1"/>
              <a:t>multiple linear regression analysis</a:t>
            </a:r>
            <a:r>
              <a:t> to investigate the effects of height (cm), weight (kg) and sex (0 = boy, 1 = girl) on SBP (mmHg) in these children.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Outcome: continuous — results</a:t>
            </a:r>
          </a:p>
        </p:txBody>
      </p:sp>
      <p:pic>
        <p:nvPicPr>
          <p:cNvPr id="3" name="Picture 1" descr="images/s5_09_image19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47900"/>
            <a:ext cx="8229600" cy="128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Outcome: continuous — fitted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𝑆𝐵𝑃</m:t>
                  </m:r>
                  <m:r>
                    <a:rPr>
                      <a:latin typeface="Cambria Math" panose="02040503050406030204" pitchFamily="18" charset="0"/>
                    </a:rPr>
                    <m:t>=79.44−(0.03×</m:t>
                  </m:r>
                  <m:r>
                    <a:rPr>
                      <a:latin typeface="Cambria Math" panose="02040503050406030204" pitchFamily="18" charset="0"/>
                    </a:rPr>
                    <m:t>ℎ𝑒𝑖𝑔ℎ𝑡</m:t>
                  </m:r>
                  <m:r>
                    <a:rPr>
                      <a:latin typeface="Cambria Math" panose="02040503050406030204" pitchFamily="18" charset="0"/>
                    </a:rPr>
                    <m:t>)+(1.18×</m:t>
                  </m:r>
                  <m:r>
                    <a:rPr>
                      <a:latin typeface="Cambria Math" panose="02040503050406030204" pitchFamily="18" charset="0"/>
                    </a:rPr>
                    <m:t>𝑤𝑒𝑖𝑔ℎ𝑡</m:t>
                  </m:r>
                  <m:r>
                    <a:rPr>
                      <a:latin typeface="Cambria Math" panose="02040503050406030204" pitchFamily="18" charset="0"/>
                    </a:rPr>
                    <m:t>)+(4.23×</m:t>
                  </m:r>
                  <m:r>
                    <a:rPr>
                      <a:latin typeface="Cambria Math" panose="02040503050406030204" pitchFamily="18" charset="0"/>
                    </a:rPr>
                    <m:t>𝑠𝑒𝑥</m:t>
                  </m:r>
                  <m:r>
                    <a:rPr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Outcome: binary</a:t>
            </a:r>
          </a:p>
        </p:txBody>
      </p:sp>
      <p:pic>
        <p:nvPicPr>
          <p:cNvPr id="3" name="Picture 1" descr="images/s5_09_image2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79600" y="1193800"/>
            <a:ext cx="5384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Linear model vs logistic model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Outcome: binary — logistic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m:rPr>
                      <m:sty m:val="p"/>
                    </m:rPr>
                    <a:rPr>
                      <a:latin typeface="Cambria Math" panose="02040503050406030204" pitchFamily="18" charset="0"/>
                    </a:rPr>
                    <m:t>log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e>
                  </m:d>
                  <m:r>
                    <a:rPr>
                      <a:latin typeface="Cambria Math" panose="02040503050406030204" pitchFamily="18" charset="0"/>
                    </a:rPr>
                    <m:t>=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𝛽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+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𝛽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+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𝛽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+…+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𝛽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𝑚</m:t>
                      </m:r>
                    </m:sub>
                  </m:sSub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𝑚</m:t>
                      </m:r>
                    </m:sub>
                  </m:sSub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𝑃</m:t>
                  </m:r>
                  <m:r>
                    <a:rPr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fPr>
                    <m:num>
                      <m:r>
                        <a:rPr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>
                          <a:latin typeface="Cambria Math" panose="02040503050406030204" pitchFamily="18" charset="0"/>
                        </a:rPr>
                        <m:t>1+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den>
                  </m:f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Outcome: binary — example (1/4)</a:t>
            </a:r>
          </a:p>
        </p:txBody>
      </p:sp>
      <p:pic>
        <p:nvPicPr>
          <p:cNvPr id="3" name="Picture 1" descr="images/s5_09_image24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60500"/>
            <a:ext cx="8229600" cy="2857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Outcome: binary — example (2/4)</a:t>
            </a:r>
          </a:p>
        </p:txBody>
      </p:sp>
      <p:pic>
        <p:nvPicPr>
          <p:cNvPr id="3" name="Picture 1" descr="images/s5_09_image25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65300"/>
            <a:ext cx="82296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Outcome: binary — example (3/4)</a:t>
            </a:r>
          </a:p>
        </p:txBody>
      </p:sp>
      <p:pic>
        <p:nvPicPr>
          <p:cNvPr id="3" name="Picture 1" descr="images/s5_09_image26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31900"/>
            <a:ext cx="8229600" cy="3314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Outcome: binary — example (4/4)</a:t>
            </a:r>
          </a:p>
        </p:txBody>
      </p:sp>
      <p:pic>
        <p:nvPicPr>
          <p:cNvPr id="3" name="Picture 1" descr="images/s5_09_image27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31900"/>
            <a:ext cx="8229600" cy="332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Outcome: time to event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Cox proportional-hazards model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ℎ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𝑡</m:t>
                  </m:r>
                  <m:r>
                    <a:rPr>
                      <a:latin typeface="Cambria Math" panose="02040503050406030204" pitchFamily="18" charset="0"/>
                    </a:rPr>
                    <m:t>)=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ℎ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𝑡</m:t>
                  </m:r>
                  <m:r>
                    <a:rPr>
                      <a:latin typeface="Cambria Math" panose="02040503050406030204" pitchFamily="18" charset="0"/>
                    </a:rPr>
                    <m:t>) </m:t>
                  </m:r>
                  <m:sSup>
                    <m:sSup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𝑒</m:t>
                      </m:r>
                    </m:e>
                    <m:sup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sup>
                  </m:sSup>
                </m:oMath>
              </m:oMathPara>
            </a14:m>
            <a:endParaRPr b="1"/>
          </a:p>
          <a:p>
            <a:pPr marL="0" lvl="0" indent="0">
              <a:buNone/>
            </a:pPr>
            <a:r>
              <a:t>where</a:t>
            </a:r>
          </a:p>
          <a:p>
            <a:pPr lvl="0"/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ℎ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𝑡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= the hazard at time </a:t>
            </a:r>
            <a:r>
              <a:rPr i="1"/>
              <a:t>t</a:t>
            </a:r>
          </a:p>
          <a:p>
            <a:pPr lvl="0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ℎ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𝑡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= the hazard for a person with the value of 0 for all independent variables</a:t>
            </a:r>
          </a:p>
          <a:p>
            <a:pPr lvl="0"/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𝐵</m:t>
                </m:r>
              </m:oMath>
            </a14:m>
            <a:r>
              <a:t> = the regression coefficient for the independent variable </a:t>
            </a:r>
            <a:r>
              <a:rPr i="1"/>
              <a:t>x</a:t>
            </a:r>
          </a:p>
          <a:p>
            <a:pPr lvl="0"/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𝑥</m:t>
                </m:r>
              </m:oMath>
            </a14:m>
            <a:r>
              <a:t> = an independent variable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Uses of multivariable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rPr b="1"/>
              <a:t>Causal models</a:t>
            </a:r>
          </a:p>
          <a:p>
            <a:pPr lvl="1"/>
            <a:r>
              <a:t>Isolate the effect of a single predictor on an outcome.</a:t>
            </a:r>
          </a:p>
          <a:p>
            <a:pPr lvl="1"/>
            <a:r>
              <a:t>Confounding is crucial and important</a:t>
            </a:r>
          </a:p>
          <a:p>
            <a:pPr marL="342900" lvl="0" indent="-342900">
              <a:buAutoNum type="arabicPeriod"/>
            </a:pPr>
            <a:r>
              <a:rPr b="1"/>
              <a:t>Prognostic models</a:t>
            </a:r>
          </a:p>
          <a:p>
            <a:pPr lvl="1"/>
            <a:r>
              <a:t>Predict the occurrence of an outcome based on several predictors.</a:t>
            </a:r>
          </a:p>
          <a:p>
            <a:pPr lvl="1"/>
            <a:r>
              <a:t>Confounding is not relevant, but other phenomena such as collinearity are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Example: Cox regression in a published study</a:t>
            </a:r>
          </a:p>
        </p:txBody>
      </p:sp>
      <p:pic>
        <p:nvPicPr>
          <p:cNvPr id="3" name="Picture 1" descr="images/s5_09_image29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01700" y="1193800"/>
            <a:ext cx="7340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doi:10.1371/journal.pone.0133670.t004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Common statistical tests are linear models</a:t>
            </a:r>
          </a:p>
        </p:txBody>
      </p:sp>
      <p:pic>
        <p:nvPicPr>
          <p:cNvPr id="3" name="Picture 1" descr="images/s5_09_image30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Lindeløv JK. Common statistical tests are linear models. https://lindeloev.github.io/tests-as-linear/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Choosing a statistical analysis</a:t>
            </a:r>
          </a:p>
        </p:txBody>
      </p:sp>
      <p:pic>
        <p:nvPicPr>
          <p:cNvPr id="3" name="Picture 1" descr="images/s5_09_image3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11300" y="1193800"/>
            <a:ext cx="6134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Final critical points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Seek expert advice:</a:t>
            </a:r>
            <a:r>
              <a:t> Contact a biostatistician or professor; they will help you validate the study design, choose the right tests and interpret the results.</a:t>
            </a:r>
          </a:p>
          <a:p>
            <a:pPr lvl="0"/>
            <a:r>
              <a:rPr b="1"/>
              <a:t>Plan and define your variables:</a:t>
            </a:r>
            <a:r>
              <a:t> Before starting, clarify what type of data each variable is (nominal, continuous, etc.) and how you will code it in the software.</a:t>
            </a:r>
          </a:p>
          <a:p>
            <a:pPr lvl="0"/>
            <a:r>
              <a:rPr b="1"/>
              <a:t>Clean and validate your database:</a:t>
            </a:r>
            <a:r>
              <a:t> Review and handle missing data and outliers, and check the distribution (normality) of your variables.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Final critical points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Do descriptive statistics first:</a:t>
            </a:r>
            <a:r>
              <a:t> Summarize your data with means, medians and graphs; this lets you understand the sample and identify initial errors.</a:t>
            </a:r>
          </a:p>
          <a:p>
            <a:pPr lvl="0"/>
            <a:r>
              <a:rPr b="1"/>
              <a:t>Understand the fundamentals of the tests:</a:t>
            </a:r>
            <a:r>
              <a:t> Learn what the null hypothesis (H</a:t>
            </a:r>
            <a:r>
              <a:rPr baseline="-25000"/>
              <a:t>0</a:t>
            </a:r>
            <a:r>
              <a:t>) and the p value mean; do not just report the number without understanding it.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i="1"/>
              <a:t>Recommendations, comments and more</a:t>
            </a:r>
          </a:p>
          <a:p>
            <a:pPr marL="0" lvl="0" indent="0">
              <a:buNone/>
            </a:pPr>
            <a:r>
              <a:t>@jacalvache</a:t>
            </a:r>
          </a:p>
          <a:p>
            <a:pPr marL="0" lvl="0" indent="0">
              <a:buNone/>
            </a:pPr>
            <a:r>
              <a:t>jacalvache@unicauca.edu.co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Scan the QR code</a:t>
            </a:r>
          </a:p>
        </p:txBody>
      </p:sp>
      <p:pic>
        <p:nvPicPr>
          <p:cNvPr id="3" name="Picture 1" descr="images/s5_09_image3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67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1013</Words>
  <Application>Microsoft Office PowerPoint</Application>
  <PresentationFormat>On-screen Show (16:9)</PresentationFormat>
  <Paragraphs>113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Cambria Math</vt:lpstr>
      <vt:lpstr>Office Theme</vt:lpstr>
      <vt:lpstr>Introduction to Multivariable Analysis</vt:lpstr>
      <vt:lpstr>Section objectives</vt:lpstr>
      <vt:lpstr>Multivariable analysis</vt:lpstr>
      <vt:lpstr>Example: chronic low back pain</vt:lpstr>
      <vt:lpstr>What is multivariable analysis?</vt:lpstr>
      <vt:lpstr>Multivariate or multivariable regression?</vt:lpstr>
      <vt:lpstr>Multivariate or multivariable regression? (cont.)</vt:lpstr>
      <vt:lpstr>Confounding</vt:lpstr>
      <vt:lpstr>Multivariable analysis and confounding</vt:lpstr>
      <vt:lpstr>For example,</vt:lpstr>
      <vt:lpstr>Age and systolic blood pressure</vt:lpstr>
      <vt:lpstr>Age and systolic blood pressure — scatter plot</vt:lpstr>
      <vt:lpstr>Simple linear regression</vt:lpstr>
      <vt:lpstr>Simple linear regression — the slope</vt:lpstr>
      <vt:lpstr>Multiple linear regression</vt:lpstr>
      <vt:lpstr>Multiple linear regression — coefficients</vt:lpstr>
      <vt:lpstr>Regression equation</vt:lpstr>
      <vt:lpstr>Regression equation — terminology</vt:lpstr>
      <vt:lpstr>Types of multivariable analysis</vt:lpstr>
      <vt:lpstr>Outcome: continuous</vt:lpstr>
      <vt:lpstr>Outcome: continuous — example</vt:lpstr>
      <vt:lpstr>Outcome: continuous — results</vt:lpstr>
      <vt:lpstr>Outcome: continuous — fitted equation</vt:lpstr>
      <vt:lpstr>Outcome: binary</vt:lpstr>
      <vt:lpstr>Outcome: binary — logistic model</vt:lpstr>
      <vt:lpstr>Outcome: binary — example (1/4)</vt:lpstr>
      <vt:lpstr>Outcome: binary — example (2/4)</vt:lpstr>
      <vt:lpstr>Outcome: binary — example (3/4)</vt:lpstr>
      <vt:lpstr>Outcome: binary — example (4/4)</vt:lpstr>
      <vt:lpstr>Outcome: time to event</vt:lpstr>
      <vt:lpstr>Uses of multivariable techniques</vt:lpstr>
      <vt:lpstr>Example: Cox regression in a published study</vt:lpstr>
      <vt:lpstr>Common statistical tests are linear models</vt:lpstr>
      <vt:lpstr>Choosing a statistical analysis</vt:lpstr>
      <vt:lpstr>Final critical points (1/2)</vt:lpstr>
      <vt:lpstr>Final critical points (2/2)</vt:lpstr>
      <vt:lpstr>Contact</vt:lpstr>
      <vt:lpstr>Scan the QR code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On-screen Show (16:9)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Title</vt:lpstr>
      <vt:lpstr>A heading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Multivariable Analysis</dc:title>
  <dc:creator>Jose Andres Calvache MD MSc PhD</dc:creator>
  <cp:keywords/>
  <cp:lastModifiedBy>JOSE ANDRES CALVACHE ESPANA</cp:lastModifiedBy>
  <cp:revision>1</cp:revision>
  <dcterms:created xsi:type="dcterms:W3CDTF">2026-10-05T00:44:48Z</dcterms:created>
  <dcterms:modified xsi:type="dcterms:W3CDTF">2026-10-05T00:45:17Z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2026-10-04</vt:lpwstr>
  </property>
  <property fmtid="{D5CDD505-2E9C-101B-9397-08002B2CF9AE}" pid="8" name="engines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institute">
    <vt:lpwstr/>
  </property>
  <property fmtid="{D5CDD505-2E9C-101B-9397-08002B2CF9AE}" pid="13" name="institutes">
    <vt:lpwstr/>
  </property>
  <property fmtid="{D5CDD505-2E9C-101B-9397-08002B2CF9AE}" pid="14" name="labels">
    <vt:lpwstr/>
  </property>
  <property fmtid="{D5CDD505-2E9C-101B-9397-08002B2CF9AE}" pid="15" name="subtitle">
    <vt:lpwstr>Section 5 — Introduction to Biostatistics</vt:lpwstr>
  </property>
  <property fmtid="{D5CDD505-2E9C-101B-9397-08002B2CF9AE}" pid="16" name="toc-title">
    <vt:lpwstr>Table of contents</vt:lpwstr>
  </property>
</Properties>
</file>